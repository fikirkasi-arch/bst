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'Veri ve Bilgi Arasındaki Fark' ile başlayın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Günlük hayattan veri örnekleri verin (fiyatlar, notlar, hava durumu)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Sınıfta mini anket yapın (favori ders, hobi, vs.)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veri örnekleri verin, hangi türe ait olduklarını bulsunlar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Örnek: Ham veri verin, öğrenciler tablo haline getirsin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Her grafik türünden örnek gösterin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İyi ve kötü grafik örnekleri gösterin, farkları tartışın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Excel/Sheets açın, basit tablo oluşturun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Excel'de formül yazdırın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Canlı olarak Excel'de grafik oluşturun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Veri seti verin, ortalama, medyan, mod hesaplasınlar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Okulda veri ile alınabilecek başka kararlar neler?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Sosyal medyada paylaştığınız veriler ne kadar güvenli?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6. SINIF - ÜNİTE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Veri ve Analiz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Bu ünitede neler öğreneceğiz?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1. Veri Nedir?</a:t>
            </a:r>
          </a:p>
          <a:p>
            <a:pPr>
              <a:spcAft>
                <a:spcPts val="1200"/>
              </a:spcAft>
              <a:defRPr sz="2000" b="1"/>
            </a:pPr>
            <a:r>
              <a:t>✅ 2. Bilgi vs Veri</a:t>
            </a:r>
          </a:p>
          <a:p>
            <a:pPr>
              <a:spcAft>
                <a:spcPts val="1200"/>
              </a:spcAft>
              <a:defRPr sz="2000" b="1"/>
            </a:pPr>
            <a:r>
              <a:t>✅ 3. Veri Toplama Yöntemleri</a:t>
            </a:r>
          </a:p>
          <a:p>
            <a:pPr>
              <a:spcAft>
                <a:spcPts val="1200"/>
              </a:spcAft>
              <a:defRPr sz="2000" b="1"/>
            </a:pPr>
            <a:r>
              <a:t>✅ 4. Veri Türleri (Sayısal, Kategorik)</a:t>
            </a:r>
          </a:p>
          <a:p>
            <a:pPr>
              <a:spcAft>
                <a:spcPts val="1200"/>
              </a:spcAft>
              <a:defRPr sz="2000" b="1"/>
            </a:pPr>
            <a:r>
              <a:t>✅ 5. Veri Düzenleme ve Sıralama</a:t>
            </a:r>
          </a:p>
          <a:p>
            <a:pPr>
              <a:spcAft>
                <a:spcPts val="1200"/>
              </a:spcAft>
              <a:defRPr sz="2000" b="1"/>
            </a:pPr>
            <a:r>
              <a:t>✅ 6. Grafik Türleri</a:t>
            </a:r>
          </a:p>
          <a:p>
            <a:pPr>
              <a:spcAft>
                <a:spcPts val="1200"/>
              </a:spcAft>
              <a:defRPr sz="2000" b="1"/>
            </a:pPr>
            <a:r>
              <a:t>✅ 7. Veri Görselleştirme</a:t>
            </a:r>
          </a:p>
          <a:p>
            <a:pPr>
              <a:spcAft>
                <a:spcPts val="1200"/>
              </a:spcAft>
              <a:defRPr sz="2000" b="1"/>
            </a:pPr>
            <a:r>
              <a:t>✅ 8. Tablo ve Grafik Oluşturma</a:t>
            </a:r>
          </a:p>
          <a:p>
            <a:pPr>
              <a:spcAft>
                <a:spcPts val="1200"/>
              </a:spcAft>
              <a:defRPr sz="2000" b="1"/>
            </a:pPr>
            <a:r>
              <a:t>✅ 9. Veri Analizi</a:t>
            </a:r>
          </a:p>
          <a:p>
            <a:pPr>
              <a:spcAft>
                <a:spcPts val="1200"/>
              </a:spcAft>
              <a:defRPr sz="2000" b="1"/>
            </a:pPr>
            <a:r>
              <a:t>✅ 10. Ortalama, Medyan, Mod</a:t>
            </a:r>
          </a:p>
          <a:p>
            <a:pPr>
              <a:spcAft>
                <a:spcPts val="1200"/>
              </a:spcAft>
              <a:defRPr sz="2000" b="1"/>
            </a:pPr>
            <a:r>
              <a:t>✅ 11. Tablolama Programları (Excel, Sheets)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⏰ Süre: 4 Hafta</a:t>
            </a:r>
          </a:p>
          <a:p>
            <a:pPr>
              <a:spcAft>
                <a:spcPts val="1200"/>
              </a:spcAft>
              <a:defRPr sz="2000" b="1"/>
            </a:pPr>
            <a:r>
              <a:t>🎯 Amaç: Veriyi analiz edip anlamlı sonuçlar çıkarmak!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📊 Veri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Veri = Ham bilgi, işlenmemiş gerçekler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Veri Örnekleri: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Sayılar: 15, 23, 42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Metinler: 'Ahmet', 'Ankara'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Tarihler: 15 Mayıs 2024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Ölçümler: 25°C, 1.65m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Veri vs Bilgi: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📄 Veri (Ham):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15, 18, 12, 20, 16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Tek başına anlamsız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Bilgi (İşlenmiş):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'Sınıf ortalaması: 16.2'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Analiz edilmiş, anlamlı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🎯 Veri → İşleme → Bilgi → Bilgelik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Gerçek Hayat Örneği: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Veri: Günlük sıcaklık kayıtları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Bilgi: 'Temmuz en sıcak ay'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Bilgelik: 'Klimayı Temmuz'da kullan'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🔍 Veri Toplama Yöntemleri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Veriyi nereden ve nasıl toplarız?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Veri Toplama Yöntemleri: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📋 Anket: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Sorular sor, cevapları topla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'Favori renginiz nedir?'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👀 Gözlem: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İzle ve kaydet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Trafikteki araç sayısı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🧪 Deney: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Test yap, sonuçları kaydet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Bitki büyümesi ölçümü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📱 Sensörler: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Otomatik veri toplama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Sıcaklık sensörü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🌐 İnternet: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Hazır veri setleri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Hava durumu verileri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Veri toplama planlı olmalı: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Ne öğrenmek istiyorsun?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Hangi veriyi toplayacaksın?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Nasıl toplayacaksın?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📊 Veri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Veriler farklı türlerde olabilir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1. Sayısal Veri (Nicel):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🔢 Kesikli Veri: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Tamsayılar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Öğrenci sayısı (25, 30, 28)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📏 Sürekli Veri: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Ondalıklı sayılar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Boy (1.65m), Ağırlık (52.5kg)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2. Kategorik Veri (Nitel):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🏷️ İsimsel: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Sıralama yok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Renk (kırmızı, mavi), Cinsiyet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📊 Sıralı: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Sıralama var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Not (Pekiyi, İyi, Orta)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Neden Önemli?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Farklı veri türleri → Farklı analizler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Sayısal: Ortalama alınabilir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Kategorik: Frekans sayılır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📋 Veri Düzenleme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Toplanan veriyi düzenli hale getirmek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Veri Düzenleme Adımları: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1️⃣ Temizleme: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Hatalı verileri bul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Eksik verileri tamamla veya çıkar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Tekrar edenleri sil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2️⃣ Sıralama: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Küçükten büyüğe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A'dan Z'ye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3️⃣ Gruplama: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Benzer verileri bir araya getir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Yaş grupları (0-10, 11-20, 21-30)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4️⃣ Tabloya Dönüştürme: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Satır ve sütunlar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Başlıklar ekle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Örnek Ham Veri:</a:t>
            </a:r>
          </a:p>
          <a:p>
            <a:pPr>
              <a:spcAft>
                <a:spcPts val="1200"/>
              </a:spcAft>
              <a:defRPr sz="2000"/>
            </a:pPr>
            <a:r>
              <a:t>Ahmet:15, Ayşe:18, 12, Mehmet:20, ??:16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Düzenlenmiş:</a:t>
            </a:r>
          </a:p>
          <a:p>
            <a:pPr>
              <a:spcAft>
                <a:spcPts val="1200"/>
              </a:spcAft>
              <a:defRPr sz="2000"/>
            </a:pPr>
            <a:r>
              <a:t>| İsim   | Yaş |</a:t>
            </a:r>
          </a:p>
          <a:p>
            <a:pPr>
              <a:spcAft>
                <a:spcPts val="1200"/>
              </a:spcAft>
              <a:defRPr sz="2000"/>
            </a:pPr>
            <a:r>
              <a:t>| Ahmet  | 15  |</a:t>
            </a:r>
          </a:p>
          <a:p>
            <a:pPr>
              <a:spcAft>
                <a:spcPts val="1200"/>
              </a:spcAft>
              <a:defRPr sz="2000"/>
            </a:pPr>
            <a:r>
              <a:t>| Ayşe   | 18  |</a:t>
            </a:r>
          </a:p>
          <a:p>
            <a:pPr>
              <a:spcAft>
                <a:spcPts val="1200"/>
              </a:spcAft>
              <a:defRPr sz="2000"/>
            </a:pPr>
            <a:r>
              <a:t>| Mehmet | 20  |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📊 Grafik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Veriyi görsel olarak göstermek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Temel Grafik Türleri: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📊 Sütun Grafiği (Bar Chart):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Kategorileri karşılaştırma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Şehirlere göre nüfus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📈 Çizgi Grafiği (Line Chart):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Zamana göre değişim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Aylara göre sıcaklık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🥧 Pasta Grafiği (Pie Chart):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Yüzdeler, oranlar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Bütçe dağılımı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📊 Dağılım Grafiği (Scatter Plot):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İki değişken arasındaki ilişki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Boy-Kilo ilişkisi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📊 Histogram: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Veri dağılımı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Sınav not dağılımı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Doğru grafik seçimi önemli!</a:t>
            </a:r>
          </a:p>
          <a:p>
            <a:pPr lvl="1">
              <a:spcAft>
                <a:spcPts val="1200"/>
              </a:spcAft>
              <a:defRPr sz="1800"/>
            </a:pPr>
            <a:r>
              <a:t>    • Zaman göster → Çizgi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Karşılaştır → Sütun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Oran göster → Pasta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🎨 Veri Görselleştirme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Neden görselleştirme?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Görselleştirme Faydaları: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Hızlı anlama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Kalıpları görme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Karşılaştırma kolaylığı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İletişim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İyi Görselleştirme: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Basit: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Karmaşık olmasın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Ana mesaj net olsun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Açık: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Başlık var mı?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Eksen etiketleri var mı?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Lejant (açıklama) var mı?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Doğru: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Yanıltıcı olmasın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Ölçek doğru mu?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Renkli: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Renk kodlama kullan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Ama çok fazla renk kullanma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❌ Kötü Görselleştirme: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3D efektler (gereksiz)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Yanlış grafik türü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Eksik etiketler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💻 Excel/Sheets ile Tablo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Tablolama programları veri için çok kullanışlı!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Temel Kavramlar: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Hücre: Tek bir veri kutusu (A1, B2)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Satır: Yatay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Sütun: Dikey</a:t>
            </a:r>
          </a:p>
          <a:p>
            <a:pPr lvl="1">
              <a:spcAft>
                <a:spcPts val="1200"/>
              </a:spcAft>
              <a:defRPr sz="1800"/>
            </a:pPr>
            <a:r>
              <a:t>    • Formül: Hesaplamalar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Tablo Oluşturma Adımları: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1️⃣ Başlıkları Yaz: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İlk satıra sütun adları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2️⃣ Verileri Gir: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Her satıra bir kayıt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3️⃣ Biçimlendir: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Kalın başlıklar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Kenarlıklar ekle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Renkler kullan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4️⃣ Sırala: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Veri → Sırala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5️⃣ Filtrele: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Belirli verileri göster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Kısayollar: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Ctrl+C: Kopyala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Ctrl+V: Yapıştır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Ctrl+Z: Geri 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🧮 Formüller ve Fonksiyonlar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Excel'de otomatik hesaplama!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Temel Formüller: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➕ Toplama: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=A1+B1</a:t>
            </a:r>
          </a:p>
          <a:p>
            <a:pPr lvl="1">
              <a:spcAft>
                <a:spcPts val="1200"/>
              </a:spcAft>
              <a:defRPr sz="1800"/>
            </a:pPr>
            <a:r>
              <a:t>    • =SUM(A1:A10) → A1'den A10'a kadar topla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➗ Ortalama: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=AVERAGE(A1:A10)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🔢 Sayma: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=COUNT(A1:A10) → Kaç sayı var?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📊 En Büyük/Küçük: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=MAX(A1:A10)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=MIN(A1:A10)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Formül Yazma Kuralları: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'=' ile başla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Hücre adreslerini kullan (A1, B2)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Operatörler: +, -, *, /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Örnek: Not Ortalaması</a:t>
            </a:r>
          </a:p>
          <a:p>
            <a:pPr>
              <a:spcAft>
                <a:spcPts val="1200"/>
              </a:spcAft>
              <a:defRPr sz="2000"/>
            </a:pPr>
            <a:r>
              <a:t>| Ders       | Not |</a:t>
            </a:r>
          </a:p>
          <a:p>
            <a:pPr>
              <a:spcAft>
                <a:spcPts val="1200"/>
              </a:spcAft>
              <a:defRPr sz="2000"/>
            </a:pPr>
            <a:r>
              <a:t>| Matematik  | 85  |</a:t>
            </a:r>
          </a:p>
          <a:p>
            <a:pPr>
              <a:spcAft>
                <a:spcPts val="1200"/>
              </a:spcAft>
              <a:defRPr sz="2000"/>
            </a:pPr>
            <a:r>
              <a:t>| Türkçe     | 90  |</a:t>
            </a:r>
          </a:p>
          <a:p>
            <a:pPr>
              <a:spcAft>
                <a:spcPts val="1200"/>
              </a:spcAft>
              <a:defRPr sz="2000"/>
            </a:pPr>
            <a:r>
              <a:t>| Fen        | 78  |</a:t>
            </a:r>
          </a:p>
          <a:p>
            <a:pPr>
              <a:spcAft>
                <a:spcPts val="1200"/>
              </a:spcAft>
              <a:defRPr sz="2000"/>
            </a:pPr>
            <a:r>
              <a:t>| Ortalama   | =AVERAGE(B2:B4) |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📊 Grafik Oluşturma (Excel/Sheets)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Tablodan grafik yapmak çok kolay!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Grafik Oluşturma Adımları: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1️⃣ Veriyi Seç: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Grafik yapılacak hücreleri seç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2️⃣ Ekle → Grafik: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Excel: Insert → Chart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Sheets: Insert → Chart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3️⃣ Grafik Türünü Seç: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Sütun, Çizgi, Pasta...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4️⃣ Özelleştir: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Başlık ekle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Renkleri değiştir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Eksen etiketleri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5️⃣ Kaydet/Paylaş: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Resim olarak kaydet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Sunuma ekle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Örnek: Aylık Sıcaklık Grafiği</a:t>
            </a:r>
          </a:p>
          <a:p>
            <a:pPr>
              <a:spcAft>
                <a:spcPts val="1200"/>
              </a:spcAft>
              <a:defRPr sz="2000"/>
            </a:pPr>
            <a:r>
              <a:t>| Ay      | Sıcaklık |</a:t>
            </a:r>
          </a:p>
          <a:p>
            <a:pPr>
              <a:spcAft>
                <a:spcPts val="1200"/>
              </a:spcAft>
              <a:defRPr sz="2000"/>
            </a:pPr>
            <a:r>
              <a:t>| Ocak    | 5°C      |</a:t>
            </a:r>
          </a:p>
          <a:p>
            <a:pPr>
              <a:spcAft>
                <a:spcPts val="1200"/>
              </a:spcAft>
              <a:defRPr sz="2000"/>
            </a:pPr>
            <a:r>
              <a:t>| Şubat   | 7°C      |</a:t>
            </a:r>
          </a:p>
          <a:p>
            <a:pPr>
              <a:spcAft>
                <a:spcPts val="1200"/>
              </a:spcAft>
              <a:defRPr sz="2000"/>
            </a:pPr>
            <a:r>
              <a:t>| Mart    | 12°C     |</a:t>
            </a:r>
          </a:p>
          <a:p>
            <a:pPr>
              <a:spcAft>
                <a:spcPts val="1200"/>
              </a:spcAft>
              <a:defRPr sz="2000"/>
            </a:pPr>
            <a:r>
              <a:t>→ Çizgi grafiği yap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📊 Veri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Veriyi inceleyip sonuç çıkarmak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Analiz Soruları: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En yüksek değer nedir?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En düşük değer nedir?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Ortalama nedir?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Bir kalıp var mı?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İlişki var mı?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Merkezi Eğilim Ölçüleri: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📊 Ortalama (Mean):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Tüm değerleri topla, sayıya böl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(10+20+30)/3 = 20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📊 Medyan (Median):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Ortadaki değer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10, 15, 20 → Medyan: 15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📊 Mod (Mode):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En çok tekrar eden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5, 5, 7, 9 → Mod: 5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Hangisini Kullan?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Genelde → Ortalama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Aşırı değerler varsa → Medyan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Sıklık önemliyse → Mod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🎯 Veri ile Karar Verme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Veriye dayalı kararlar daha sağlıklı!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Veri Odaklı Karar Örneği: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Problem:</a:t>
            </a:r>
          </a:p>
          <a:p>
            <a:pPr>
              <a:spcAft>
                <a:spcPts val="1200"/>
              </a:spcAft>
              <a:defRPr sz="2000"/>
            </a:pPr>
            <a:r>
              <a:t>Okul kütüphanesine hangi kitapları alalım?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📊 Veri Toplama: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Anket: En sevilen kitap türü?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Gözlem: Hangi kitaplar çok ödünç alınıyor?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Kayıt: Rafta eksik ne var?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📈 Analiz: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%40 macera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%30 bilim kurgu</a:t>
            </a:r>
          </a:p>
          <a:p>
            <a:pPr lvl="1">
              <a:spcAft>
                <a:spcPts val="1200"/>
              </a:spcAft>
              <a:defRPr sz="1800"/>
            </a:pPr>
            <a:r>
              <a:t>    • %20 roman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%10 diğer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Karar:</a:t>
            </a:r>
          </a:p>
          <a:p>
            <a:pPr>
              <a:spcAft>
                <a:spcPts val="1200"/>
              </a:spcAft>
              <a:defRPr sz="2000"/>
            </a:pPr>
            <a:r>
              <a:t>Yeni kitapların %40'ı macera olsun!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Veriye dayalı karar: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Objektif (tarafsız)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Kanıta dayalı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Savunulabilir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⚠️ Dikkat:</a:t>
            </a:r>
          </a:p>
          <a:p>
            <a:pPr>
              <a:spcAft>
                <a:spcPts val="1200"/>
              </a:spcAft>
              <a:defRPr sz="2000"/>
            </a:pPr>
            <a:r>
              <a:t>Veri yanlış veya eksikse, karar da yanlış olur!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🔒 Veri Güvenliği ve Gizlilik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Veri toplarken/paylaşırken dikkatli ol!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Kişisel Veri Nedir?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İsim, soyisim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Doğum tarihi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Adres, telefon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Fotoğraflar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Sağlık bilgileri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Veri Toplama Etik Kuralları: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🔐 İzin Al: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Kişilere sor, onay al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🔒 Gizli Tut: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Kişisel verileri paylaşma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📊 Anonim Yap: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İsim kullanma, genel göster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'Öğrenci 1, Öğrenci 2'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🎯 Amacını Belirt: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Veri ne için kullanılacak?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🗑️ Gereksiz Veri Toplama: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Sadece gerekli veriyi topla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KVKK (Kişisel Verilerin Korunması Kanunu):</a:t>
            </a:r>
          </a:p>
          <a:p>
            <a:pPr>
              <a:spcAft>
                <a:spcPts val="1200"/>
              </a:spcAft>
              <a:defRPr sz="2000"/>
            </a:pPr>
            <a:r>
              <a:t>Türkiye'de veri güvenliğini koruyan yasa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Bu ünitede neler öğrendik?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Veri ve bilgi kavramları</a:t>
            </a:r>
          </a:p>
          <a:p>
            <a:pPr>
              <a:spcAft>
                <a:spcPts val="1200"/>
              </a:spcAft>
              <a:defRPr sz="2000" b="1"/>
            </a:pPr>
            <a:r>
              <a:t>✅ Veri toplama yöntemleri (anket, gözlem, deney)</a:t>
            </a:r>
          </a:p>
          <a:p>
            <a:pPr>
              <a:spcAft>
                <a:spcPts val="1200"/>
              </a:spcAft>
              <a:defRPr sz="2000" b="1"/>
            </a:pPr>
            <a:r>
              <a:t>✅ Veri türleri (sayısal, kategorik)</a:t>
            </a:r>
          </a:p>
          <a:p>
            <a:pPr>
              <a:spcAft>
                <a:spcPts val="1200"/>
              </a:spcAft>
              <a:defRPr sz="2000" b="1"/>
            </a:pPr>
            <a:r>
              <a:t>✅ Veri düzenleme ve sıralama</a:t>
            </a:r>
          </a:p>
          <a:p>
            <a:pPr>
              <a:spcAft>
                <a:spcPts val="1200"/>
              </a:spcAft>
              <a:defRPr sz="2000" b="1"/>
            </a:pPr>
            <a:r>
              <a:t>✅ Grafik türleri (sütun, çizgi, pasta)</a:t>
            </a:r>
          </a:p>
          <a:p>
            <a:pPr>
              <a:spcAft>
                <a:spcPts val="1200"/>
              </a:spcAft>
              <a:defRPr sz="2000" b="1"/>
            </a:pPr>
            <a:r>
              <a:t>✅ Veri görselleştirme</a:t>
            </a:r>
          </a:p>
          <a:p>
            <a:pPr>
              <a:spcAft>
                <a:spcPts val="1200"/>
              </a:spcAft>
              <a:defRPr sz="2000" b="1"/>
            </a:pPr>
            <a:r>
              <a:t>✅ Excel/Sheets ile tablo oluşturma</a:t>
            </a:r>
          </a:p>
          <a:p>
            <a:pPr>
              <a:spcAft>
                <a:spcPts val="1200"/>
              </a:spcAft>
              <a:defRPr sz="2000" b="1"/>
            </a:pPr>
            <a:r>
              <a:t>✅ Formüller ve fonksiyonlar</a:t>
            </a:r>
          </a:p>
          <a:p>
            <a:pPr>
              <a:spcAft>
                <a:spcPts val="1200"/>
              </a:spcAft>
              <a:defRPr sz="2000" b="1"/>
            </a:pPr>
            <a:r>
              <a:t>✅ Grafik oluşturma</a:t>
            </a:r>
          </a:p>
          <a:p>
            <a:pPr>
              <a:spcAft>
                <a:spcPts val="1200"/>
              </a:spcAft>
              <a:defRPr sz="2000" b="1"/>
            </a:pPr>
            <a:r>
              <a:t>✅ Veri analizi (ortalama, medyan, mod)</a:t>
            </a:r>
          </a:p>
          <a:p>
            <a:pPr>
              <a:spcAft>
                <a:spcPts val="1200"/>
              </a:spcAft>
              <a:defRPr sz="2000" b="1"/>
            </a:pPr>
            <a:r>
              <a:t>✅ Veriye dayalı karar verme</a:t>
            </a:r>
          </a:p>
          <a:p>
            <a:pPr>
              <a:spcAft>
                <a:spcPts val="1200"/>
              </a:spcAft>
              <a:defRPr sz="2000" b="1"/>
            </a:pPr>
            <a:r>
              <a:t>✅ Veri güvenliği ve gizlilik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Anahtar Mesaj:</a:t>
            </a:r>
          </a:p>
          <a:p>
            <a:pPr>
              <a:spcAft>
                <a:spcPts val="1200"/>
              </a:spcAft>
              <a:defRPr sz="2000"/>
            </a:pPr>
            <a:r>
              <a:t>Veri doğru analiz edilirse değerli bilgi haline gelir!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🎯 Artık veri analisti gibi düşünebilirsin!</a:t>
            </a:r>
          </a:p>
          <a:p>
            <a:pPr>
              <a:spcAft>
                <a:spcPts val="1200"/>
              </a:spcAft>
              <a:defRPr sz="2000"/>
            </a:pPr>
            <a:r>
              <a:t>📊 Veriyle dünyayı anlayabilirsin!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🎥 İzlenecek Videolar: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'Veri Nedir?' - TRT Okul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'Excel Eğitimi' - Temel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'Grafik Türleri' - Animasyon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🌐 Keşfedilecek Siteler: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Google Sheets (ücretsiz)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https://data.gov.tr - Açık veri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📖 Projeler: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Sınıf anketi yap, analiz et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Hava durumu verileri topla, grafik yap</a:t>
            </a:r>
          </a:p>
          <a:p>
            <a:pPr lvl="1">
              <a:spcAft>
                <a:spcPts val="1200"/>
              </a:spcAft>
              <a:defRPr sz="1800"/>
            </a:pPr>
            <a:r>
              <a:t>    • Favori konular anketi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Veri ile dünyayı keşfet!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1'i Tamamladınız - Artık Veri Analistsiniz!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