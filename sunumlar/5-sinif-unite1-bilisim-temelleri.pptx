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64B4"/>
                </a:solidFill>
              </a:defRPr>
            </a:pPr>
            <a:r>
              <a:t>ÜNİTE 1: BİLİŞİM TEMELLERİ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5. Sınıf - 9 Haftalık İçerik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64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Hafta 1: Bilgisayar ve Bileşenleri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Bilgisayar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💻 Veri işleyen elektronik cihaz</a:t>
            </a:r>
          </a:p>
          <a:p>
            <a:pPr>
              <a:spcBef>
                <a:spcPts val="600"/>
              </a:spcBef>
              <a:defRPr sz="2400"/>
            </a:pPr>
            <a:r>
              <a:t>Giriş → İşlem → Çıkış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Donanım Bileşenleri:</a:t>
            </a:r>
          </a:p>
          <a:p>
            <a:pPr>
              <a:spcBef>
                <a:spcPts val="600"/>
              </a:spcBef>
              <a:defRPr sz="2400"/>
            </a:pPr>
            <a:r>
              <a:t>• Kasa (Tower)</a:t>
            </a:r>
          </a:p>
          <a:p>
            <a:pPr>
              <a:spcBef>
                <a:spcPts val="600"/>
              </a:spcBef>
              <a:defRPr sz="2400"/>
            </a:pPr>
            <a:r>
              <a:t>• Ekran (Monitor)</a:t>
            </a:r>
          </a:p>
          <a:p>
            <a:pPr>
              <a:spcBef>
                <a:spcPts val="600"/>
              </a:spcBef>
              <a:defRPr sz="2400"/>
            </a:pPr>
            <a:r>
              <a:t>• Klavye</a:t>
            </a:r>
          </a:p>
          <a:p>
            <a:pPr>
              <a:spcBef>
                <a:spcPts val="600"/>
              </a:spcBef>
              <a:defRPr sz="2400"/>
            </a:pPr>
            <a:r>
              <a:t>• Mouse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İç Donanım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🧠 İşlemci (CPU) - Bilgisayarın beyni</a:t>
            </a:r>
          </a:p>
          <a:p>
            <a:pPr>
              <a:spcBef>
                <a:spcPts val="600"/>
              </a:spcBef>
              <a:defRPr sz="2400"/>
            </a:pPr>
            <a:r>
              <a:t>💾 RAM - Geçici hızlı bellek</a:t>
            </a:r>
          </a:p>
          <a:p>
            <a:pPr>
              <a:spcBef>
                <a:spcPts val="600"/>
              </a:spcBef>
              <a:defRPr sz="2400"/>
            </a:pPr>
            <a:r>
              <a:t>💿 Harddisk/SSD - Kalıcı depolama</a:t>
            </a:r>
          </a:p>
          <a:p>
            <a:pPr>
              <a:spcBef>
                <a:spcPts val="600"/>
              </a:spcBef>
              <a:defRPr sz="2400"/>
            </a:pPr>
            <a:r>
              <a:t>🎮 Ekran Kartı - Görüntü işleme</a:t>
            </a:r>
          </a:p>
          <a:p>
            <a:pPr>
              <a:spcBef>
                <a:spcPts val="600"/>
              </a:spcBef>
              <a:defRPr sz="2400"/>
            </a:pPr>
            <a:r>
              <a:t>🔌 Anakart - Tüm parçaları birleştirir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78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Hafta 2: İşletim Sistemleri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İşletim Sistemi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Donanım ve yazılım arasındaki köprü</a:t>
            </a:r>
          </a:p>
          <a:p>
            <a:pPr>
              <a:spcBef>
                <a:spcPts val="600"/>
              </a:spcBef>
              <a:defRPr sz="2400"/>
            </a:pPr>
            <a:r>
              <a:t>Bilgisayarı yöneten ana program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Popüler İşletim Sistemleri:</a:t>
            </a:r>
          </a:p>
          <a:p>
            <a:pPr>
              <a:spcBef>
                <a:spcPts val="600"/>
              </a:spcBef>
              <a:defRPr sz="2400"/>
            </a:pPr>
            <a:r>
              <a:t>🪟 Windows - En yaygın</a:t>
            </a:r>
          </a:p>
          <a:p>
            <a:pPr>
              <a:spcBef>
                <a:spcPts val="600"/>
              </a:spcBef>
              <a:defRPr sz="2400"/>
            </a:pPr>
            <a:r>
              <a:t>🍎 macOS - Apple bilgisayarlar</a:t>
            </a:r>
          </a:p>
          <a:p>
            <a:pPr>
              <a:spcBef>
                <a:spcPts val="600"/>
              </a:spcBef>
              <a:defRPr sz="2400"/>
            </a:pPr>
            <a:r>
              <a:t>🐧 Linux - Açık kaynak</a:t>
            </a:r>
          </a:p>
          <a:p>
            <a:pPr>
              <a:spcBef>
                <a:spcPts val="600"/>
              </a:spcBef>
              <a:defRPr sz="2400"/>
            </a:pPr>
            <a:r>
              <a:t>📱 Android &amp; iOS - Mobil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B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Hafta 3: Dosya Yönetimi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Dosya ve Klasör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📁 Klasör: Dosyaları gruplar</a:t>
            </a:r>
          </a:p>
          <a:p>
            <a:pPr>
              <a:spcBef>
                <a:spcPts val="600"/>
              </a:spcBef>
              <a:defRPr sz="2400"/>
            </a:pPr>
            <a:r>
              <a:t>📄 Dosya: Bilgi saklayan birim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Dosya Türleri:</a:t>
            </a:r>
          </a:p>
          <a:p>
            <a:pPr>
              <a:spcBef>
                <a:spcPts val="600"/>
              </a:spcBef>
              <a:defRPr sz="2400"/>
            </a:pPr>
            <a:r>
              <a:t>📝 .docx - Word belgesi</a:t>
            </a:r>
          </a:p>
          <a:p>
            <a:pPr>
              <a:spcBef>
                <a:spcPts val="600"/>
              </a:spcBef>
              <a:defRPr sz="2400"/>
            </a:pPr>
            <a:r>
              <a:t>📊 .xlsx - Excel tablosu</a:t>
            </a:r>
          </a:p>
          <a:p>
            <a:pPr>
              <a:spcBef>
                <a:spcPts val="600"/>
              </a:spcBef>
              <a:defRPr sz="2400"/>
            </a:pPr>
            <a:r>
              <a:t>🖼️ .jpg, .png - Resim</a:t>
            </a:r>
          </a:p>
          <a:p>
            <a:pPr>
              <a:spcBef>
                <a:spcPts val="600"/>
              </a:spcBef>
              <a:defRPr sz="2400"/>
            </a:pPr>
            <a:r>
              <a:t>🎬 .mp4, .avi - Video</a:t>
            </a:r>
          </a:p>
          <a:p>
            <a:pPr>
              <a:spcBef>
                <a:spcPts val="600"/>
              </a:spcBef>
              <a:defRPr sz="2400"/>
            </a:pPr>
            <a:r>
              <a:t>🎵 .mp3 - Müzik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Dosya İsimlendirme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✅ DOĞRU:</a:t>
            </a:r>
          </a:p>
          <a:p>
            <a:pPr>
              <a:spcBef>
                <a:spcPts val="600"/>
              </a:spcBef>
              <a:defRPr sz="2400"/>
            </a:pPr>
            <a:r>
              <a:t>• Anlamlı isimler (matematik_odevi.docx)</a:t>
            </a:r>
          </a:p>
          <a:p>
            <a:pPr>
              <a:spcBef>
                <a:spcPts val="600"/>
              </a:spcBef>
              <a:defRPr sz="2400"/>
            </a:pPr>
            <a:r>
              <a:t>• Tarih ekle (2025-01-15_sunum.pptx)</a:t>
            </a:r>
          </a:p>
          <a:p>
            <a:pPr>
              <a:spcBef>
                <a:spcPts val="600"/>
              </a:spcBef>
              <a:defRPr sz="2400"/>
            </a:pPr>
            <a:r>
              <a:t>• Küçük harf kullan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❌ YANLIŞ:</a:t>
            </a:r>
          </a:p>
          <a:p>
            <a:pPr>
              <a:spcBef>
                <a:spcPts val="600"/>
              </a:spcBef>
              <a:defRPr sz="2400"/>
            </a:pPr>
            <a:r>
              <a:t>• Özel karakterler (?, *, /)</a:t>
            </a:r>
          </a:p>
          <a:p>
            <a:pPr>
              <a:spcBef>
                <a:spcPts val="600"/>
              </a:spcBef>
              <a:defRPr sz="2400"/>
            </a:pPr>
            <a:r>
              <a:t>• Çok uzun isimler</a:t>
            </a:r>
          </a:p>
          <a:p>
            <a:pPr>
              <a:spcBef>
                <a:spcPts val="600"/>
              </a:spcBef>
              <a:defRPr sz="2400"/>
            </a:pPr>
            <a:r>
              <a:t>• Anlamsız isimler (asdasd.docx)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B4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📚 Hafta 4-5: Office Programları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Microsoft Office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Ofis uygulamaları paketi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Programlar:</a:t>
            </a:r>
          </a:p>
          <a:p>
            <a:pPr>
              <a:spcBef>
                <a:spcPts val="600"/>
              </a:spcBef>
              <a:defRPr sz="2400"/>
            </a:pPr>
            <a:r>
              <a:t>📝 Word - Belge oluşturma</a:t>
            </a:r>
          </a:p>
          <a:p>
            <a:pPr>
              <a:spcBef>
                <a:spcPts val="600"/>
              </a:spcBef>
              <a:defRPr sz="2400"/>
            </a:pPr>
            <a:r>
              <a:t>📊 Excel - Tablo ve hesaplamalar</a:t>
            </a:r>
          </a:p>
          <a:p>
            <a:pPr>
              <a:spcBef>
                <a:spcPts val="600"/>
              </a:spcBef>
              <a:defRPr sz="2400"/>
            </a:pPr>
            <a:r>
              <a:t>📺 PowerPoint - Sunumlar</a:t>
            </a:r>
          </a:p>
          <a:p>
            <a:pPr>
              <a:spcBef>
                <a:spcPts val="600"/>
              </a:spcBef>
              <a:defRPr sz="2400"/>
            </a:pPr>
            <a:r>
              <a:t>📧 Outlook - E-posta</a:t>
            </a:r>
          </a:p>
          <a:p>
            <a:pPr>
              <a:spcBef>
                <a:spcPts val="600"/>
              </a:spcBef>
              <a:defRPr sz="2400"/>
            </a:pPr>
            <a:r>
              <a:t>📔 OneNote - Not alma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8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🎉 Ünite 1 Tamamlandı!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DC64B4"/>
                </a:solidFill>
              </a:defRPr>
            </a:pPr>
            <a:r>
              <a:t>Öğrendiklerimiz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400"/>
            </a:pPr>
            <a:r>
              <a:t>✅ Bilgisayar bileşenleri</a:t>
            </a:r>
          </a:p>
          <a:p>
            <a:pPr>
              <a:spcBef>
                <a:spcPts val="600"/>
              </a:spcBef>
              <a:defRPr sz="2400"/>
            </a:pPr>
            <a:r>
              <a:t>✅ İşletim sistemleri</a:t>
            </a:r>
          </a:p>
          <a:p>
            <a:pPr>
              <a:spcBef>
                <a:spcPts val="600"/>
              </a:spcBef>
              <a:defRPr sz="2400"/>
            </a:pPr>
            <a:r>
              <a:t>✅ Dosya yönetimi</a:t>
            </a:r>
          </a:p>
          <a:p>
            <a:pPr>
              <a:spcBef>
                <a:spcPts val="600"/>
              </a:spcBef>
              <a:defRPr sz="2400"/>
            </a:pPr>
            <a:r>
              <a:t>✅ Office programları temelleri</a:t>
            </a:r>
          </a:p>
          <a:p>
            <a:pPr>
              <a:spcBef>
                <a:spcPts val="600"/>
              </a:spcBef>
              <a:defRPr sz="2400"/>
            </a:pPr>
          </a:p>
          <a:p>
            <a:pPr>
              <a:spcBef>
                <a:spcPts val="600"/>
              </a:spcBef>
              <a:defRPr sz="2400"/>
            </a:pPr>
            <a:r>
              <a:t>Bir sonraki ünite:</a:t>
            </a:r>
          </a:p>
          <a:p>
            <a:pPr>
              <a:spcBef>
                <a:spcPts val="600"/>
              </a:spcBef>
              <a:defRPr sz="2400"/>
            </a:pPr>
            <a:r>
              <a:t>🎨 Dijital Ürün Tasarımı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