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5. SINIF BİLİŞİM TEKNOLOJİLERİ VE YAZILIM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2024-2025 Eğitim Öğretim Yılı - Tam Yıllık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📚 Yıllık Program İçeriği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Bu yıl neler öğreneceğiz?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📘 ÜNİTE 1: Bilişim Temelleri (9 hafta)</a:t>
            </a:r>
          </a:p>
          <a:p>
            <a:pPr lvl="1">
              <a:spcAft>
                <a:spcPts val="1000"/>
              </a:spcAft>
              <a:defRPr sz="1800"/>
            </a:pPr>
            <a:r>
              <a:t>    • Bilgisayar donanımı ve bileşenleri</a:t>
            </a:r>
          </a:p>
          <a:p>
            <a:pPr lvl="1">
              <a:spcAft>
                <a:spcPts val="1000"/>
              </a:spcAft>
              <a:defRPr sz="1800"/>
            </a:pPr>
            <a:r>
              <a:t>    • İşletim sistemleri</a:t>
            </a:r>
          </a:p>
          <a:p>
            <a:pPr lvl="1">
              <a:spcAft>
                <a:spcPts val="1000"/>
              </a:spcAft>
              <a:defRPr sz="1800"/>
            </a:pPr>
            <a:r>
              <a:t>    • Dosya ve klasör yönetimi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📗 ÜNİTE 2: Dijital Ürün Tasarımı (6 hafta)</a:t>
            </a:r>
          </a:p>
          <a:p>
            <a:pPr lvl="1">
              <a:spcAft>
                <a:spcPts val="1000"/>
              </a:spcAft>
              <a:defRPr sz="1800"/>
            </a:pPr>
            <a:r>
              <a:t>    • Proje yönetimi</a:t>
            </a:r>
          </a:p>
          <a:p>
            <a:pPr lvl="1">
              <a:spcAft>
                <a:spcPts val="1000"/>
              </a:spcAft>
              <a:defRPr sz="1800"/>
            </a:pPr>
            <a:r>
              <a:t>    • Dijital ürün tasarım süreci</a:t>
            </a:r>
          </a:p>
          <a:p>
            <a:pPr lvl="1">
              <a:spcAft>
                <a:spcPts val="1000"/>
              </a:spcAft>
              <a:defRPr sz="1800"/>
            </a:pPr>
            <a:r>
              <a:t>    • Prototip ve test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📙 ÜNİTE 3: Ağlar ve İletişim (3 hafta)</a:t>
            </a:r>
          </a:p>
          <a:p>
            <a:pPr lvl="1">
              <a:spcAft>
                <a:spcPts val="1000"/>
              </a:spcAft>
              <a:defRPr sz="1800"/>
            </a:pPr>
            <a:r>
              <a:t>    • Bilgisayar ağları</a:t>
            </a:r>
          </a:p>
          <a:p>
            <a:pPr lvl="1">
              <a:spcAft>
                <a:spcPts val="1000"/>
              </a:spcAft>
              <a:defRPr sz="1800"/>
            </a:pPr>
            <a:r>
              <a:t>    • İnternet ve güvenli kullanım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📕 ÜNİTE 4: Etik ve Güvenlik (2 hafta)</a:t>
            </a:r>
          </a:p>
          <a:p>
            <a:pPr lvl="1">
              <a:spcAft>
                <a:spcPts val="1000"/>
              </a:spcAft>
              <a:defRPr sz="1800"/>
            </a:pPr>
            <a:r>
              <a:t>    • Dijital etik ve güvenlik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📔 ÜNİTE 5: Yapay Zeka (4 hafta)</a:t>
            </a:r>
          </a:p>
          <a:p>
            <a:pPr lvl="1">
              <a:spcAft>
                <a:spcPts val="1000"/>
              </a:spcAft>
              <a:defRPr sz="1800"/>
            </a:pPr>
            <a:r>
              <a:t>    • AI temelleri ve kullanım alanları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📓 ÜNİTE 6: Scratch Programlama (14 hafta)</a:t>
            </a:r>
          </a:p>
          <a:p>
            <a:pPr lvl="1">
              <a:spcAft>
                <a:spcPts val="1000"/>
              </a:spcAft>
              <a:defRPr sz="1800"/>
            </a:pPr>
            <a:r>
              <a:t>    • Blok tabanlı programlama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ÜNİTE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Bilişim Temelleri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E74C3C"/>
                </a:solidFill>
              </a:defRPr>
            </a:pPr>
            <a:r>
              <a:t>💻 Bilgisayar Donanımı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Bilgisayarın fiziksel parçaları: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🧠 İşlemci (CPU):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Bilgisayarın beyni</a:t>
            </a:r>
          </a:p>
          <a:p>
            <a:pPr lvl="1">
              <a:spcAft>
                <a:spcPts val="1000"/>
              </a:spcAft>
              <a:defRPr sz="1800"/>
            </a:pPr>
            <a:r>
              <a:t>    • Tüm hesaplamaları yapar</a:t>
            </a:r>
          </a:p>
          <a:p>
            <a:pPr lvl="1">
              <a:spcAft>
                <a:spcPts val="1000"/>
              </a:spcAft>
              <a:defRPr sz="1800"/>
            </a:pPr>
            <a:r>
              <a:t>    • GHz ile ölçülür (hız)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💾 Bellek (RAM):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Geçici hafıza</a:t>
            </a:r>
          </a:p>
          <a:p>
            <a:pPr lvl="1">
              <a:spcAft>
                <a:spcPts val="1000"/>
              </a:spcAft>
              <a:defRPr sz="1800"/>
            </a:pPr>
            <a:r>
              <a:t>    • Programların çalışma alanı</a:t>
            </a:r>
          </a:p>
          <a:p>
            <a:pPr lvl="1">
              <a:spcAft>
                <a:spcPts val="1000"/>
              </a:spcAft>
              <a:defRPr sz="1800"/>
            </a:pPr>
            <a:r>
              <a:t>    • GB ile ölçülür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💿 Sabit Disk (HDD/SSD):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Kalıcı depolama</a:t>
            </a:r>
          </a:p>
          <a:p>
            <a:pPr lvl="1">
              <a:spcAft>
                <a:spcPts val="1000"/>
              </a:spcAft>
              <a:defRPr sz="1800"/>
            </a:pPr>
            <a:r>
              <a:t>    • Dosyalar burada saklanır</a:t>
            </a:r>
          </a:p>
          <a:p>
            <a:pPr lvl="1">
              <a:spcAft>
                <a:spcPts val="1000"/>
              </a:spcAft>
              <a:defRPr sz="1800"/>
            </a:pPr>
            <a:r>
              <a:t>    • SSD daha hızlı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🖥️ Diğer Bileşenler: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Anakart, Ekran kartı, Güç kaynağı</a:t>
            </a:r>
          </a:p>
          <a:p>
            <a:pPr lvl="1">
              <a:spcAft>
                <a:spcPts val="1000"/>
              </a:spcAft>
              <a:defRPr sz="1800"/>
            </a:pPr>
            <a:r>
              <a:t>    • Giriş/Çıkış cihazları (klavye, fare, monitör)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E74C3C"/>
                </a:solidFill>
              </a:defRPr>
            </a:pPr>
            <a:r>
              <a:t>🖥️ İşletim Sistemleri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İşletim sistemi = Bilgisayarı yöneten yazılım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✅ Popüler İşletim Sistemleri: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Windows (En yaygın)</a:t>
            </a:r>
          </a:p>
          <a:p>
            <a:pPr lvl="1">
              <a:spcAft>
                <a:spcPts val="1000"/>
              </a:spcAft>
              <a:defRPr sz="1800"/>
            </a:pPr>
            <a:r>
              <a:t>    • macOS (Apple)</a:t>
            </a:r>
          </a:p>
          <a:p>
            <a:pPr lvl="1">
              <a:spcAft>
                <a:spcPts val="1000"/>
              </a:spcAft>
              <a:defRPr sz="1800"/>
            </a:pPr>
            <a:r>
              <a:t>    • Linux (Açık kaynak)</a:t>
            </a:r>
          </a:p>
          <a:p>
            <a:pPr lvl="1">
              <a:spcAft>
                <a:spcPts val="1000"/>
              </a:spcAft>
              <a:defRPr sz="1800"/>
            </a:pPr>
            <a:r>
              <a:t>    • Android, iOS (Mobil)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📌 İşletim Sisteminin Görevleri: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Donanımı yönetir</a:t>
            </a:r>
          </a:p>
          <a:p>
            <a:pPr lvl="1">
              <a:spcAft>
                <a:spcPts val="1000"/>
              </a:spcAft>
              <a:defRPr sz="1800"/>
            </a:pPr>
            <a:r>
              <a:t>    • Programları çalıştırır</a:t>
            </a:r>
          </a:p>
          <a:p>
            <a:pPr lvl="1">
              <a:spcAft>
                <a:spcPts val="1000"/>
              </a:spcAft>
              <a:defRPr sz="1800"/>
            </a:pPr>
            <a:r>
              <a:t>    • Dosyaları organize eder</a:t>
            </a:r>
          </a:p>
          <a:p>
            <a:pPr lvl="1">
              <a:spcAft>
                <a:spcPts val="1000"/>
              </a:spcAft>
              <a:defRPr sz="1800"/>
            </a:pPr>
            <a:r>
              <a:t>    • Kullanıcı arayüzü sağlar</a:t>
            </a:r>
          </a:p>
          <a:p>
            <a:pPr lvl="1">
              <a:spcAft>
                <a:spcPts val="1000"/>
              </a:spcAft>
              <a:defRPr sz="1800"/>
            </a:pPr>
            <a:r>
              <a:t>    • Güvenlik sağlar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💡 Windows Temel Özellikler: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Masaüstü, Görev Çubuğu, Başlat Menüsü</a:t>
            </a:r>
          </a:p>
          <a:p>
            <a:pPr lvl="1">
              <a:spcAft>
                <a:spcPts val="1000"/>
              </a:spcAft>
              <a:defRPr sz="1800"/>
            </a:pPr>
            <a:r>
              <a:t>    • Dosya Gezgini</a:t>
            </a:r>
          </a:p>
          <a:p>
            <a:pPr lvl="1">
              <a:spcAft>
                <a:spcPts val="1000"/>
              </a:spcAft>
              <a:defRPr sz="1800"/>
            </a:pPr>
            <a:r>
              <a:t>    • Ayarlar ve Kontrol Paneli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C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ÜNİTE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Dijital Ürün Tasarımı ve Proje Yönetimi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2ECC71"/>
                </a:solidFill>
              </a:defRPr>
            </a:pPr>
            <a:r>
              <a:t>🎨 Dijital Ürün Tasarım Süreci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Bir dijital ürün nasıl yapılır?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1️⃣ İHTİYAÇ ANALİZİ: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Hangi problemi çözeceğiz?</a:t>
            </a:r>
          </a:p>
          <a:p>
            <a:pPr lvl="1">
              <a:spcAft>
                <a:spcPts val="1000"/>
              </a:spcAft>
              <a:defRPr sz="1800"/>
            </a:pPr>
            <a:r>
              <a:t>    • Kullanıcı kim?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2️⃣ FİKİR GELİŞTİRME: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Beyin fırtınası</a:t>
            </a:r>
          </a:p>
          <a:p>
            <a:pPr lvl="1">
              <a:spcAft>
                <a:spcPts val="1000"/>
              </a:spcAft>
              <a:defRPr sz="1800"/>
            </a:pPr>
            <a:r>
              <a:t>    • Çözüm önerileri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3️⃣ TASARIM: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Kullanıcı arayüzü</a:t>
            </a:r>
          </a:p>
          <a:p>
            <a:pPr lvl="1">
              <a:spcAft>
                <a:spcPts val="1000"/>
              </a:spcAft>
              <a:defRPr sz="1800"/>
            </a:pPr>
            <a:r>
              <a:t>    • Görsel tasarım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4️⃣ PROTOTİP: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İlk deneme versiyonu</a:t>
            </a:r>
          </a:p>
          <a:p>
            <a:pPr lvl="1">
              <a:spcAft>
                <a:spcPts val="1000"/>
              </a:spcAft>
              <a:defRPr sz="1800"/>
            </a:pPr>
            <a:r>
              <a:t>    • Kağıt veya dijital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5️⃣ TEST: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Kullanıcılarla deneme</a:t>
            </a:r>
          </a:p>
          <a:p>
            <a:pPr lvl="1">
              <a:spcAft>
                <a:spcPts val="1000"/>
              </a:spcAft>
              <a:defRPr sz="1800"/>
            </a:pPr>
            <a:r>
              <a:t>    • Geri bildirim toplama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6️⃣ İYİLEŞTİRME: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Hataları düzeltme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7️⃣ YAYINLAMA: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Ürünü kullanıma sunma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ÜNİTE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Ağlar ve İletişim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3498DB"/>
                </a:solidFill>
              </a:defRPr>
            </a:pPr>
            <a:r>
              <a:t>🌐 İnternet ve Ağlar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Bilgisayarlar nasıl haberleşir?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✅ Ağ Türleri: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🏠 LAN (Yerel Ağ):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Ev veya okul ağı</a:t>
            </a:r>
          </a:p>
          <a:p>
            <a:pPr lvl="1">
              <a:spcAft>
                <a:spcPts val="1000"/>
              </a:spcAft>
              <a:defRPr sz="1800"/>
            </a:pPr>
            <a:r>
              <a:t>    • Küçük alan</a:t>
            </a:r>
          </a:p>
          <a:p>
            <a:pPr lvl="1">
              <a:spcAft>
                <a:spcPts val="1000"/>
              </a:spcAft>
              <a:defRPr sz="1800"/>
            </a:pPr>
            <a:r>
              <a:t>    • Hızlı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🌍 WAN (Geniş Ağ):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Şehirler arası</a:t>
            </a:r>
          </a:p>
          <a:p>
            <a:pPr lvl="1">
              <a:spcAft>
                <a:spcPts val="1000"/>
              </a:spcAft>
              <a:defRPr sz="1800"/>
            </a:pPr>
            <a:r>
              <a:t>    • İnternet en büyük WAN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📌 İnternet Kavramları: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IP Adresi: Her cihazın benzersiz numarası</a:t>
            </a:r>
          </a:p>
          <a:p>
            <a:pPr lvl="1">
              <a:spcAft>
                <a:spcPts val="1000"/>
              </a:spcAft>
              <a:defRPr sz="1800"/>
            </a:pPr>
            <a:r>
              <a:t>    • Domain: Web sitesi adresi (google.com)</a:t>
            </a:r>
          </a:p>
          <a:p>
            <a:pPr lvl="1">
              <a:spcAft>
                <a:spcPts val="1000"/>
              </a:spcAft>
              <a:defRPr sz="1800"/>
            </a:pPr>
            <a:r>
              <a:t>    • Tarayıcı: İnternette gezinme programı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🔒 Güvenli İnternet: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Kişisel bilgileri paylaşma</a:t>
            </a:r>
          </a:p>
          <a:p>
            <a:pPr lvl="1">
              <a:spcAft>
                <a:spcPts val="1000"/>
              </a:spcAft>
              <a:defRPr sz="1800"/>
            </a:pPr>
            <a:r>
              <a:t>    • Güçlü şifre kullan</a:t>
            </a:r>
          </a:p>
          <a:p>
            <a:pPr lvl="1">
              <a:spcAft>
                <a:spcPts val="1000"/>
              </a:spcAft>
              <a:defRPr sz="1800"/>
            </a:pPr>
            <a:r>
              <a:t>    • Şüpheli linklere tıklama</a:t>
            </a:r>
          </a:p>
          <a:p>
            <a:pPr lvl="1">
              <a:spcAft>
                <a:spcPts val="1000"/>
              </a:spcAft>
              <a:defRPr sz="1800"/>
            </a:pPr>
            <a:r>
              <a:t>    • Siber zorbalığa hayır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ÜNİTE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Etik ve Güvenlik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B59B6"/>
                </a:solidFill>
              </a:defRPr>
            </a:pPr>
            <a:r>
              <a:t>🔐 Dijital Güvenlik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Kendini dijital dünyada nasıl korursun?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✅ Güvenlik Kuralları: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🔑 Güçlü Şifre: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En az 8 karakter</a:t>
            </a:r>
          </a:p>
          <a:p>
            <a:pPr lvl="1">
              <a:spcAft>
                <a:spcPts val="1000"/>
              </a:spcAft>
              <a:defRPr sz="1800"/>
            </a:pPr>
            <a:r>
              <a:t>    • Büyük/küçük harf, rakam, sembol</a:t>
            </a:r>
          </a:p>
          <a:p>
            <a:pPr lvl="1">
              <a:spcAft>
                <a:spcPts val="1000"/>
              </a:spcAft>
              <a:defRPr sz="1800"/>
            </a:pPr>
            <a:r>
              <a:t>    • Her hesap için farklı şifre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🎣 Phishing'den Korunma: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Şüpheli e-postalar</a:t>
            </a:r>
          </a:p>
          <a:p>
            <a:pPr lvl="1">
              <a:spcAft>
                <a:spcPts val="1000"/>
              </a:spcAft>
              <a:defRPr sz="1800"/>
            </a:pPr>
            <a:r>
              <a:t>    • Bilgi isteyen mesajlar</a:t>
            </a:r>
          </a:p>
          <a:p>
            <a:pPr lvl="1">
              <a:spcAft>
                <a:spcPts val="1000"/>
              </a:spcAft>
              <a:defRPr sz="1800"/>
            </a:pPr>
            <a:r>
              <a:t>    • Sahte web siteleri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🦠 Zararlı Yazılımlar: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Antivirüs kullan</a:t>
            </a:r>
          </a:p>
          <a:p>
            <a:pPr lvl="1">
              <a:spcAft>
                <a:spcPts val="1000"/>
              </a:spcAft>
              <a:defRPr sz="1800"/>
            </a:pPr>
            <a:r>
              <a:t>    • Güncelleme yap</a:t>
            </a:r>
          </a:p>
          <a:p>
            <a:pPr lvl="1">
              <a:spcAft>
                <a:spcPts val="1000"/>
              </a:spcAft>
              <a:defRPr sz="1800"/>
            </a:pPr>
            <a:r>
              <a:t>    • Bilinmeyen dosya açma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⚖️ Dijital Etik: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Saygılı ol</a:t>
            </a:r>
          </a:p>
          <a:p>
            <a:pPr lvl="1">
              <a:spcAft>
                <a:spcPts val="1000"/>
              </a:spcAft>
              <a:defRPr sz="1800"/>
            </a:pPr>
            <a:r>
              <a:t>    • Telif haklarına uy</a:t>
            </a:r>
          </a:p>
          <a:p>
            <a:pPr lvl="1">
              <a:spcAft>
                <a:spcPts val="1000"/>
              </a:spcAft>
              <a:defRPr sz="1800"/>
            </a:pPr>
            <a:r>
              <a:t>    • Kaynak göster</a:t>
            </a:r>
          </a:p>
          <a:p>
            <a:pPr lvl="1">
              <a:spcAft>
                <a:spcPts val="1000"/>
              </a:spcAft>
              <a:defRPr sz="1800"/>
            </a:pPr>
            <a:r>
              <a:t>    • Siber zorbalık yapma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C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ÜNİTE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Yapay Zeka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1C40F"/>
                </a:solidFill>
              </a:defRPr>
            </a:pPr>
            <a:r>
              <a:t>🤖 Yapay Zeka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Makinelerin öğrenmesi ve düşünmesi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✅ Günlük Hayatta AI: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🎤 Sesli Asistanlar: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Siri, Google Asistan, Alexa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📸 Görüntü Tanıma: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Yüz tanıma (telefon kilidi)</a:t>
            </a:r>
          </a:p>
          <a:p>
            <a:pPr lvl="1">
              <a:spcAft>
                <a:spcPts val="1000"/>
              </a:spcAft>
              <a:defRPr sz="1800"/>
            </a:pPr>
            <a:r>
              <a:t>    • Fotoğraf etiketleme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🎬 Öneri Sistemleri: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YouTube önerileri</a:t>
            </a:r>
          </a:p>
          <a:p>
            <a:pPr lvl="1">
              <a:spcAft>
                <a:spcPts val="1000"/>
              </a:spcAft>
              <a:defRPr sz="1800"/>
            </a:pPr>
            <a:r>
              <a:t>    • Netflix film önerileri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🎮 Oyunlarda AI: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Akıllı düşmanlar</a:t>
            </a:r>
          </a:p>
          <a:p>
            <a:pPr lvl="1">
              <a:spcAft>
                <a:spcPts val="1000"/>
              </a:spcAft>
              <a:defRPr sz="1800"/>
            </a:pPr>
            <a:r>
              <a:t>    • NPC davranışları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⚖️ AI Etiği: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Önyargı problemi</a:t>
            </a:r>
          </a:p>
          <a:p>
            <a:pPr lvl="1">
              <a:spcAft>
                <a:spcPts val="1000"/>
              </a:spcAft>
              <a:defRPr sz="1800"/>
            </a:pPr>
            <a:r>
              <a:t>    • Gizlilik endişeleri</a:t>
            </a:r>
          </a:p>
          <a:p>
            <a:pPr lvl="1">
              <a:spcAft>
                <a:spcPts val="1000"/>
              </a:spcAft>
              <a:defRPr sz="1800"/>
            </a:pPr>
            <a:r>
              <a:t>    • İş kaybı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💡 AI geleceğin teknolojisi!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7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ÜNİTE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Scratch ile Programlama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E67E22"/>
                </a:solidFill>
              </a:defRPr>
            </a:pPr>
            <a:r>
              <a:t>🎨 Scratch Temelleri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Blok tabanlı programlama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✅ Temel Kavramlar: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🧩 Bloklar: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Hareket, Görünüm, Ses, Olaylar</a:t>
            </a:r>
          </a:p>
          <a:p>
            <a:pPr lvl="1">
              <a:spcAft>
                <a:spcPts val="1000"/>
              </a:spcAft>
              <a:defRPr sz="1800"/>
            </a:pPr>
            <a:r>
              <a:t>    • Kontrol, Algılama, Operatörler</a:t>
            </a:r>
          </a:p>
          <a:p>
            <a:pPr lvl="1">
              <a:spcAft>
                <a:spcPts val="1000"/>
              </a:spcAft>
              <a:defRPr sz="1800"/>
            </a:pPr>
            <a:r>
              <a:t>    • Değişkenler, Kendi Bloklarım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🐱 Sprite ve Sahne: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Karakterler ve nesneler</a:t>
            </a:r>
          </a:p>
          <a:p>
            <a:pPr lvl="1">
              <a:spcAft>
                <a:spcPts val="1000"/>
              </a:spcAft>
              <a:defRPr sz="1800"/>
            </a:pPr>
            <a:r>
              <a:t>    • Arka plan tasarımı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🔁 Programlama Yapıları: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Döngüler (tekrar)</a:t>
            </a:r>
          </a:p>
          <a:p>
            <a:pPr lvl="1">
              <a:spcAft>
                <a:spcPts val="1000"/>
              </a:spcAft>
              <a:defRPr sz="1800"/>
            </a:pPr>
            <a:r>
              <a:t>    • Koşullar (karar verme)</a:t>
            </a:r>
          </a:p>
          <a:p>
            <a:pPr lvl="1">
              <a:spcAft>
                <a:spcPts val="1000"/>
              </a:spcAft>
              <a:defRPr sz="1800"/>
            </a:pPr>
            <a:r>
              <a:t>    • Değişkenler (veri saklama)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🎮 Projeler: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Labirent oyunu</a:t>
            </a:r>
          </a:p>
          <a:p>
            <a:pPr lvl="1">
              <a:spcAft>
                <a:spcPts val="1000"/>
              </a:spcAft>
              <a:defRPr sz="1800"/>
            </a:pPr>
            <a:r>
              <a:t>    • Top sektirme</a:t>
            </a:r>
          </a:p>
          <a:p>
            <a:pPr lvl="1">
              <a:spcAft>
                <a:spcPts val="1000"/>
              </a:spcAft>
              <a:defRPr sz="1800"/>
            </a:pPr>
            <a:r>
              <a:t>    • Meyve yakalama</a:t>
            </a:r>
          </a:p>
          <a:p>
            <a:pPr lvl="1">
              <a:spcAft>
                <a:spcPts val="1000"/>
              </a:spcAft>
              <a:defRPr sz="1800"/>
            </a:pPr>
            <a:r>
              <a:t>    • Quiz uygulaması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💡 Kendi oyununu yapabilirsin!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🎯 Yıl Boyunca Kazandıklarınız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Bu yıl neler öğrendiniz?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✅ Bilgisayar donanım ve yazılımını anlama</a:t>
            </a:r>
          </a:p>
          <a:p>
            <a:pPr>
              <a:spcAft>
                <a:spcPts val="1000"/>
              </a:spcAft>
              <a:defRPr sz="2000"/>
            </a:pPr>
            <a:r>
              <a:t>✅ Dijital ürün tasarlama becerisi</a:t>
            </a:r>
          </a:p>
          <a:p>
            <a:pPr>
              <a:spcAft>
                <a:spcPts val="1000"/>
              </a:spcAft>
              <a:defRPr sz="2000"/>
            </a:pPr>
            <a:r>
              <a:t>✅ İnternet ve ağları güvenle kullanma</a:t>
            </a:r>
          </a:p>
          <a:p>
            <a:pPr>
              <a:spcAft>
                <a:spcPts val="1000"/>
              </a:spcAft>
              <a:defRPr sz="2000"/>
            </a:pPr>
            <a:r>
              <a:t>✅ Dijital güvenlik ve etik bilinci</a:t>
            </a:r>
          </a:p>
          <a:p>
            <a:pPr>
              <a:spcAft>
                <a:spcPts val="1000"/>
              </a:spcAft>
              <a:defRPr sz="2000"/>
            </a:pPr>
            <a:r>
              <a:t>✅ Yapay zeka teknolojilerini anlama</a:t>
            </a:r>
          </a:p>
          <a:p>
            <a:pPr>
              <a:spcAft>
                <a:spcPts val="1000"/>
              </a:spcAft>
              <a:defRPr sz="2000"/>
            </a:pPr>
            <a:r>
              <a:t>✅ Scratch ile programlama yapabilme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💡 Kazanılan Beceriler:</a:t>
            </a:r>
          </a:p>
          <a:p>
            <a:pPr lvl="1">
              <a:spcAft>
                <a:spcPts val="1000"/>
              </a:spcAft>
              <a:defRPr sz="1800"/>
            </a:pPr>
            <a:r>
              <a:t>    • Problem çözme</a:t>
            </a:r>
          </a:p>
          <a:p>
            <a:pPr lvl="1">
              <a:spcAft>
                <a:spcPts val="1000"/>
              </a:spcAft>
              <a:defRPr sz="1800"/>
            </a:pPr>
            <a:r>
              <a:t>    • Algoritmik düşünme</a:t>
            </a:r>
          </a:p>
          <a:p>
            <a:pPr lvl="1">
              <a:spcAft>
                <a:spcPts val="1000"/>
              </a:spcAft>
              <a:defRPr sz="1800"/>
            </a:pPr>
            <a:r>
              <a:t>    • Yaratıcılık</a:t>
            </a:r>
          </a:p>
          <a:p>
            <a:pPr lvl="1">
              <a:spcAft>
                <a:spcPts val="1000"/>
              </a:spcAft>
              <a:defRPr sz="1800"/>
            </a:pPr>
            <a:r>
              <a:t>    • Takım çalışması</a:t>
            </a:r>
          </a:p>
          <a:p>
            <a:pPr lvl="1">
              <a:spcAft>
                <a:spcPts val="1000"/>
              </a:spcAft>
              <a:defRPr sz="1800"/>
            </a:pPr>
            <a:r>
              <a:t>    • Dijital okuryazarlık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🎓 Artık teknoloji okuryazarısınız!</a:t>
            </a:r>
          </a:p>
          <a:p>
            <a:pPr>
              <a:spcAft>
                <a:spcPts val="1000"/>
              </a:spcAft>
              <a:defRPr sz="2000"/>
            </a:pPr>
            <a:r>
              <a:t>Teknoloji sadece kullanıcısı değil, üreticisi oldunuz.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🚀 Geleceğin teknoloji liderlerisiniz!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Tebrikler! 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5. Sınıf Bilişim Teknolojileri Programını Tamamladınız!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