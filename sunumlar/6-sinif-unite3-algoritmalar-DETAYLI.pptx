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Koşullu yapılar akış diyagramı</a:t>
            </a:r>
          </a:p>
          <a:p>
            <a:r>
              <a:t>🎬 Video: Koşullu ifadeler Scratch'te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Scratch arayüzü ekran görüntüsü</a:t>
            </a:r>
          </a:p>
          <a:p>
            <a:r>
              <a:t>🎬 Video: Scratch ile basit oyun yapımı (3-5 dk)</a:t>
            </a:r>
          </a:p>
          <a:p>
            <a:r>
              <a:t>💡 Ekran kaydı: Adım adım Scratch projesi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🎨 GÖRSELLEŞTİRME ÖNERİLERİ:</a:t>
            </a:r>
          </a:p>
          <a:p/>
          <a:p>
            <a:r>
              <a:t>📸 Görsel: CPU, RAM ve anakart fotoğrafları</a:t>
            </a:r>
          </a:p>
          <a:p>
            <a:r>
              <a:t>🎬 Video: Bilgisayar donanımı tanıtım videosu (1-2 dk)</a:t>
            </a:r>
          </a:p>
          <a:p>
            <a:r>
              <a:t>💡 İnfografik: Bilgisayar bileşenleri şeması</a:t>
            </a:r>
          </a:p>
          <a:p>
            <a:r>
              <a:t>📸 Görsel: LAN ve WAN ağ topolojileri şeması</a:t>
            </a:r>
          </a:p>
          <a:p>
            <a:r>
              <a:t>🎬 Video: İnternet nasıl çalışır? Animasyonlu anlatım</a:t>
            </a:r>
          </a:p>
          <a:p>
            <a:r>
              <a:t>💡 İnfografik: Ev ağı kurulumu diyagramı</a:t>
            </a:r>
          </a:p>
          <a:p>
            <a:r>
              <a:t>📸 Görsel: Akış şeması örnekleri</a:t>
            </a:r>
          </a:p>
          <a:p>
            <a:r>
              <a:t>🎬 Video: Algoritma nedir? Günlük hayattan örnekler</a:t>
            </a:r>
          </a:p>
          <a:p>
            <a:r>
              <a:t>💡 İnfografik: Akış şeması sembolleri</a:t>
            </a:r>
          </a:p>
          <a:p>
            <a:r>
              <a:t>📸 Görsel: Döngü mantığı şeması</a:t>
            </a:r>
          </a:p>
          <a:p>
            <a:r>
              <a:t>🎬 Video: Döngüler Scratch'te nasıl kullanılır?</a:t>
            </a:r>
          </a:p>
          <a:p>
            <a:r>
              <a:t>📸 Görsel: Temel tasarım prensipleri</a:t>
            </a:r>
          </a:p>
          <a:p>
            <a:r>
              <a:t>🎬 Video: Dijital tasarıma giriş</a:t>
            </a:r>
          </a:p>
          <a:p>
            <a:r>
              <a:t>💡 İnfografik: Renk teorisi ve uyumu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6. SINIF - ÜNİTE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Algoritmalar ve Problem Çözme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📚 Ünitenin Konuları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Bu ünitede neler öğreneceğiz?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1. Algoritma Nedir?</a:t>
            </a:r>
          </a:p>
          <a:p>
            <a:pPr>
              <a:spcAft>
                <a:spcPts val="1000"/>
              </a:spcAft>
              <a:defRPr sz="1900"/>
            </a:pPr>
            <a:r>
              <a:t>✅ 2. Algoritma Örnekleri</a:t>
            </a:r>
          </a:p>
          <a:p>
            <a:pPr>
              <a:spcAft>
                <a:spcPts val="1000"/>
              </a:spcAft>
              <a:defRPr sz="1900"/>
            </a:pPr>
            <a:r>
              <a:t>✅ 3. Akış Diyagramları</a:t>
            </a:r>
          </a:p>
          <a:p>
            <a:pPr>
              <a:spcAft>
                <a:spcPts val="1000"/>
              </a:spcAft>
              <a:defRPr sz="1900"/>
            </a:pPr>
            <a:r>
              <a:t>✅ 4. Akış Diyagramı Sembolleri</a:t>
            </a:r>
          </a:p>
          <a:p>
            <a:pPr>
              <a:spcAft>
                <a:spcPts val="1000"/>
              </a:spcAft>
              <a:defRPr sz="1900"/>
            </a:pPr>
            <a:r>
              <a:t>✅ 5. Sıralı Algoritmalar</a:t>
            </a:r>
          </a:p>
          <a:p>
            <a:pPr>
              <a:spcAft>
                <a:spcPts val="1000"/>
              </a:spcAft>
              <a:defRPr sz="1900"/>
            </a:pPr>
            <a:r>
              <a:t>✅ 6. Seçimli Algoritmalar (If-Else)</a:t>
            </a:r>
          </a:p>
          <a:p>
            <a:pPr>
              <a:spcAft>
                <a:spcPts val="1000"/>
              </a:spcAft>
              <a:defRPr sz="1900"/>
            </a:pPr>
            <a:r>
              <a:t>✅ 7. Döngülü Algoritmalar</a:t>
            </a:r>
          </a:p>
          <a:p>
            <a:pPr>
              <a:spcAft>
                <a:spcPts val="1000"/>
              </a:spcAft>
              <a:defRPr sz="1900"/>
            </a:pPr>
            <a:r>
              <a:t>✅ 8. Problem Çözme Basamakları</a:t>
            </a:r>
          </a:p>
          <a:p>
            <a:pPr>
              <a:spcAft>
                <a:spcPts val="1000"/>
              </a:spcAft>
              <a:defRPr sz="1900"/>
            </a:pPr>
            <a:r>
              <a:t>✅ 9. Algoritma Tasarımı</a:t>
            </a:r>
          </a:p>
          <a:p>
            <a:pPr>
              <a:spcAft>
                <a:spcPts val="1000"/>
              </a:spcAft>
              <a:defRPr sz="1900"/>
            </a:pPr>
            <a:r>
              <a:t>✅ 10. Algoritma Analizi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⏰ Süre: 3 Hafta</a:t>
            </a:r>
          </a:p>
          <a:p>
            <a:pPr>
              <a:spcAft>
                <a:spcPts val="1000"/>
              </a:spcAft>
              <a:defRPr sz="1900"/>
            </a:pPr>
            <a:r>
              <a:t>🎯 Amaç: Problem çözme becerisi kazanmak!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🧩 Algoritma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Algoritma = Bir problemi çözme adımları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Algoritma Özellikleri: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Adımları var</a:t>
            </a:r>
          </a:p>
          <a:p>
            <a:pPr lvl="1">
              <a:spcAft>
                <a:spcPts val="1000"/>
              </a:spcAft>
              <a:defRPr sz="1700"/>
            </a:pPr>
            <a:r>
              <a:t>    • Sıralı</a:t>
            </a:r>
          </a:p>
          <a:p>
            <a:pPr lvl="1">
              <a:spcAft>
                <a:spcPts val="1000"/>
              </a:spcAft>
              <a:defRPr sz="1700"/>
            </a:pPr>
            <a:r>
              <a:t>    • Sonlu (biter)</a:t>
            </a:r>
          </a:p>
          <a:p>
            <a:pPr lvl="1">
              <a:spcAft>
                <a:spcPts val="1000"/>
              </a:spcAft>
              <a:defRPr sz="1700"/>
            </a:pPr>
            <a:r>
              <a:t>    • Her adım net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📌 Günlük Hayattan Örnek: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🍞 Çay Yapma Algoritması:</a:t>
            </a:r>
          </a:p>
          <a:p>
            <a:pPr>
              <a:spcAft>
                <a:spcPts val="1000"/>
              </a:spcAft>
              <a:defRPr sz="1900"/>
            </a:pPr>
            <a:r>
              <a:t>1. Çaydanlığı al</a:t>
            </a:r>
          </a:p>
          <a:p>
            <a:pPr>
              <a:spcAft>
                <a:spcPts val="1000"/>
              </a:spcAft>
              <a:defRPr sz="1900"/>
            </a:pPr>
            <a:r>
              <a:t>2. Su doldur</a:t>
            </a:r>
          </a:p>
          <a:p>
            <a:pPr>
              <a:spcAft>
                <a:spcPts val="1000"/>
              </a:spcAft>
              <a:defRPr sz="1900"/>
            </a:pPr>
            <a:r>
              <a:t>3. Ocağa koy</a:t>
            </a:r>
          </a:p>
          <a:p>
            <a:pPr>
              <a:spcAft>
                <a:spcPts val="1000"/>
              </a:spcAft>
              <a:defRPr sz="1900"/>
            </a:pPr>
            <a:r>
              <a:t>4. Yak</a:t>
            </a:r>
          </a:p>
          <a:p>
            <a:pPr>
              <a:spcAft>
                <a:spcPts val="1000"/>
              </a:spcAft>
              <a:defRPr sz="1900"/>
            </a:pPr>
            <a:r>
              <a:t>5. Kaynayana kadar bekle</a:t>
            </a:r>
          </a:p>
          <a:p>
            <a:pPr>
              <a:spcAft>
                <a:spcPts val="1000"/>
              </a:spcAft>
              <a:defRPr sz="1900"/>
            </a:pPr>
            <a:r>
              <a:t>6. Çayı demlendirme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Her tarifin bir algoritması vardır!</a:t>
            </a:r>
          </a:p>
          <a:p>
            <a:pPr>
              <a:spcAft>
                <a:spcPts val="1000"/>
              </a:spcAft>
              <a:defRPr sz="1900"/>
            </a:pPr>
            <a:r>
              <a:t>Bilgisayar programları da algoritma ile çalışır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📊 Akış Diyagramı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Akış diyagramı = Algoritmanın görsel hali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Temel Semboller: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⭕ Oval: Başla/Bitir</a:t>
            </a:r>
          </a:p>
          <a:p>
            <a:pPr>
              <a:spcAft>
                <a:spcPts val="1000"/>
              </a:spcAft>
              <a:defRPr sz="1900"/>
            </a:pPr>
            <a:r>
              <a:t>▭ Dikdörtgen: İşlem</a:t>
            </a:r>
          </a:p>
          <a:p>
            <a:pPr>
              <a:spcAft>
                <a:spcPts val="1000"/>
              </a:spcAft>
              <a:defRPr sz="1900"/>
            </a:pPr>
            <a:r>
              <a:t>◇ Baklava: Karar (If)</a:t>
            </a:r>
          </a:p>
          <a:p>
            <a:pPr>
              <a:spcAft>
                <a:spcPts val="1000"/>
              </a:spcAft>
              <a:defRPr sz="1900"/>
            </a:pPr>
            <a:r>
              <a:t>⬜ Paralelkenar: Girdi/Çıktı</a:t>
            </a:r>
          </a:p>
          <a:p>
            <a:pPr>
              <a:spcAft>
                <a:spcPts val="1000"/>
              </a:spcAft>
              <a:defRPr sz="1900"/>
            </a:pPr>
            <a:r>
              <a:t>→ Ok: Akış yönü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📌 Örnek: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[Başla]</a:t>
            </a:r>
          </a:p>
          <a:p>
            <a:pPr lvl="1">
              <a:spcAft>
                <a:spcPts val="1000"/>
              </a:spcAft>
              <a:defRPr sz="1700"/>
            </a:pPr>
            <a:r>
              <a:t>    ↓</a:t>
            </a:r>
          </a:p>
          <a:p>
            <a:pPr>
              <a:spcAft>
                <a:spcPts val="1000"/>
              </a:spcAft>
              <a:defRPr sz="1900"/>
            </a:pPr>
            <a:r>
              <a:t>[Sayı Gir]</a:t>
            </a:r>
          </a:p>
          <a:p>
            <a:pPr lvl="1">
              <a:spcAft>
                <a:spcPts val="1000"/>
              </a:spcAft>
              <a:defRPr sz="1700"/>
            </a:pPr>
            <a:r>
              <a:t>    ↓</a:t>
            </a:r>
          </a:p>
          <a:p>
            <a:pPr>
              <a:spcAft>
                <a:spcPts val="1000"/>
              </a:spcAft>
              <a:defRPr sz="1900"/>
            </a:pPr>
            <a:r>
              <a:t>[Sayı&gt;0?]</a:t>
            </a:r>
          </a:p>
          <a:p>
            <a:pPr>
              <a:spcAft>
                <a:spcPts val="1000"/>
              </a:spcAft>
              <a:defRPr sz="1900"/>
            </a:pPr>
            <a:r>
              <a:t>  ↙    ↘</a:t>
            </a:r>
          </a:p>
          <a:p>
            <a:pPr>
              <a:spcAft>
                <a:spcPts val="1000"/>
              </a:spcAft>
              <a:defRPr sz="1900"/>
            </a:pPr>
            <a:r>
              <a:t>[Pozitif][Negatif]</a:t>
            </a:r>
          </a:p>
          <a:p>
            <a:pPr lvl="1">
              <a:spcAft>
                <a:spcPts val="1000"/>
              </a:spcAft>
              <a:defRPr sz="1700"/>
            </a:pPr>
            <a:r>
              <a:t>    ↓</a:t>
            </a:r>
          </a:p>
          <a:p>
            <a:pPr>
              <a:spcAft>
                <a:spcPts val="1000"/>
              </a:spcAft>
              <a:defRPr sz="1900"/>
            </a:pPr>
            <a:r>
              <a:t>[Bitir]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Akış diyagramı kod yazmadan önce kullanılır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🔀 Seçimli Yapılar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Karar verme yapıları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If (Eğer):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Koşul doğruysa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If-Else (Değilse):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Doğruysa A yap</a:t>
            </a:r>
          </a:p>
          <a:p>
            <a:pPr lvl="1">
              <a:spcAft>
                <a:spcPts val="1000"/>
              </a:spcAft>
              <a:defRPr sz="1700"/>
            </a:pPr>
            <a:r>
              <a:t>    • Yanlışsa B yap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📌 Örnek: Sınav Geçme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Eğer not &gt;= 50 ise:</a:t>
            </a:r>
          </a:p>
          <a:p>
            <a:pPr lvl="1">
              <a:spcAft>
                <a:spcPts val="1000"/>
              </a:spcAft>
              <a:defRPr sz="1700"/>
            </a:pPr>
            <a:r>
              <a:t>    Geçti yaz</a:t>
            </a:r>
          </a:p>
          <a:p>
            <a:pPr>
              <a:spcAft>
                <a:spcPts val="1000"/>
              </a:spcAft>
              <a:defRPr sz="1900"/>
            </a:pPr>
            <a:r>
              <a:t>Değilse:</a:t>
            </a:r>
          </a:p>
          <a:p>
            <a:pPr lvl="1">
              <a:spcAft>
                <a:spcPts val="1000"/>
              </a:spcAft>
              <a:defRPr sz="1700"/>
            </a:pPr>
            <a:r>
              <a:t>    Kaldı yaz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Günlük Hayat:</a:t>
            </a:r>
          </a:p>
          <a:p>
            <a:pPr>
              <a:spcAft>
                <a:spcPts val="1000"/>
              </a:spcAft>
              <a:defRPr sz="1900"/>
            </a:pPr>
            <a:r>
              <a:t>Eğer yağmur yağıyorsa:</a:t>
            </a:r>
          </a:p>
          <a:p>
            <a:pPr lvl="1">
              <a:spcAft>
                <a:spcPts val="1000"/>
              </a:spcAft>
              <a:defRPr sz="1700"/>
            </a:pPr>
            <a:r>
              <a:t>    Şemsiye al</a:t>
            </a:r>
          </a:p>
          <a:p>
            <a:pPr>
              <a:spcAft>
                <a:spcPts val="1000"/>
              </a:spcAft>
              <a:defRPr sz="1900"/>
            </a:pPr>
            <a:r>
              <a:t>Değilse:</a:t>
            </a:r>
          </a:p>
          <a:p>
            <a:pPr lvl="1">
              <a:spcAft>
                <a:spcPts val="1000"/>
              </a:spcAft>
              <a:defRPr sz="1700"/>
            </a:pPr>
            <a:r>
              <a:t>    Şemsiye alma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🎯 Her karar bir seçimli yapıdır!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🔁 Döngüler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Tekrar yapıları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Döngü Türleri: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🔢 For Döngüsü: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Belirli sayıda tekrar</a:t>
            </a:r>
          </a:p>
          <a:p>
            <a:pPr lvl="1">
              <a:spcAft>
                <a:spcPts val="1000"/>
              </a:spcAft>
              <a:defRPr sz="1700"/>
            </a:pPr>
            <a:r>
              <a:t>    • Örnek: 10 kez yaz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❓ While Döngüsü:</a:t>
            </a:r>
          </a:p>
          <a:p>
            <a:pPr lvl="1">
              <a:spcAft>
                <a:spcPts val="1000"/>
              </a:spcAft>
              <a:defRPr sz="1700"/>
            </a:pPr>
            <a:r>
              <a:t>    • Koşul sağlanana kadar</a:t>
            </a:r>
          </a:p>
          <a:p>
            <a:pPr lvl="1">
              <a:spcAft>
                <a:spcPts val="1000"/>
              </a:spcAft>
              <a:defRPr sz="1700"/>
            </a:pPr>
            <a:r>
              <a:t>    • Örnek: Not 50'den büyük olana kadar sor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📌 Örnek: 1'den 10'a Kadar Say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Sayaç = 1</a:t>
            </a:r>
          </a:p>
          <a:p>
            <a:pPr>
              <a:spcAft>
                <a:spcPts val="1000"/>
              </a:spcAft>
              <a:defRPr sz="1900"/>
            </a:pPr>
            <a:r>
              <a:t>1'den 10'a kadar tekrarla:</a:t>
            </a:r>
          </a:p>
          <a:p>
            <a:pPr lvl="1">
              <a:spcAft>
                <a:spcPts val="1000"/>
              </a:spcAft>
              <a:defRPr sz="1700"/>
            </a:pPr>
            <a:r>
              <a:t>    Sayacı yaz</a:t>
            </a:r>
          </a:p>
          <a:p>
            <a:pPr lvl="1">
              <a:spcAft>
                <a:spcPts val="1000"/>
              </a:spcAft>
              <a:defRPr sz="1700"/>
            </a:pPr>
            <a:r>
              <a:t>    Sayacı 1 arttır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Döngüler tekrarlı işler için kullanılır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⚠️ Sonsuz döngü = Hiç bitmeyen döngü (hata!)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🎯 Problem Çözme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rPr sz="1600"/>
              <a:t>Problemi nasıl çözeriz?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✅ Problem Çözme Adımları: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1️⃣ Problemi Anla: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Ne isteniyor?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Girdi nedir?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Çıktı nedir?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2️⃣ Plan Yap: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Algoritma tasarla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Akış diyagramı çiz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3️⃣ Uygula: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Kodu yaz / adımları takip et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4️⃣ Test Et: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Doğru çalışıyor mu?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Farklı değerler dene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5️⃣ İyileştir: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Daha hızlı yapılabilir mi?</a:t>
            </a:r>
          </a:p>
          <a:p>
            <a:pPr lvl="1">
              <a:spcAft>
                <a:spcPts val="1000"/>
              </a:spcAft>
              <a:defRPr sz="1700"/>
            </a:pPr>
            <a:r>
              <a:rPr sz="1600"/>
              <a:t>    • Daha basit olabilir mi?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rPr sz="1600"/>
              <a:t>💡 Bu adımlar her problem için geçerli!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764BA2"/>
                </a:solidFill>
              </a:defRPr>
            </a:pPr>
            <a:r>
              <a:t>📝 Ünite Özeti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900"/>
            </a:pPr>
            <a:r>
              <a:t>Bu ünitede neler öğrendik?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✅ Algoritma kavramı ve önemi</a:t>
            </a:r>
          </a:p>
          <a:p>
            <a:pPr>
              <a:spcAft>
                <a:spcPts val="1000"/>
              </a:spcAft>
              <a:defRPr sz="1900"/>
            </a:pPr>
            <a:r>
              <a:t>✅ Günlük hayattan algoritma örnekleri</a:t>
            </a:r>
          </a:p>
          <a:p>
            <a:pPr>
              <a:spcAft>
                <a:spcPts val="1000"/>
              </a:spcAft>
              <a:defRPr sz="1900"/>
            </a:pPr>
            <a:r>
              <a:t>✅ Akış diyagramları ve sembolleri</a:t>
            </a:r>
          </a:p>
          <a:p>
            <a:pPr>
              <a:spcAft>
                <a:spcPts val="1000"/>
              </a:spcAft>
              <a:defRPr sz="1900"/>
            </a:pPr>
            <a:r>
              <a:t>✅ Sıralı, seçimli, döngülü yapılar</a:t>
            </a:r>
          </a:p>
          <a:p>
            <a:pPr>
              <a:spcAft>
                <a:spcPts val="1000"/>
              </a:spcAft>
              <a:defRPr sz="1900"/>
            </a:pPr>
            <a:r>
              <a:t>✅ Problem çözme basamakları</a:t>
            </a:r>
          </a:p>
          <a:p>
            <a:pPr>
              <a:spcAft>
                <a:spcPts val="1000"/>
              </a:spcAft>
              <a:defRPr sz="1900"/>
            </a:pPr>
            <a:r>
              <a:t>✅ Algoritma tasarımı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💡 Anahtar Mesaj:</a:t>
            </a:r>
          </a:p>
          <a:p>
            <a:pPr>
              <a:spcAft>
                <a:spcPts val="1000"/>
              </a:spcAft>
              <a:defRPr sz="1900"/>
            </a:pPr>
            <a:r>
              <a:t>Her problem adım adım çözülebilir!</a:t>
            </a:r>
          </a:p>
          <a:p>
            <a:pPr>
              <a:spcAft>
                <a:spcPts val="1000"/>
              </a:spcAft>
              <a:defRPr sz="1900"/>
            </a:pPr>
            <a:r>
              <a:t>Algoritma düşüncesi hayatın her alanında işe yarar.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🎯 Artık algoritmik düşünebilirsin!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