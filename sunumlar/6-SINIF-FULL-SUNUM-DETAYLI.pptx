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Video: 'Veri ve Bilgi Arasındaki Fark' ile başlayın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Tartışma: Günlük hayattan veri örnekleri verin (fiyatlar, notlar, hava durumu)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Etkinlik: Sınıfta mini anket yapın (favori ders, hobi, vs.)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Etkinlik: Öğrencilere veri örnekleri verin, hangi türe ait olduklarını bulsunlar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Örnek: Ham veri verin, öğrenciler tablo haline getirsin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Görsel: Her grafik türünden örnek gösterin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Etkinlik: İyi ve kötü grafik örnekleri gösterin, farkları tartışın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Gösterim: Excel/Sheets açın, basit tablo oluşturun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Etkinlik: Öğrencilere Excel'de formül yazdırın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Gösterim: Canlı olarak Excel'de grafik oluşturun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Etkinlik: Veri seti verin, ortalama, medyan, mod hesaplasınlar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Tartışma: Okulda veri ile alınabilecek başka kararlar neler?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Tartışma: Sosyal medyada paylaştığınız veriler ne kadar güvenli?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 yapın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Tüm kaynakları önceden inceleyin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4FACFE"/>
                </a:solidFill>
              </a:defRPr>
            </a:pPr>
            <a:r>
              <a:t>6. SINIF</a:t>
            </a:r>
          </a:p>
          <a:p>
            <a:pPr algn="ctr">
              <a:defRPr sz="3600">
                <a:solidFill>
                  <a:srgbClr val="4FACFE"/>
                </a:solidFill>
              </a:defRPr>
            </a:pPr>
            <a:r>
              <a:t>Bilişim Teknolojileri ve Yazılım</a:t>
            </a:r>
          </a:p>
          <a:p>
            <a:pPr algn="ctr">
              <a:defRPr sz="2800">
                <a:solidFill>
                  <a:srgbClr val="00F2FE"/>
                </a:solidFill>
              </a:defRPr>
            </a:pPr>
            <a:r>
              <a:t>FULL SUNUM - TÜM ÜNİTELER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CT_Shape>
        <p:sp>
          <p:nvSpPr>
            <p:cNvPr id="2" name="TextBox 1"/>
            <p:cNvSpPr txBox="1"/>
            <p:nvPr/>
          </p:nvSpPr>
          <p:spPr>
            <a:xfrm>
              <a:off x="914400" y="2286000"/>
              <a:ext cx="7315200" cy="91440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>
                <a:defRPr sz="5400" b="1">
                  <a:solidFill>
                    <a:srgbClr val="FFFFFF"/>
                  </a:solidFill>
                </a:defRPr>
              </a:pPr>
              <a:r>
                <a:t>6. SINIF - ÜNİTE 1</a:t>
              </a:r>
            </a:p>
          </p:txBody>
        </p:sp>
      </CT_Shape>
      <CT_Shape>
        <p:sp>
          <p:nvSpPr>
            <p:cNvPr id="3" name="TextBox 2"/>
            <p:cNvSpPr txBox="1"/>
            <p:nvPr/>
          </p:nvSpPr>
          <p:spPr>
            <a:xfrm>
              <a:off x="914400" y="3474720"/>
              <a:ext cx="7315200" cy="7315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>
                <a:defRPr sz="2800">
                  <a:solidFill>
                    <a:srgbClr val="FFFFFF"/>
                  </a:solidFill>
                </a:defRPr>
              </a:pPr>
              <a:r>
                <a:t>Veri ve Analiz</a:t>
              </a:r>
            </a:p>
          </p:txBody>
        </p:sp>
      </CT_Shap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CT_Shape>
        <p:sp>
          <p:nvSpPr>
            <p:cNvPr id="2" name="Title 1"/>
            <p:cNvSpPr>
              <a:spLocks noGrp="1"/>
            </p:cNvSpPr>
            <p:nvPr>
              <p:ph type="title"/>
            </p:nvPr>
          </p:nvSpPr>
          <p:spPr/>
          <p:txBody>
            <a:bodyPr/>
            <a:lstStyle/>
            <a:p>
              <a:pPr>
                <a:defRPr sz="4000" b="1">
                  <a:solidFill>
                    <a:srgbClr val="764BA2"/>
                  </a:solidFill>
                </a:defRPr>
              </a:pPr>
              <a:r>
                <a:t>📚 Ünitenin Konuları</a:t>
              </a:r>
            </a:p>
          </p:txBody>
        </p:sp>
      </CT_Shape>
      <CT_Shape>
        <p:sp>
          <p:nvSpPr>
            <p:cNvPr id="3" name="Content Placeholder 2"/>
            <p:cNvSpPr>
              <a:spLocks noGrp="1"/>
            </p:cNvSpPr>
            <p:nvPr>
              <p:ph idx="1"/>
            </p:nvPr>
          </p:nvSpPr>
          <p:spPr/>
          <p:txBody>
            <a:bodyPr/>
            <a:lstStyle/>
            <a:p/>
          </p:txBody>
        </p:sp>
      </CT_Shape>
      <CT_Shape>
        <p:sp>
          <p:nvSpPr>
            <p:cNvPr id="4" name="TextBox 3"/>
            <p:cNvSpPr txBox="1"/>
            <p:nvPr/>
          </p:nvSpPr>
          <p:spPr>
            <a:xfrm>
              <a:off x="914400" y="1828800"/>
              <a:ext cx="7315200" cy="4572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/>
            <a:p>
              <a:pPr>
                <a:spcAft>
                  <a:spcPts val="1200"/>
                </a:spcAft>
                <a:defRPr sz="2000"/>
              </a:pPr>
              <a:r>
                <a:t>Bu ünitede neler öğreneceğiz?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 b="1"/>
              </a:pPr>
              <a:r>
                <a:t>✅ 1. Veri Nedir?</a:t>
              </a:r>
            </a:p>
            <a:p>
              <a:pPr>
                <a:spcAft>
                  <a:spcPts val="1200"/>
                </a:spcAft>
                <a:defRPr sz="2000" b="1"/>
              </a:pPr>
              <a:r>
                <a:t>✅ 2. Bilgi vs Veri</a:t>
              </a:r>
            </a:p>
            <a:p>
              <a:pPr>
                <a:spcAft>
                  <a:spcPts val="1200"/>
                </a:spcAft>
                <a:defRPr sz="2000" b="1"/>
              </a:pPr>
              <a:r>
                <a:t>✅ 3. Veri Toplama Yöntemleri</a:t>
              </a:r>
            </a:p>
            <a:p>
              <a:pPr>
                <a:spcAft>
                  <a:spcPts val="1200"/>
                </a:spcAft>
                <a:defRPr sz="2000" b="1"/>
              </a:pPr>
              <a:r>
                <a:t>✅ 4. Veri Türleri (Sayısal, Kategorik)</a:t>
              </a:r>
            </a:p>
            <a:p>
              <a:pPr>
                <a:spcAft>
                  <a:spcPts val="1200"/>
                </a:spcAft>
                <a:defRPr sz="2000" b="1"/>
              </a:pPr>
              <a:r>
                <a:t>✅ 5. Veri Düzenleme ve Sıralama</a:t>
              </a:r>
            </a:p>
            <a:p>
              <a:pPr>
                <a:spcAft>
                  <a:spcPts val="1200"/>
                </a:spcAft>
                <a:defRPr sz="2000" b="1"/>
              </a:pPr>
              <a:r>
                <a:t>✅ 6. Grafik Türleri</a:t>
              </a:r>
            </a:p>
            <a:p>
              <a:pPr>
                <a:spcAft>
                  <a:spcPts val="1200"/>
                </a:spcAft>
                <a:defRPr sz="2000" b="1"/>
              </a:pPr>
              <a:r>
                <a:t>✅ 7. Veri Görselleştirme</a:t>
              </a:r>
            </a:p>
            <a:p>
              <a:pPr>
                <a:spcAft>
                  <a:spcPts val="1200"/>
                </a:spcAft>
                <a:defRPr sz="2000" b="1"/>
              </a:pPr>
              <a:r>
                <a:t>✅ 8. Tablo ve Grafik Oluşturma</a:t>
              </a:r>
            </a:p>
            <a:p>
              <a:pPr>
                <a:spcAft>
                  <a:spcPts val="1200"/>
                </a:spcAft>
                <a:defRPr sz="2000" b="1"/>
              </a:pPr>
              <a:r>
                <a:t>✅ 9. Veri Analizi</a:t>
              </a:r>
            </a:p>
            <a:p>
              <a:pPr>
                <a:spcAft>
                  <a:spcPts val="1200"/>
                </a:spcAft>
                <a:defRPr sz="2000" b="1"/>
              </a:pPr>
              <a:r>
                <a:t>✅ 10. Ortalama, Medyan, Mod</a:t>
              </a:r>
            </a:p>
            <a:p>
              <a:pPr>
                <a:spcAft>
                  <a:spcPts val="1200"/>
                </a:spcAft>
                <a:defRPr sz="2000" b="1"/>
              </a:pPr>
              <a:r>
                <a:t>✅ 11. Tablolama Programları (Excel, Sheets)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/>
              </a:pPr>
              <a:r>
                <a:t>⏰ Süre: 4 Hafta</a:t>
              </a:r>
            </a:p>
            <a:p>
              <a:pPr>
                <a:spcAft>
                  <a:spcPts val="1200"/>
                </a:spcAft>
                <a:defRPr sz="2000" b="1"/>
              </a:pPr>
              <a:r>
                <a:t>🎯 Amaç: Veriyi analiz edip anlamlı sonuçlar çıkarmak!</a:t>
              </a:r>
            </a:p>
          </p:txBody>
        </p:sp>
      </CT_Shap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CT_Shape>
        <p:sp>
          <p:nvSpPr>
            <p:cNvPr id="2" name="Title 1"/>
            <p:cNvSpPr>
              <a:spLocks noGrp="1"/>
            </p:cNvSpPr>
            <p:nvPr>
              <p:ph type="title"/>
            </p:nvPr>
          </p:nvSpPr>
          <p:spPr/>
          <p:txBody>
            <a:bodyPr/>
            <a:lstStyle/>
            <a:p>
              <a:pPr>
                <a:defRPr sz="4000" b="1">
                  <a:solidFill>
                    <a:srgbClr val="764BA2"/>
                  </a:solidFill>
                </a:defRPr>
              </a:pPr>
              <a:r>
                <a:t>📊 Veri Nedir?</a:t>
              </a:r>
            </a:p>
          </p:txBody>
        </p:sp>
      </CT_Shape>
      <CT_Shape>
        <p:sp>
          <p:nvSpPr>
            <p:cNvPr id="3" name="Content Placeholder 2"/>
            <p:cNvSpPr>
              <a:spLocks noGrp="1"/>
            </p:cNvSpPr>
            <p:nvPr>
              <p:ph idx="1"/>
            </p:nvPr>
          </p:nvSpPr>
          <p:spPr/>
          <p:txBody>
            <a:bodyPr/>
            <a:lstStyle/>
            <a:p/>
          </p:txBody>
        </p:sp>
      </CT_Shape>
      <CT_Shape>
        <p:sp>
          <p:nvSpPr>
            <p:cNvPr id="4" name="TextBox 3"/>
            <p:cNvSpPr txBox="1"/>
            <p:nvPr/>
          </p:nvSpPr>
          <p:spPr>
            <a:xfrm>
              <a:off x="914400" y="1828800"/>
              <a:ext cx="7315200" cy="4572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/>
            <a:p>
              <a:pPr>
                <a:spcAft>
                  <a:spcPts val="1200"/>
                </a:spcAft>
                <a:defRPr sz="2000"/>
              </a:pPr>
              <a:r>
                <a:t>Veri = Ham bilgi, işlenmemiş gerçekler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 b="1"/>
              </a:pPr>
              <a:r>
                <a:t>✅ Veri Örnekleri: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Sayılar: 15, 23, 42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Metinler: 'Ahmet', 'Ankara'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Tarihler: 15 Mayıs 2024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Ölçümler: 25°C, 1.65m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 b="1"/>
              </a:pPr>
              <a:r>
                <a:t>📌 Veri vs Bilgi: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/>
              </a:pPr>
              <a:r>
                <a:t>📄 Veri (Ham):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15, 18, 12, 20, 16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Tek başına anlamsız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 b="1"/>
              </a:pPr>
              <a:r>
                <a:t>💡 Bilgi (İşlenmiş):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'Sınıf ortalaması: 16.2'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Analiz edilmiş, anlamlı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 b="1"/>
              </a:pPr>
              <a:r>
                <a:t>🎯 Veri → İşleme → Bilgi → Bilgelik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 b="1"/>
              </a:pPr>
              <a:r>
                <a:t>💡 Gerçek Hayat Örneği: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Veri: Günlük sıcaklık kayıtları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Bilgi: 'Temmuz en sıcak ay'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Bilgelik: 'Klimayı Temmuz'da kullan'</a:t>
              </a:r>
            </a:p>
          </p:txBody>
        </p:sp>
      </CT_Shap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CT_Shape>
        <p:sp>
          <p:nvSpPr>
            <p:cNvPr id="2" name="Title 1"/>
            <p:cNvSpPr>
              <a:spLocks noGrp="1"/>
            </p:cNvSpPr>
            <p:nvPr>
              <p:ph type="title"/>
            </p:nvPr>
          </p:nvSpPr>
          <p:spPr/>
          <p:txBody>
            <a:bodyPr/>
            <a:lstStyle/>
            <a:p>
              <a:pPr>
                <a:defRPr sz="4000" b="1">
                  <a:solidFill>
                    <a:srgbClr val="764BA2"/>
                  </a:solidFill>
                </a:defRPr>
              </a:pPr>
              <a:r>
                <a:t>🔍 Veri Toplama Yöntemleri</a:t>
              </a:r>
            </a:p>
          </p:txBody>
        </p:sp>
      </CT_Shape>
      <CT_Shape>
        <p:sp>
          <p:nvSpPr>
            <p:cNvPr id="3" name="Content Placeholder 2"/>
            <p:cNvSpPr>
              <a:spLocks noGrp="1"/>
            </p:cNvSpPr>
            <p:nvPr>
              <p:ph idx="1"/>
            </p:nvPr>
          </p:nvSpPr>
          <p:spPr/>
          <p:txBody>
            <a:bodyPr/>
            <a:lstStyle/>
            <a:p/>
          </p:txBody>
        </p:sp>
      </CT_Shape>
      <CT_Shape>
        <p:sp>
          <p:nvSpPr>
            <p:cNvPr id="4" name="TextBox 3"/>
            <p:cNvSpPr txBox="1"/>
            <p:nvPr/>
          </p:nvSpPr>
          <p:spPr>
            <a:xfrm>
              <a:off x="914400" y="1828800"/>
              <a:ext cx="7315200" cy="4572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/>
            <a:p>
              <a:pPr>
                <a:spcAft>
                  <a:spcPts val="1200"/>
                </a:spcAft>
                <a:defRPr sz="2000"/>
              </a:pPr>
              <a:r>
                <a:t>Veriyi nereden ve nasıl toplarız?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 b="1"/>
              </a:pPr>
              <a:r>
                <a:t>✅ Veri Toplama Yöntemleri: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/>
              </a:pPr>
              <a:r>
                <a:t>📋 Anket: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Sorular sor, cevapları topla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Örnek: 'Favori renginiz nedir?'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/>
              </a:pPr>
              <a:r>
                <a:t>👀 Gözlem: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İzle ve kaydet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Örnek: Trafikteki araç sayısı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/>
              </a:pPr>
              <a:r>
                <a:t>🧪 Deney: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Test yap, sonuçları kaydet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Örnek: Bitki büyümesi ölçümü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/>
              </a:pPr>
              <a:r>
                <a:t>📱 Sensörler: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Otomatik veri toplama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Örnek: Sıcaklık sensörü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/>
              </a:pPr>
              <a:r>
                <a:t>🌐 İnternet: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Hazır veri setleri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Örnek: Hava durumu verileri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 b="1"/>
              </a:pPr>
              <a:r>
                <a:t>💡 Veri toplama planlı olmalı: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Ne öğrenmek istiyorsun?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Hangi veriyi toplayacaksın?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Nasıl toplayacaksın?</a:t>
              </a:r>
            </a:p>
          </p:txBody>
        </p:sp>
      </CT_Shap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CT_Shape>
        <p:sp>
          <p:nvSpPr>
            <p:cNvPr id="2" name="Title 1"/>
            <p:cNvSpPr>
              <a:spLocks noGrp="1"/>
            </p:cNvSpPr>
            <p:nvPr>
              <p:ph type="title"/>
            </p:nvPr>
          </p:nvSpPr>
          <p:spPr/>
          <p:txBody>
            <a:bodyPr/>
            <a:lstStyle/>
            <a:p>
              <a:pPr>
                <a:defRPr sz="4000" b="1">
                  <a:solidFill>
                    <a:srgbClr val="764BA2"/>
                  </a:solidFill>
                </a:defRPr>
              </a:pPr>
              <a:r>
                <a:t>📊 Veri Türleri</a:t>
              </a:r>
            </a:p>
          </p:txBody>
        </p:sp>
      </CT_Shape>
      <CT_Shape>
        <p:sp>
          <p:nvSpPr>
            <p:cNvPr id="3" name="Content Placeholder 2"/>
            <p:cNvSpPr>
              <a:spLocks noGrp="1"/>
            </p:cNvSpPr>
            <p:nvPr>
              <p:ph idx="1"/>
            </p:nvPr>
          </p:nvSpPr>
          <p:spPr/>
          <p:txBody>
            <a:bodyPr/>
            <a:lstStyle/>
            <a:p/>
          </p:txBody>
        </p:sp>
      </CT_Shape>
      <CT_Shape>
        <p:sp>
          <p:nvSpPr>
            <p:cNvPr id="4" name="TextBox 3"/>
            <p:cNvSpPr txBox="1"/>
            <p:nvPr/>
          </p:nvSpPr>
          <p:spPr>
            <a:xfrm>
              <a:off x="914400" y="1828800"/>
              <a:ext cx="7315200" cy="4572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/>
            <a:p>
              <a:pPr>
                <a:spcAft>
                  <a:spcPts val="1200"/>
                </a:spcAft>
                <a:defRPr sz="2000"/>
              </a:pPr>
              <a:r>
                <a:t>Veriler farklı türlerde olabilir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 b="1"/>
              </a:pPr>
              <a:r>
                <a:t>✅ 1. Sayısal Veri (Nicel):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/>
              </a:pPr>
              <a:r>
                <a:t>🔢 Kesikli Veri: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Tamsayılar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Örnek: Öğrenci sayısı (25, 30, 28)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/>
              </a:pPr>
              <a:r>
                <a:t>📏 Sürekli Veri: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Ondalıklı sayılar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Örnek: Boy (1.65m), Ağırlık (52.5kg)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 b="1"/>
              </a:pPr>
              <a:r>
                <a:t>✅ 2. Kategorik Veri (Nitel):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/>
              </a:pPr>
              <a:r>
                <a:t>🏷️ İsimsel: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Sıralama yok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Örnek: Renk (kırmızı, mavi), Cinsiyet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/>
              </a:pPr>
              <a:r>
                <a:t>📊 Sıralı: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Sıralama var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Örnek: Not (Pekiyi, İyi, Orta)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 b="1"/>
              </a:pPr>
              <a:r>
                <a:t>💡 Neden Önemli?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Farklı veri türleri → Farklı analizler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Sayısal: Ortalama alınabilir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Kategorik: Frekans sayılır</a:t>
              </a:r>
            </a:p>
          </p:txBody>
        </p:sp>
      </CT_Shap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CT_Shape>
        <p:sp>
          <p:nvSpPr>
            <p:cNvPr id="2" name="Title 1"/>
            <p:cNvSpPr>
              <a:spLocks noGrp="1"/>
            </p:cNvSpPr>
            <p:nvPr>
              <p:ph type="title"/>
            </p:nvPr>
          </p:nvSpPr>
          <p:spPr/>
          <p:txBody>
            <a:bodyPr/>
            <a:lstStyle/>
            <a:p>
              <a:pPr>
                <a:defRPr sz="4000" b="1">
                  <a:solidFill>
                    <a:srgbClr val="764BA2"/>
                  </a:solidFill>
                </a:defRPr>
              </a:pPr>
              <a:r>
                <a:t>📋 Veri Düzenleme</a:t>
              </a:r>
            </a:p>
          </p:txBody>
        </p:sp>
      </CT_Shape>
      <CT_Shape>
        <p:sp>
          <p:nvSpPr>
            <p:cNvPr id="3" name="Content Placeholder 2"/>
            <p:cNvSpPr>
              <a:spLocks noGrp="1"/>
            </p:cNvSpPr>
            <p:nvPr>
              <p:ph idx="1"/>
            </p:nvPr>
          </p:nvSpPr>
          <p:spPr/>
          <p:txBody>
            <a:bodyPr/>
            <a:lstStyle/>
            <a:p/>
          </p:txBody>
        </p:sp>
      </CT_Shape>
      <CT_Shape>
        <p:sp>
          <p:nvSpPr>
            <p:cNvPr id="4" name="TextBox 3"/>
            <p:cNvSpPr txBox="1"/>
            <p:nvPr/>
          </p:nvSpPr>
          <p:spPr>
            <a:xfrm>
              <a:off x="914400" y="1828800"/>
              <a:ext cx="7315200" cy="4572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/>
            <a:p>
              <a:pPr>
                <a:spcAft>
                  <a:spcPts val="1200"/>
                </a:spcAft>
                <a:defRPr sz="2000"/>
              </a:pPr>
              <a:r>
                <a:t>Toplanan veriyi düzenli hale getirmek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 b="1"/>
              </a:pPr>
              <a:r>
                <a:t>✅ Veri Düzenleme Adımları: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/>
              </a:pPr>
              <a:r>
                <a:t>1️⃣ Temizleme: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Hatalı verileri bul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Eksik verileri tamamla veya çıkar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Tekrar edenleri sil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/>
              </a:pPr>
              <a:r>
                <a:t>2️⃣ Sıralama: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Küçükten büyüğe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A'dan Z'ye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/>
              </a:pPr>
              <a:r>
                <a:t>3️⃣ Gruplama: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Benzer verileri bir araya getir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Örnek: Yaş grupları (0-10, 11-20, 21-30)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/>
              </a:pPr>
              <a:r>
                <a:t>4️⃣ Tabloya Dönüştürme: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Satır ve sütunlar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Başlıklar ekle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 b="1"/>
              </a:pPr>
              <a:r>
                <a:t>📌 Örnek Ham Veri:</a:t>
              </a:r>
            </a:p>
            <a:p>
              <a:pPr>
                <a:spcAft>
                  <a:spcPts val="1200"/>
                </a:spcAft>
                <a:defRPr sz="2000"/>
              </a:pPr>
              <a:r>
                <a:t>Ahmet:15, Ayşe:18, 12, Mehmet:20, ??:16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 b="1"/>
              </a:pPr>
              <a:r>
                <a:t>📌 Düzenlenmiş:</a:t>
              </a:r>
            </a:p>
            <a:p>
              <a:pPr>
                <a:spcAft>
                  <a:spcPts val="1200"/>
                </a:spcAft>
                <a:defRPr sz="2000"/>
              </a:pPr>
              <a:r>
                <a:t>| İsim   | Yaş |</a:t>
              </a:r>
            </a:p>
            <a:p>
              <a:pPr>
                <a:spcAft>
                  <a:spcPts val="1200"/>
                </a:spcAft>
                <a:defRPr sz="2000"/>
              </a:pPr>
              <a:r>
                <a:t>| Ahmet  | 15  |</a:t>
              </a:r>
            </a:p>
            <a:p>
              <a:pPr>
                <a:spcAft>
                  <a:spcPts val="1200"/>
                </a:spcAft>
                <a:defRPr sz="2000"/>
              </a:pPr>
              <a:r>
                <a:t>| Ayşe   | 18  |</a:t>
              </a:r>
            </a:p>
            <a:p>
              <a:pPr>
                <a:spcAft>
                  <a:spcPts val="1200"/>
                </a:spcAft>
                <a:defRPr sz="2000"/>
              </a:pPr>
              <a:r>
                <a:t>| Mehmet | 20  |</a:t>
              </a:r>
            </a:p>
          </p:txBody>
        </p:sp>
      </CT_Shap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CT_Shape>
        <p:sp>
          <p:nvSpPr>
            <p:cNvPr id="2" name="Title 1"/>
            <p:cNvSpPr>
              <a:spLocks noGrp="1"/>
            </p:cNvSpPr>
            <p:nvPr>
              <p:ph type="title"/>
            </p:nvPr>
          </p:nvSpPr>
          <p:spPr/>
          <p:txBody>
            <a:bodyPr/>
            <a:lstStyle/>
            <a:p>
              <a:pPr>
                <a:defRPr sz="4000" b="1">
                  <a:solidFill>
                    <a:srgbClr val="764BA2"/>
                  </a:solidFill>
                </a:defRPr>
              </a:pPr>
              <a:r>
                <a:t>📊 Grafik Türleri</a:t>
              </a:r>
            </a:p>
          </p:txBody>
        </p:sp>
      </CT_Shape>
      <CT_Shape>
        <p:sp>
          <p:nvSpPr>
            <p:cNvPr id="3" name="Content Placeholder 2"/>
            <p:cNvSpPr>
              <a:spLocks noGrp="1"/>
            </p:cNvSpPr>
            <p:nvPr>
              <p:ph idx="1"/>
            </p:nvPr>
          </p:nvSpPr>
          <p:spPr/>
          <p:txBody>
            <a:bodyPr/>
            <a:lstStyle/>
            <a:p/>
          </p:txBody>
        </p:sp>
      </CT_Shape>
      <CT_Shape>
        <p:sp>
          <p:nvSpPr>
            <p:cNvPr id="4" name="TextBox 3"/>
            <p:cNvSpPr txBox="1"/>
            <p:nvPr/>
          </p:nvSpPr>
          <p:spPr>
            <a:xfrm>
              <a:off x="914400" y="1828800"/>
              <a:ext cx="7315200" cy="4572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/>
            <a:p>
              <a:pPr>
                <a:spcAft>
                  <a:spcPts val="1200"/>
                </a:spcAft>
                <a:defRPr sz="2000"/>
              </a:pPr>
              <a:r>
                <a:t>Veriyi görsel olarak göstermek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 b="1"/>
              </a:pPr>
              <a:r>
                <a:t>✅ Temel Grafik Türleri: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/>
              </a:pPr>
              <a:r>
                <a:t>📊 Sütun Grafiği (Bar Chart):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Kategorileri karşılaştırma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Örnek: Şehirlere göre nüfus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/>
              </a:pPr>
              <a:r>
                <a:t>📈 Çizgi Grafiği (Line Chart):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Zamana göre değişim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Örnek: Aylara göre sıcaklık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/>
              </a:pPr>
              <a:r>
                <a:t>🥧 Pasta Grafiği (Pie Chart):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Yüzdeler, oranlar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Örnek: Bütçe dağılımı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/>
              </a:pPr>
              <a:r>
                <a:t>📊 Dağılım Grafiği (Scatter Plot):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İki değişken arasındaki ilişki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Örnek: Boy-Kilo ilişkisi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/>
              </a:pPr>
              <a:r>
                <a:t>📊 Histogram: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Veri dağılımı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Örnek: Sınav not dağılımı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 b="1"/>
              </a:pPr>
              <a:r>
                <a:t>💡 Doğru grafik seçimi önemli!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Zaman göster → Çizgi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Karşılaştır → Sütun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Oran göster → Pasta</a:t>
              </a:r>
            </a:p>
          </p:txBody>
        </p:sp>
      </CT_Shap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CT_Shape>
        <p:sp>
          <p:nvSpPr>
            <p:cNvPr id="2" name="Title 1"/>
            <p:cNvSpPr>
              <a:spLocks noGrp="1"/>
            </p:cNvSpPr>
            <p:nvPr>
              <p:ph type="title"/>
            </p:nvPr>
          </p:nvSpPr>
          <p:spPr/>
          <p:txBody>
            <a:bodyPr/>
            <a:lstStyle/>
            <a:p>
              <a:pPr>
                <a:defRPr sz="4000" b="1">
                  <a:solidFill>
                    <a:srgbClr val="764BA2"/>
                  </a:solidFill>
                </a:defRPr>
              </a:pPr>
              <a:r>
                <a:t>🎨 Veri Görselleştirme</a:t>
              </a:r>
            </a:p>
          </p:txBody>
        </p:sp>
      </CT_Shape>
      <CT_Shape>
        <p:sp>
          <p:nvSpPr>
            <p:cNvPr id="3" name="Content Placeholder 2"/>
            <p:cNvSpPr>
              <a:spLocks noGrp="1"/>
            </p:cNvSpPr>
            <p:nvPr>
              <p:ph idx="1"/>
            </p:nvPr>
          </p:nvSpPr>
          <p:spPr/>
          <p:txBody>
            <a:bodyPr/>
            <a:lstStyle/>
            <a:p/>
          </p:txBody>
        </p:sp>
      </CT_Shape>
      <CT_Shape>
        <p:sp>
          <p:nvSpPr>
            <p:cNvPr id="4" name="TextBox 3"/>
            <p:cNvSpPr txBox="1"/>
            <p:nvPr/>
          </p:nvSpPr>
          <p:spPr>
            <a:xfrm>
              <a:off x="914400" y="1828800"/>
              <a:ext cx="7315200" cy="4572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/>
            <a:p>
              <a:pPr>
                <a:spcAft>
                  <a:spcPts val="1200"/>
                </a:spcAft>
                <a:defRPr sz="2000"/>
              </a:pPr>
              <a:r>
                <a:t>Neden görselleştirme?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 b="1"/>
              </a:pPr>
              <a:r>
                <a:t>✅ Görselleştirme Faydaları: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Hızlı anlama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Kalıpları görme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Karşılaştırma kolaylığı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İletişim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 b="1"/>
              </a:pPr>
              <a:r>
                <a:t>📌 İyi Görselleştirme: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 b="1"/>
              </a:pPr>
              <a:r>
                <a:t>✅ Basit: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Karmaşık olmasın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Ana mesaj net olsun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 b="1"/>
              </a:pPr>
              <a:r>
                <a:t>✅ Açık: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Başlık var mı?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Eksen etiketleri var mı?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Lejant (açıklama) var mı?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 b="1"/>
              </a:pPr>
              <a:r>
                <a:t>✅ Doğru: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Yanıltıcı olmasın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Ölçek doğru mu?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 b="1"/>
              </a:pPr>
              <a:r>
                <a:t>✅ Renkli: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Renk kodlama kullan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Ama çok fazla renk kullanma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/>
              </a:pPr>
              <a:r>
                <a:t>❌ Kötü Görselleştirme: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3D efektler (gereksiz)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Yanlış grafik türü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Eksik etiketler</a:t>
              </a:r>
            </a:p>
          </p:txBody>
        </p:sp>
      </CT_Shap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CT_Shape>
        <p:sp>
          <p:nvSpPr>
            <p:cNvPr id="2" name="Title 1"/>
            <p:cNvSpPr>
              <a:spLocks noGrp="1"/>
            </p:cNvSpPr>
            <p:nvPr>
              <p:ph type="title"/>
            </p:nvPr>
          </p:nvSpPr>
          <p:spPr/>
          <p:txBody>
            <a:bodyPr/>
            <a:lstStyle/>
            <a:p>
              <a:pPr>
                <a:defRPr sz="4000" b="1">
                  <a:solidFill>
                    <a:srgbClr val="764BA2"/>
                  </a:solidFill>
                </a:defRPr>
              </a:pPr>
              <a:r>
                <a:t>💻 Excel/Sheets ile Tablo Oluşturma</a:t>
              </a:r>
            </a:p>
          </p:txBody>
        </p:sp>
      </CT_Shape>
      <CT_Shape>
        <p:sp>
          <p:nvSpPr>
            <p:cNvPr id="3" name="Content Placeholder 2"/>
            <p:cNvSpPr>
              <a:spLocks noGrp="1"/>
            </p:cNvSpPr>
            <p:nvPr>
              <p:ph idx="1"/>
            </p:nvPr>
          </p:nvSpPr>
          <p:spPr/>
          <p:txBody>
            <a:bodyPr/>
            <a:lstStyle/>
            <a:p/>
          </p:txBody>
        </p:sp>
      </CT_Shape>
      <CT_Shape>
        <p:sp>
          <p:nvSpPr>
            <p:cNvPr id="4" name="TextBox 3"/>
            <p:cNvSpPr txBox="1"/>
            <p:nvPr/>
          </p:nvSpPr>
          <p:spPr>
            <a:xfrm>
              <a:off x="914400" y="1828800"/>
              <a:ext cx="7315200" cy="4572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/>
            <a:p>
              <a:pPr>
                <a:spcAft>
                  <a:spcPts val="1200"/>
                </a:spcAft>
                <a:defRPr sz="2000"/>
              </a:pPr>
              <a:r>
                <a:t>Tablolama programları veri için çok kullanışlı!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 b="1"/>
              </a:pPr>
              <a:r>
                <a:t>✅ Temel Kavramlar: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Hücre: Tek bir veri kutusu (A1, B2)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Satır: Yatay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Sütun: Dikey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Formül: Hesaplamalar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 b="1"/>
              </a:pPr>
              <a:r>
                <a:t>📌 Tablo Oluşturma Adımları: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/>
              </a:pPr>
              <a:r>
                <a:t>1️⃣ Başlıkları Yaz: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İlk satıra sütun adları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/>
              </a:pPr>
              <a:r>
                <a:t>2️⃣ Verileri Gir: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Her satıra bir kayıt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/>
              </a:pPr>
              <a:r>
                <a:t>3️⃣ Biçimlendir: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Kalın başlıklar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Kenarlıklar ekle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Renkler kullan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/>
              </a:pPr>
              <a:r>
                <a:t>4️⃣ Sırala: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Veri → Sırala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/>
              </a:pPr>
              <a:r>
                <a:t>5️⃣ Filtrele: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Belirli verileri göster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 b="1"/>
              </a:pPr>
              <a:r>
                <a:t>💡 Kısayollar: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Ctrl+C: Kopyala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Ctrl+V: Yapıştır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Ctrl+Z: Geri al</a:t>
              </a:r>
            </a:p>
          </p:txBody>
        </p:sp>
      </CT_Shap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CT_Shape>
        <p:sp>
          <p:nvSpPr>
            <p:cNvPr id="2" name="Title 1"/>
            <p:cNvSpPr>
              <a:spLocks noGrp="1"/>
            </p:cNvSpPr>
            <p:nvPr>
              <p:ph type="title"/>
            </p:nvPr>
          </p:nvSpPr>
          <p:spPr/>
          <p:txBody>
            <a:bodyPr/>
            <a:lstStyle/>
            <a:p>
              <a:pPr>
                <a:defRPr sz="4000" b="1">
                  <a:solidFill>
                    <a:srgbClr val="764BA2"/>
                  </a:solidFill>
                </a:defRPr>
              </a:pPr>
              <a:r>
                <a:t>🧮 Formüller ve Fonksiyonlar</a:t>
              </a:r>
            </a:p>
          </p:txBody>
        </p:sp>
      </CT_Shape>
      <CT_Shape>
        <p:sp>
          <p:nvSpPr>
            <p:cNvPr id="3" name="Content Placeholder 2"/>
            <p:cNvSpPr>
              <a:spLocks noGrp="1"/>
            </p:cNvSpPr>
            <p:nvPr>
              <p:ph idx="1"/>
            </p:nvPr>
          </p:nvSpPr>
          <p:spPr/>
          <p:txBody>
            <a:bodyPr/>
            <a:lstStyle/>
            <a:p/>
          </p:txBody>
        </p:sp>
      </CT_Shape>
      <CT_Shape>
        <p:sp>
          <p:nvSpPr>
            <p:cNvPr id="4" name="TextBox 3"/>
            <p:cNvSpPr txBox="1"/>
            <p:nvPr/>
          </p:nvSpPr>
          <p:spPr>
            <a:xfrm>
              <a:off x="914400" y="1828800"/>
              <a:ext cx="7315200" cy="4572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/>
            <a:p>
              <a:pPr>
                <a:spcAft>
                  <a:spcPts val="1200"/>
                </a:spcAft>
                <a:defRPr sz="2000"/>
              </a:pPr>
              <a:r>
                <a:t>Excel'de otomatik hesaplama!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 b="1"/>
              </a:pPr>
              <a:r>
                <a:t>✅ Temel Formüller: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/>
              </a:pPr>
              <a:r>
                <a:t>➕ Toplama: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=A1+B1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=SUM(A1:A10) → A1'den A10'a kadar topla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/>
              </a:pPr>
              <a:r>
                <a:t>➗ Ortalama: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=AVERAGE(A1:A10)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/>
              </a:pPr>
              <a:r>
                <a:t>🔢 Sayma: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=COUNT(A1:A10) → Kaç sayı var?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/>
              </a:pPr>
              <a:r>
                <a:t>📊 En Büyük/Küçük: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=MAX(A1:A10)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=MIN(A1:A10)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 b="1"/>
              </a:pPr>
              <a:r>
                <a:t>📌 Formül Yazma Kuralları: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'=' ile başla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Hücre adreslerini kullan (A1, B2)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Operatörler: +, -, *, /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 b="1"/>
              </a:pPr>
              <a:r>
                <a:t>💡 Örnek: Not Ortalaması</a:t>
              </a:r>
            </a:p>
            <a:p>
              <a:pPr>
                <a:spcAft>
                  <a:spcPts val="1200"/>
                </a:spcAft>
                <a:defRPr sz="2000"/>
              </a:pPr>
              <a:r>
                <a:t>| Ders       | Not |</a:t>
              </a:r>
            </a:p>
            <a:p>
              <a:pPr>
                <a:spcAft>
                  <a:spcPts val="1200"/>
                </a:spcAft>
                <a:defRPr sz="2000"/>
              </a:pPr>
              <a:r>
                <a:t>| Matematik  | 85  |</a:t>
              </a:r>
            </a:p>
            <a:p>
              <a:pPr>
                <a:spcAft>
                  <a:spcPts val="1200"/>
                </a:spcAft>
                <a:defRPr sz="2000"/>
              </a:pPr>
              <a:r>
                <a:t>| Türkçe     | 90  |</a:t>
              </a:r>
            </a:p>
            <a:p>
              <a:pPr>
                <a:spcAft>
                  <a:spcPts val="1200"/>
                </a:spcAft>
                <a:defRPr sz="2000"/>
              </a:pPr>
              <a:r>
                <a:t>| Fen        | 78  |</a:t>
              </a:r>
            </a:p>
            <a:p>
              <a:pPr>
                <a:spcAft>
                  <a:spcPts val="1200"/>
                </a:spcAft>
                <a:defRPr sz="2000"/>
              </a:pPr>
              <a:r>
                <a:t>| Ortalama   | =AVERAGE(B2:B4) |</a:t>
              </a:r>
            </a:p>
          </p:txBody>
        </p:sp>
      </CT_Shap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CT_Shape>
        <p:sp>
          <p:nvSpPr>
            <p:cNvPr id="2" name="Title 1"/>
            <p:cNvSpPr>
              <a:spLocks noGrp="1"/>
            </p:cNvSpPr>
            <p:nvPr>
              <p:ph type="title"/>
            </p:nvPr>
          </p:nvSpPr>
          <p:spPr/>
          <p:txBody>
            <a:bodyPr/>
            <a:lstStyle/>
            <a:p>
              <a:pPr>
                <a:defRPr sz="4000" b="1">
                  <a:solidFill>
                    <a:srgbClr val="764BA2"/>
                  </a:solidFill>
                </a:defRPr>
              </a:pPr>
              <a:r>
                <a:t>📊 Grafik Oluşturma (Excel/Sheets)</a:t>
              </a:r>
            </a:p>
          </p:txBody>
        </p:sp>
      </CT_Shape>
      <CT_Shape>
        <p:sp>
          <p:nvSpPr>
            <p:cNvPr id="3" name="Content Placeholder 2"/>
            <p:cNvSpPr>
              <a:spLocks noGrp="1"/>
            </p:cNvSpPr>
            <p:nvPr>
              <p:ph idx="1"/>
            </p:nvPr>
          </p:nvSpPr>
          <p:spPr/>
          <p:txBody>
            <a:bodyPr/>
            <a:lstStyle/>
            <a:p/>
          </p:txBody>
        </p:sp>
      </CT_Shape>
      <CT_Shape>
        <p:sp>
          <p:nvSpPr>
            <p:cNvPr id="4" name="TextBox 3"/>
            <p:cNvSpPr txBox="1"/>
            <p:nvPr/>
          </p:nvSpPr>
          <p:spPr>
            <a:xfrm>
              <a:off x="914400" y="1828800"/>
              <a:ext cx="7315200" cy="4572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/>
            <a:p>
              <a:pPr>
                <a:spcAft>
                  <a:spcPts val="1200"/>
                </a:spcAft>
                <a:defRPr sz="2000"/>
              </a:pPr>
              <a:r>
                <a:t>Tablodan grafik yapmak çok kolay!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 b="1"/>
              </a:pPr>
              <a:r>
                <a:t>✅ Grafik Oluşturma Adımları: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/>
              </a:pPr>
              <a:r>
                <a:t>1️⃣ Veriyi Seç: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Grafik yapılacak hücreleri seç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/>
              </a:pPr>
              <a:r>
                <a:t>2️⃣ Ekle → Grafik: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Excel: Insert → Chart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Sheets: Insert → Chart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/>
              </a:pPr>
              <a:r>
                <a:t>3️⃣ Grafik Türünü Seç: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Sütun, Çizgi, Pasta...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/>
              </a:pPr>
              <a:r>
                <a:t>4️⃣ Özelleştir: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Başlık ekle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Renkleri değiştir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Eksen etiketleri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/>
              </a:pPr>
              <a:r>
                <a:t>5️⃣ Kaydet/Paylaş: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Resim olarak kaydet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Sunuma ekle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 b="1"/>
              </a:pPr>
              <a:r>
                <a:t>📌 Örnek: Aylık Sıcaklık Grafiği</a:t>
              </a:r>
            </a:p>
            <a:p>
              <a:pPr>
                <a:spcAft>
                  <a:spcPts val="1200"/>
                </a:spcAft>
                <a:defRPr sz="2000"/>
              </a:pPr>
              <a:r>
                <a:t>| Ay      | Sıcaklık |</a:t>
              </a:r>
            </a:p>
            <a:p>
              <a:pPr>
                <a:spcAft>
                  <a:spcPts val="1200"/>
                </a:spcAft>
                <a:defRPr sz="2000"/>
              </a:pPr>
              <a:r>
                <a:t>| Ocak    | 5°C      |</a:t>
              </a:r>
            </a:p>
            <a:p>
              <a:pPr>
                <a:spcAft>
                  <a:spcPts val="1200"/>
                </a:spcAft>
                <a:defRPr sz="2000"/>
              </a:pPr>
              <a:r>
                <a:t>| Şubat   | 7°C      |</a:t>
              </a:r>
            </a:p>
            <a:p>
              <a:pPr>
                <a:spcAft>
                  <a:spcPts val="1200"/>
                </a:spcAft>
                <a:defRPr sz="2000"/>
              </a:pPr>
              <a:r>
                <a:t>| Mart    | 12°C     |</a:t>
              </a:r>
            </a:p>
            <a:p>
              <a:pPr>
                <a:spcAft>
                  <a:spcPts val="1200"/>
                </a:spcAft>
                <a:defRPr sz="2000"/>
              </a:pPr>
              <a:r>
                <a:t>→ Çizgi grafiği yap</a:t>
              </a:r>
            </a:p>
          </p:txBody>
        </p:sp>
      </CT_Shap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CT_Shape>
        <p:sp>
          <p:nvSpPr>
            <p:cNvPr id="2" name="Title 1"/>
            <p:cNvSpPr>
              <a:spLocks noGrp="1"/>
            </p:cNvSpPr>
            <p:nvPr>
              <p:ph type="title"/>
            </p:nvPr>
          </p:nvSpPr>
          <p:spPr/>
          <p:txBody>
            <a:bodyPr/>
            <a:lstStyle/>
            <a:p>
              <a:pPr>
                <a:defRPr sz="4000" b="1">
                  <a:solidFill>
                    <a:srgbClr val="764BA2"/>
                  </a:solidFill>
                </a:defRPr>
              </a:pPr>
              <a:r>
                <a:t>📊 Veri Analizi</a:t>
              </a:r>
            </a:p>
          </p:txBody>
        </p:sp>
      </CT_Shape>
      <CT_Shape>
        <p:sp>
          <p:nvSpPr>
            <p:cNvPr id="3" name="Content Placeholder 2"/>
            <p:cNvSpPr>
              <a:spLocks noGrp="1"/>
            </p:cNvSpPr>
            <p:nvPr>
              <p:ph idx="1"/>
            </p:nvPr>
          </p:nvSpPr>
          <p:spPr/>
          <p:txBody>
            <a:bodyPr/>
            <a:lstStyle/>
            <a:p/>
          </p:txBody>
        </p:sp>
      </CT_Shape>
      <CT_Shape>
        <p:sp>
          <p:nvSpPr>
            <p:cNvPr id="4" name="TextBox 3"/>
            <p:cNvSpPr txBox="1"/>
            <p:nvPr/>
          </p:nvSpPr>
          <p:spPr>
            <a:xfrm>
              <a:off x="914400" y="1828800"/>
              <a:ext cx="7315200" cy="4572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/>
            <a:p>
              <a:pPr>
                <a:spcAft>
                  <a:spcPts val="1200"/>
                </a:spcAft>
                <a:defRPr sz="2000"/>
              </a:pPr>
              <a:r>
                <a:t>Veriyi inceleyip sonuç çıkarmak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 b="1"/>
              </a:pPr>
              <a:r>
                <a:t>✅ Analiz Soruları: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En yüksek değer nedir?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En düşük değer nedir?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Ortalama nedir?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Bir kalıp var mı?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İlişki var mı?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 b="1"/>
              </a:pPr>
              <a:r>
                <a:t>📌 Merkezi Eğilim Ölçüleri: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/>
              </a:pPr>
              <a:r>
                <a:t>📊 Ortalama (Mean):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Tüm değerleri topla, sayıya böl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Örnek: (10+20+30)/3 = 20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/>
              </a:pPr>
              <a:r>
                <a:t>📊 Medyan (Median):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Ortadaki değer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Örnek: 10, 15, 20 → Medyan: 15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/>
              </a:pPr>
              <a:r>
                <a:t>📊 Mod (Mode):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En çok tekrar eden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Örnek: 5, 5, 7, 9 → Mod: 5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 b="1"/>
              </a:pPr>
              <a:r>
                <a:t>💡 Hangisini Kullan?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Genelde → Ortalama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Aşırı değerler varsa → Medyan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Sıklık önemliyse → Mod</a:t>
              </a:r>
            </a:p>
          </p:txBody>
        </p:sp>
      </CT_Shap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CT_Shape>
        <p:sp>
          <p:nvSpPr>
            <p:cNvPr id="2" name="Title 1"/>
            <p:cNvSpPr>
              <a:spLocks noGrp="1"/>
            </p:cNvSpPr>
            <p:nvPr>
              <p:ph type="title"/>
            </p:nvPr>
          </p:nvSpPr>
          <p:spPr/>
          <p:txBody>
            <a:bodyPr/>
            <a:lstStyle/>
            <a:p>
              <a:pPr>
                <a:defRPr sz="4000" b="1">
                  <a:solidFill>
                    <a:srgbClr val="764BA2"/>
                  </a:solidFill>
                </a:defRPr>
              </a:pPr>
              <a:r>
                <a:t>🎯 Veri ile Karar Verme</a:t>
              </a:r>
            </a:p>
          </p:txBody>
        </p:sp>
      </CT_Shape>
      <CT_Shape>
        <p:sp>
          <p:nvSpPr>
            <p:cNvPr id="3" name="Content Placeholder 2"/>
            <p:cNvSpPr>
              <a:spLocks noGrp="1"/>
            </p:cNvSpPr>
            <p:nvPr>
              <p:ph idx="1"/>
            </p:nvPr>
          </p:nvSpPr>
          <p:spPr/>
          <p:txBody>
            <a:bodyPr/>
            <a:lstStyle/>
            <a:p/>
          </p:txBody>
        </p:sp>
      </CT_Shape>
      <CT_Shape>
        <p:sp>
          <p:nvSpPr>
            <p:cNvPr id="4" name="TextBox 3"/>
            <p:cNvSpPr txBox="1"/>
            <p:nvPr/>
          </p:nvSpPr>
          <p:spPr>
            <a:xfrm>
              <a:off x="914400" y="1828800"/>
              <a:ext cx="7315200" cy="4572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/>
            <a:p>
              <a:pPr>
                <a:spcAft>
                  <a:spcPts val="1200"/>
                </a:spcAft>
                <a:defRPr sz="2000"/>
              </a:pPr>
              <a:r>
                <a:t>Veriye dayalı kararlar daha sağlıklı!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 b="1"/>
              </a:pPr>
              <a:r>
                <a:t>✅ Veri Odaklı Karar Örneği: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 b="1"/>
              </a:pPr>
              <a:r>
                <a:t>📌 Problem:</a:t>
              </a:r>
            </a:p>
            <a:p>
              <a:pPr>
                <a:spcAft>
                  <a:spcPts val="1200"/>
                </a:spcAft>
                <a:defRPr sz="2000"/>
              </a:pPr>
              <a:r>
                <a:t>Okul kütüphanesine hangi kitapları alalım?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/>
              </a:pPr>
              <a:r>
                <a:t>📊 Veri Toplama: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Anket: En sevilen kitap türü?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Gözlem: Hangi kitaplar çok ödünç alınıyor?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Kayıt: Rafta eksik ne var?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/>
              </a:pPr>
              <a:r>
                <a:t>📈 Analiz: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%40 macera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%30 bilim kurgu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%20 roman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%10 diğer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 b="1"/>
              </a:pPr>
              <a:r>
                <a:t>✅ Karar:</a:t>
              </a:r>
            </a:p>
            <a:p>
              <a:pPr>
                <a:spcAft>
                  <a:spcPts val="1200"/>
                </a:spcAft>
                <a:defRPr sz="2000"/>
              </a:pPr>
              <a:r>
                <a:t>Yeni kitapların %40'ı macera olsun!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 b="1"/>
              </a:pPr>
              <a:r>
                <a:t>💡 Veriye dayalı karar: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Objektif (tarafsız)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Kanıta dayalı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Savunulabilir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/>
              </a:pPr>
              <a:r>
                <a:t>⚠️ Dikkat:</a:t>
              </a:r>
            </a:p>
            <a:p>
              <a:pPr>
                <a:spcAft>
                  <a:spcPts val="1200"/>
                </a:spcAft>
                <a:defRPr sz="2000"/>
              </a:pPr>
              <a:r>
                <a:t>Veri yanlış veya eksikse, karar da yanlış olur!</a:t>
              </a:r>
            </a:p>
          </p:txBody>
        </p:sp>
      </CT_Shap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CT_Shape>
        <p:sp>
          <p:nvSpPr>
            <p:cNvPr id="2" name="Title 1"/>
            <p:cNvSpPr>
              <a:spLocks noGrp="1"/>
            </p:cNvSpPr>
            <p:nvPr>
              <p:ph type="title"/>
            </p:nvPr>
          </p:nvSpPr>
          <p:spPr/>
          <p:txBody>
            <a:bodyPr/>
            <a:lstStyle/>
            <a:p>
              <a:pPr>
                <a:defRPr sz="4000" b="1">
                  <a:solidFill>
                    <a:srgbClr val="764BA2"/>
                  </a:solidFill>
                </a:defRPr>
              </a:pPr>
              <a:r>
                <a:t>🔒 Veri Güvenliği ve Gizlilik</a:t>
              </a:r>
            </a:p>
          </p:txBody>
        </p:sp>
      </CT_Shape>
      <CT_Shape>
        <p:sp>
          <p:nvSpPr>
            <p:cNvPr id="3" name="Content Placeholder 2"/>
            <p:cNvSpPr>
              <a:spLocks noGrp="1"/>
            </p:cNvSpPr>
            <p:nvPr>
              <p:ph idx="1"/>
            </p:nvPr>
          </p:nvSpPr>
          <p:spPr/>
          <p:txBody>
            <a:bodyPr/>
            <a:lstStyle/>
            <a:p/>
          </p:txBody>
        </p:sp>
      </CT_Shape>
      <CT_Shape>
        <p:sp>
          <p:nvSpPr>
            <p:cNvPr id="4" name="TextBox 3"/>
            <p:cNvSpPr txBox="1"/>
            <p:nvPr/>
          </p:nvSpPr>
          <p:spPr>
            <a:xfrm>
              <a:off x="914400" y="1828800"/>
              <a:ext cx="7315200" cy="4572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/>
            <a:p>
              <a:pPr>
                <a:spcAft>
                  <a:spcPts val="1200"/>
                </a:spcAft>
                <a:defRPr sz="2000"/>
              </a:pPr>
              <a:r>
                <a:t>Veri toplarken/paylaşırken dikkatli ol!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 b="1"/>
              </a:pPr>
              <a:r>
                <a:t>✅ Kişisel Veri Nedir?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İsim, soyisim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Doğum tarihi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Adres, telefon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Fotoğraflar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Sağlık bilgileri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 b="1"/>
              </a:pPr>
              <a:r>
                <a:t>📌 Veri Toplama Etik Kuralları: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/>
              </a:pPr>
              <a:r>
                <a:t>🔐 İzin Al: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Kişilere sor, onay al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/>
              </a:pPr>
              <a:r>
                <a:t>🔒 Gizli Tut: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Kişisel verileri paylaşma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/>
              </a:pPr>
              <a:r>
                <a:t>📊 Anonim Yap: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İsim kullanma, genel göster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Örnek: 'Öğrenci 1, Öğrenci 2'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 b="1"/>
              </a:pPr>
              <a:r>
                <a:t>🎯 Amacını Belirt: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Veri ne için kullanılacak?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/>
              </a:pPr>
              <a:r>
                <a:t>🗑️ Gereksiz Veri Toplama: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Sadece gerekli veriyi topla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 b="1"/>
              </a:pPr>
              <a:r>
                <a:t>💡 KVKK (Kişisel Verilerin Korunması Kanunu):</a:t>
              </a:r>
            </a:p>
            <a:p>
              <a:pPr>
                <a:spcAft>
                  <a:spcPts val="1200"/>
                </a:spcAft>
                <a:defRPr sz="2000"/>
              </a:pPr>
              <a:r>
                <a:t>Türkiye'de veri güvenliğini koruyan yasa</a:t>
              </a:r>
            </a:p>
          </p:txBody>
        </p:sp>
      </CT_Shap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CT_Shape>
        <p:sp>
          <p:nvSpPr>
            <p:cNvPr id="2" name="Title 1"/>
            <p:cNvSpPr>
              <a:spLocks noGrp="1"/>
            </p:cNvSpPr>
            <p:nvPr>
              <p:ph type="title"/>
            </p:nvPr>
          </p:nvSpPr>
          <p:spPr/>
          <p:txBody>
            <a:bodyPr/>
            <a:lstStyle/>
            <a:p>
              <a:pPr>
                <a:defRPr sz="4000" b="1">
                  <a:solidFill>
                    <a:srgbClr val="764BA2"/>
                  </a:solidFill>
                </a:defRPr>
              </a:pPr>
              <a:r>
                <a:t>📝 Ünite Özeti</a:t>
              </a:r>
            </a:p>
          </p:txBody>
        </p:sp>
      </CT_Shape>
      <CT_Shape>
        <p:sp>
          <p:nvSpPr>
            <p:cNvPr id="3" name="Content Placeholder 2"/>
            <p:cNvSpPr>
              <a:spLocks noGrp="1"/>
            </p:cNvSpPr>
            <p:nvPr>
              <p:ph idx="1"/>
            </p:nvPr>
          </p:nvSpPr>
          <p:spPr/>
          <p:txBody>
            <a:bodyPr/>
            <a:lstStyle/>
            <a:p/>
          </p:txBody>
        </p:sp>
      </CT_Shape>
      <CT_Shape>
        <p:sp>
          <p:nvSpPr>
            <p:cNvPr id="4" name="TextBox 3"/>
            <p:cNvSpPr txBox="1"/>
            <p:nvPr/>
          </p:nvSpPr>
          <p:spPr>
            <a:xfrm>
              <a:off x="914400" y="1828800"/>
              <a:ext cx="7315200" cy="4572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/>
            <a:p>
              <a:pPr>
                <a:spcAft>
                  <a:spcPts val="1200"/>
                </a:spcAft>
                <a:defRPr sz="2000"/>
              </a:pPr>
              <a:r>
                <a:t>Bu ünitede neler öğrendik?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 b="1"/>
              </a:pPr>
              <a:r>
                <a:t>✅ Veri ve bilgi kavramları</a:t>
              </a:r>
            </a:p>
            <a:p>
              <a:pPr>
                <a:spcAft>
                  <a:spcPts val="1200"/>
                </a:spcAft>
                <a:defRPr sz="2000" b="1"/>
              </a:pPr>
              <a:r>
                <a:t>✅ Veri toplama yöntemleri (anket, gözlem, deney)</a:t>
              </a:r>
            </a:p>
            <a:p>
              <a:pPr>
                <a:spcAft>
                  <a:spcPts val="1200"/>
                </a:spcAft>
                <a:defRPr sz="2000" b="1"/>
              </a:pPr>
              <a:r>
                <a:t>✅ Veri türleri (sayısal, kategorik)</a:t>
              </a:r>
            </a:p>
            <a:p>
              <a:pPr>
                <a:spcAft>
                  <a:spcPts val="1200"/>
                </a:spcAft>
                <a:defRPr sz="2000" b="1"/>
              </a:pPr>
              <a:r>
                <a:t>✅ Veri düzenleme ve sıralama</a:t>
              </a:r>
            </a:p>
            <a:p>
              <a:pPr>
                <a:spcAft>
                  <a:spcPts val="1200"/>
                </a:spcAft>
                <a:defRPr sz="2000" b="1"/>
              </a:pPr>
              <a:r>
                <a:t>✅ Grafik türleri (sütun, çizgi, pasta)</a:t>
              </a:r>
            </a:p>
            <a:p>
              <a:pPr>
                <a:spcAft>
                  <a:spcPts val="1200"/>
                </a:spcAft>
                <a:defRPr sz="2000" b="1"/>
              </a:pPr>
              <a:r>
                <a:t>✅ Veri görselleştirme</a:t>
              </a:r>
            </a:p>
            <a:p>
              <a:pPr>
                <a:spcAft>
                  <a:spcPts val="1200"/>
                </a:spcAft>
                <a:defRPr sz="2000" b="1"/>
              </a:pPr>
              <a:r>
                <a:t>✅ Excel/Sheets ile tablo oluşturma</a:t>
              </a:r>
            </a:p>
            <a:p>
              <a:pPr>
                <a:spcAft>
                  <a:spcPts val="1200"/>
                </a:spcAft>
                <a:defRPr sz="2000" b="1"/>
              </a:pPr>
              <a:r>
                <a:t>✅ Formüller ve fonksiyonlar</a:t>
              </a:r>
            </a:p>
            <a:p>
              <a:pPr>
                <a:spcAft>
                  <a:spcPts val="1200"/>
                </a:spcAft>
                <a:defRPr sz="2000" b="1"/>
              </a:pPr>
              <a:r>
                <a:t>✅ Grafik oluşturma</a:t>
              </a:r>
            </a:p>
            <a:p>
              <a:pPr>
                <a:spcAft>
                  <a:spcPts val="1200"/>
                </a:spcAft>
                <a:defRPr sz="2000" b="1"/>
              </a:pPr>
              <a:r>
                <a:t>✅ Veri analizi (ortalama, medyan, mod)</a:t>
              </a:r>
            </a:p>
            <a:p>
              <a:pPr>
                <a:spcAft>
                  <a:spcPts val="1200"/>
                </a:spcAft>
                <a:defRPr sz="2000" b="1"/>
              </a:pPr>
              <a:r>
                <a:t>✅ Veriye dayalı karar verme</a:t>
              </a:r>
            </a:p>
            <a:p>
              <a:pPr>
                <a:spcAft>
                  <a:spcPts val="1200"/>
                </a:spcAft>
                <a:defRPr sz="2000" b="1"/>
              </a:pPr>
              <a:r>
                <a:t>✅ Veri güvenliği ve gizlilik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 b="1"/>
              </a:pPr>
              <a:r>
                <a:t>💡 Anahtar Mesaj:</a:t>
              </a:r>
            </a:p>
            <a:p>
              <a:pPr>
                <a:spcAft>
                  <a:spcPts val="1200"/>
                </a:spcAft>
                <a:defRPr sz="2000"/>
              </a:pPr>
              <a:r>
                <a:t>Veri doğru analiz edilirse değerli bilgi haline gelir!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 b="1"/>
              </a:pPr>
              <a:r>
                <a:t>🎯 Artık veri analisti gibi düşünebilirsin!</a:t>
              </a:r>
            </a:p>
            <a:p>
              <a:pPr>
                <a:spcAft>
                  <a:spcPts val="1200"/>
                </a:spcAft>
                <a:defRPr sz="2000"/>
              </a:pPr>
              <a:r>
                <a:t>📊 Veriyle dünyayı anlayabilirsin!</a:t>
              </a:r>
            </a:p>
          </p:txBody>
        </p:sp>
      </CT_Shap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CT_Shape>
        <p:sp>
          <p:nvSpPr>
            <p:cNvPr id="2" name="Title 1"/>
            <p:cNvSpPr>
              <a:spLocks noGrp="1"/>
            </p:cNvSpPr>
            <p:nvPr>
              <p:ph type="title"/>
            </p:nvPr>
          </p:nvSpPr>
          <p:spPr/>
          <p:txBody>
            <a:bodyPr/>
            <a:lstStyle/>
            <a:p>
              <a:pPr>
                <a:defRPr sz="4000" b="1">
                  <a:solidFill>
                    <a:srgbClr val="764BA2"/>
                  </a:solidFill>
                </a:defRPr>
              </a:pPr>
              <a:r>
                <a:t>📚 Kaynaklar</a:t>
              </a:r>
            </a:p>
          </p:txBody>
        </p:sp>
      </CT_Shape>
      <CT_Shape>
        <p:sp>
          <p:nvSpPr>
            <p:cNvPr id="3" name="Content Placeholder 2"/>
            <p:cNvSpPr>
              <a:spLocks noGrp="1"/>
            </p:cNvSpPr>
            <p:nvPr>
              <p:ph idx="1"/>
            </p:nvPr>
          </p:nvSpPr>
          <p:spPr/>
          <p:txBody>
            <a:bodyPr/>
            <a:lstStyle/>
            <a:p/>
          </p:txBody>
        </p:sp>
      </CT_Shape>
      <CT_Shape>
        <p:sp>
          <p:nvSpPr>
            <p:cNvPr id="4" name="TextBox 3"/>
            <p:cNvSpPr txBox="1"/>
            <p:nvPr/>
          </p:nvSpPr>
          <p:spPr>
            <a:xfrm>
              <a:off x="914400" y="1828800"/>
              <a:ext cx="7315200" cy="4572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/>
            <a:p>
              <a:pPr>
                <a:spcAft>
                  <a:spcPts val="1200"/>
                </a:spcAft>
                <a:defRPr sz="2000"/>
              </a:pPr>
              <a:r>
                <a:t>🎥 İzlenecek Videolar: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'Veri Nedir?' - TRT Okul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'Excel Eğitimi' - Temel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'Grafik Türleri' - Animasyon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/>
              </a:pPr>
              <a:r>
                <a:t>🌐 Keşfedilecek Siteler: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Google Sheets (ücretsiz)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https://data.gov.tr - Açık veri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/>
              </a:pPr>
              <a:r>
                <a:t>📖 Projeler: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Sınıf anketi yap, analiz et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Hava durumu verileri topla, grafik yap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Favori konular anketi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 b="1"/>
              </a:pPr>
              <a:r>
                <a:t>💡 Veri ile dünyayı keşfet!</a:t>
              </a:r>
            </a:p>
          </p:txBody>
        </p:sp>
      </CT_Shap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CT_Shape>
        <p:sp>
          <p:nvSpPr>
            <p:cNvPr id="2" name="TextBox 1"/>
            <p:cNvSpPr txBox="1"/>
            <p:nvPr/>
          </p:nvSpPr>
          <p:spPr>
            <a:xfrm>
              <a:off x="914400" y="2286000"/>
              <a:ext cx="7315200" cy="91440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>
                <a:defRPr sz="5400" b="1">
                  <a:solidFill>
                    <a:srgbClr val="FFFFFF"/>
                  </a:solidFill>
                </a:defRPr>
              </a:pPr>
              <a:r>
                <a:t>Tebrikler! 🎉</a:t>
              </a:r>
            </a:p>
          </p:txBody>
        </p:sp>
      </CT_Shape>
      <CT_Shape>
        <p:sp>
          <p:nvSpPr>
            <p:cNvPr id="3" name="TextBox 2"/>
            <p:cNvSpPr txBox="1"/>
            <p:nvPr/>
          </p:nvSpPr>
          <p:spPr>
            <a:xfrm>
              <a:off x="914400" y="3474720"/>
              <a:ext cx="7315200" cy="7315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>
                <a:defRPr sz="2800">
                  <a:solidFill>
                    <a:srgbClr val="FFFFFF"/>
                  </a:solidFill>
                </a:defRPr>
              </a:pPr>
              <a:r>
                <a:t>Ünite 1'i Tamamladınız - Artık Veri Analistsiniz!</a:t>
              </a:r>
            </a:p>
          </p:txBody>
        </p:sp>
      </CT_Shap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CT_Shape>
        <p:sp>
          <p:nvSpPr>
            <p:cNvPr id="2" name="TextBox 1"/>
            <p:cNvSpPr txBox="1"/>
            <p:nvPr/>
          </p:nvSpPr>
          <p:spPr>
            <a:xfrm>
              <a:off x="914400" y="2286000"/>
              <a:ext cx="7315200" cy="91440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>
                <a:defRPr sz="5400" b="1">
                  <a:solidFill>
                    <a:srgbClr val="FFFFFF"/>
                  </a:solidFill>
                </a:defRPr>
              </a:pPr>
              <a:r>
                <a:t>6. SINIF - ÜNİTE 2</a:t>
              </a:r>
            </a:p>
          </p:txBody>
        </p:sp>
      </CT_Shape>
      <CT_Shape>
        <p:sp>
          <p:nvSpPr>
            <p:cNvPr id="3" name="TextBox 2"/>
            <p:cNvSpPr txBox="1"/>
            <p:nvPr/>
          </p:nvSpPr>
          <p:spPr>
            <a:xfrm>
              <a:off x="914400" y="3474720"/>
              <a:ext cx="7315200" cy="7315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>
                <a:defRPr sz="2800">
                  <a:solidFill>
                    <a:srgbClr val="FFFFFF"/>
                  </a:solidFill>
                </a:defRPr>
              </a:pPr>
              <a:r>
                <a:t>Kelime İşlemci Programları</a:t>
              </a:r>
            </a:p>
          </p:txBody>
        </p:sp>
      </CT_Shap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CT_Shape>
        <p:sp>
          <p:nvSpPr>
            <p:cNvPr id="2" name="Title 1"/>
            <p:cNvSpPr>
              <a:spLocks noGrp="1"/>
            </p:cNvSpPr>
            <p:nvPr>
              <p:ph type="title"/>
            </p:nvPr>
          </p:nvSpPr>
          <p:spPr/>
          <p:txBody>
            <a:bodyPr/>
            <a:lstStyle/>
            <a:p>
              <a:pPr>
                <a:defRPr sz="3800" b="1">
                  <a:solidFill>
                    <a:srgbClr val="764BA2"/>
                  </a:solidFill>
                </a:defRPr>
              </a:pPr>
              <a:r>
                <a:t>📚 Ünitenin Konuları</a:t>
              </a:r>
            </a:p>
          </p:txBody>
        </p:sp>
      </CT_Shape>
      <CT_Shape>
        <p:sp>
          <p:nvSpPr>
            <p:cNvPr id="3" name="Content Placeholder 2"/>
            <p:cNvSpPr>
              <a:spLocks noGrp="1"/>
            </p:cNvSpPr>
            <p:nvPr>
              <p:ph idx="1"/>
            </p:nvPr>
          </p:nvSpPr>
          <p:spPr/>
          <p:txBody>
            <a:bodyPr/>
            <a:lstStyle/>
            <a:p/>
          </p:txBody>
        </p:sp>
      </CT_Shape>
      <CT_Shape>
        <p:sp>
          <p:nvSpPr>
            <p:cNvPr id="4" name="TextBox 3"/>
            <p:cNvSpPr txBox="1"/>
            <p:nvPr/>
          </p:nvSpPr>
          <p:spPr>
            <a:xfrm>
              <a:off x="914400" y="1828800"/>
              <a:ext cx="7315200" cy="4572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/>
            <a:p>
              <a:pPr>
                <a:spcAft>
                  <a:spcPts val="1000"/>
                </a:spcAft>
                <a:defRPr sz="1900"/>
              </a:pPr>
              <a:r>
                <a:t>Bu ünitede neler öğreneceğiz?</a:t>
              </a:r>
            </a:p>
            <a:p>
              <a:pPr>
                <a:spcAft>
                  <a:spcPts val="1000"/>
                </a:spcAft>
                <a:defRPr sz="1900"/>
              </a:pPr>
            </a:p>
            <a:p>
              <a:pPr>
                <a:spcAft>
                  <a:spcPts val="1000"/>
                </a:spcAft>
                <a:defRPr sz="1900"/>
              </a:pPr>
              <a:r>
                <a:t>✅ 1. Ofis Programları Nedir?</a:t>
              </a:r>
            </a:p>
            <a:p>
              <a:pPr>
                <a:spcAft>
                  <a:spcPts val="1000"/>
                </a:spcAft>
                <a:defRPr sz="1900"/>
              </a:pPr>
              <a:r>
                <a:t>✅ 2. Kelime İşlemci (Word)</a:t>
              </a:r>
            </a:p>
            <a:p>
              <a:pPr>
                <a:spcAft>
                  <a:spcPts val="1000"/>
                </a:spcAft>
                <a:defRPr sz="1900"/>
              </a:pPr>
              <a:r>
                <a:t>✅ 3. Metin Biçimlendirme</a:t>
              </a:r>
            </a:p>
            <a:p>
              <a:pPr>
                <a:spcAft>
                  <a:spcPts val="1000"/>
                </a:spcAft>
                <a:defRPr sz="1900"/>
              </a:pPr>
              <a:r>
                <a:t>✅ 4. Paragraf Ayarları</a:t>
              </a:r>
            </a:p>
            <a:p>
              <a:pPr>
                <a:spcAft>
                  <a:spcPts val="1000"/>
                </a:spcAft>
                <a:defRPr sz="1900"/>
              </a:pPr>
              <a:r>
                <a:t>✅ 5. Görsel Ekleme</a:t>
              </a:r>
            </a:p>
            <a:p>
              <a:pPr>
                <a:spcAft>
                  <a:spcPts val="1000"/>
                </a:spcAft>
                <a:defRPr sz="1900"/>
              </a:pPr>
              <a:r>
                <a:t>✅ 6. Tablo Oluşturma</a:t>
              </a:r>
            </a:p>
            <a:p>
              <a:pPr>
                <a:spcAft>
                  <a:spcPts val="1000"/>
                </a:spcAft>
                <a:defRPr sz="1900"/>
              </a:pPr>
              <a:r>
                <a:t>✅ 7. Sayfa Düzeni</a:t>
              </a:r>
            </a:p>
            <a:p>
              <a:pPr>
                <a:spcAft>
                  <a:spcPts val="1000"/>
                </a:spcAft>
                <a:defRPr sz="1900"/>
              </a:pPr>
              <a:r>
                <a:t>✅ 8. Yazım Denetimi</a:t>
              </a:r>
            </a:p>
            <a:p>
              <a:pPr>
                <a:spcAft>
                  <a:spcPts val="1000"/>
                </a:spcAft>
                <a:defRPr sz="1900"/>
              </a:pPr>
              <a:r>
                <a:t>✅ 9. Yazdırma ve PDF</a:t>
              </a:r>
            </a:p>
            <a:p>
              <a:pPr>
                <a:spcAft>
                  <a:spcPts val="1000"/>
                </a:spcAft>
                <a:defRPr sz="1900"/>
              </a:pPr>
              <a:r>
                <a:t>✅ 10. Google Docs Kullanımı</a:t>
              </a:r>
            </a:p>
            <a:p>
              <a:pPr>
                <a:spcAft>
                  <a:spcPts val="1000"/>
                </a:spcAft>
                <a:defRPr sz="1900"/>
              </a:pPr>
              <a:r>
                <a:t>✅ 11. İşbirlikli Çalışma</a:t>
              </a:r>
            </a:p>
            <a:p>
              <a:pPr>
                <a:spcAft>
                  <a:spcPts val="1000"/>
                </a:spcAft>
                <a:defRPr sz="1900"/>
              </a:pPr>
            </a:p>
            <a:p>
              <a:pPr>
                <a:spcAft>
                  <a:spcPts val="1000"/>
                </a:spcAft>
                <a:defRPr sz="1900"/>
              </a:pPr>
              <a:r>
                <a:t>⏰ Süre: 3 Hafta</a:t>
              </a:r>
            </a:p>
            <a:p>
              <a:pPr>
                <a:spcAft>
                  <a:spcPts val="1000"/>
                </a:spcAft>
                <a:defRPr sz="1900"/>
              </a:pPr>
              <a:r>
                <a:t>🎯 Amaç: Profesyonel belgeler oluşturmak!</a:t>
              </a:r>
            </a:p>
          </p:txBody>
        </p:sp>
      </CT_Shap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CT_Shape>
        <p:sp>
          <p:nvSpPr>
            <p:cNvPr id="2" name="Title 1"/>
            <p:cNvSpPr>
              <a:spLocks noGrp="1"/>
            </p:cNvSpPr>
            <p:nvPr>
              <p:ph type="title"/>
            </p:nvPr>
          </p:nvSpPr>
          <p:spPr/>
          <p:txBody>
            <a:bodyPr/>
            <a:lstStyle/>
            <a:p>
              <a:pPr>
                <a:defRPr sz="3800" b="1">
                  <a:solidFill>
                    <a:srgbClr val="764BA2"/>
                  </a:solidFill>
                </a:defRPr>
              </a:pPr>
              <a:r>
                <a:t>📝 Kelime İşlemci Nedir?</a:t>
              </a:r>
            </a:p>
          </p:txBody>
        </p:sp>
      </CT_Shape>
      <CT_Shape>
        <p:sp>
          <p:nvSpPr>
            <p:cNvPr id="3" name="Content Placeholder 2"/>
            <p:cNvSpPr>
              <a:spLocks noGrp="1"/>
            </p:cNvSpPr>
            <p:nvPr>
              <p:ph idx="1"/>
            </p:nvPr>
          </p:nvSpPr>
          <p:spPr/>
          <p:txBody>
            <a:bodyPr/>
            <a:lstStyle/>
            <a:p/>
          </p:txBody>
        </p:sp>
      </CT_Shape>
      <CT_Shape>
        <p:sp>
          <p:nvSpPr>
            <p:cNvPr id="4" name="TextBox 3"/>
            <p:cNvSpPr txBox="1"/>
            <p:nvPr/>
          </p:nvSpPr>
          <p:spPr>
            <a:xfrm>
              <a:off x="914400" y="1828800"/>
              <a:ext cx="7315200" cy="4572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/>
            <a:p>
              <a:pPr>
                <a:spcAft>
                  <a:spcPts val="1000"/>
                </a:spcAft>
                <a:defRPr sz="1900"/>
              </a:pPr>
              <a:r>
                <a:t>Kelime işlemci = Metin belgesi oluşturma programı</a:t>
              </a:r>
            </a:p>
            <a:p>
              <a:pPr>
                <a:spcAft>
                  <a:spcPts val="1000"/>
                </a:spcAft>
                <a:defRPr sz="1900"/>
              </a:pPr>
            </a:p>
            <a:p>
              <a:pPr>
                <a:spcAft>
                  <a:spcPts val="1000"/>
                </a:spcAft>
                <a:defRPr sz="1900"/>
              </a:pPr>
              <a:r>
                <a:t>✅ Popüler Kelime İşlemciler: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Microsoft Word (ücretli)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Google Docs (ücretsiz, online)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LibreOffice Writer (ücretsiz)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Pages (Apple)</a:t>
              </a:r>
            </a:p>
            <a:p>
              <a:pPr>
                <a:spcAft>
                  <a:spcPts val="1000"/>
                </a:spcAft>
                <a:defRPr sz="1900"/>
              </a:pPr>
            </a:p>
            <a:p>
              <a:pPr>
                <a:spcAft>
                  <a:spcPts val="1000"/>
                </a:spcAft>
                <a:defRPr sz="1900"/>
              </a:pPr>
              <a:r>
                <a:t>📌 Ne İçin Kullanılır?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Ödev yazmak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Rapor hazırlamak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Mektup yazmak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Poster tasarlamak</a:t>
              </a:r>
            </a:p>
            <a:p>
              <a:pPr>
                <a:spcAft>
                  <a:spcPts val="1000"/>
                </a:spcAft>
                <a:defRPr sz="1900"/>
              </a:pPr>
            </a:p>
            <a:p>
              <a:pPr>
                <a:spcAft>
                  <a:spcPts val="1000"/>
                </a:spcAft>
                <a:defRPr sz="1900"/>
              </a:pPr>
              <a:r>
                <a:t>💡 Avantajları: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Düzenleme kolay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Yazım hatalarını bulur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Güzel görünüm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Yazdırma/paylaşma kolay</a:t>
              </a:r>
            </a:p>
          </p:txBody>
        </p:sp>
      </CT_Shap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CT_Shape>
        <p:sp>
          <p:nvSpPr>
            <p:cNvPr id="2" name="Title 1"/>
            <p:cNvSpPr>
              <a:spLocks noGrp="1"/>
            </p:cNvSpPr>
            <p:nvPr>
              <p:ph type="title"/>
            </p:nvPr>
          </p:nvSpPr>
          <p:spPr/>
          <p:txBody>
            <a:bodyPr/>
            <a:lstStyle/>
            <a:p>
              <a:pPr>
                <a:defRPr sz="3800" b="1">
                  <a:solidFill>
                    <a:srgbClr val="764BA2"/>
                  </a:solidFill>
                </a:defRPr>
              </a:pPr>
              <a:r>
                <a:t>🎨 Metin Biçimlendirme</a:t>
              </a:r>
            </a:p>
          </p:txBody>
        </p:sp>
      </CT_Shape>
      <CT_Shape>
        <p:sp>
          <p:nvSpPr>
            <p:cNvPr id="3" name="Content Placeholder 2"/>
            <p:cNvSpPr>
              <a:spLocks noGrp="1"/>
            </p:cNvSpPr>
            <p:nvPr>
              <p:ph idx="1"/>
            </p:nvPr>
          </p:nvSpPr>
          <p:spPr/>
          <p:txBody>
            <a:bodyPr/>
            <a:lstStyle/>
            <a:p/>
          </p:txBody>
        </p:sp>
      </CT_Shape>
      <CT_Shape>
        <p:sp>
          <p:nvSpPr>
            <p:cNvPr id="4" name="TextBox 3"/>
            <p:cNvSpPr txBox="1"/>
            <p:nvPr/>
          </p:nvSpPr>
          <p:spPr>
            <a:xfrm>
              <a:off x="914400" y="1828800"/>
              <a:ext cx="7315200" cy="4572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/>
            <a:p>
              <a:pPr>
                <a:spcAft>
                  <a:spcPts val="1000"/>
                </a:spcAft>
                <a:defRPr sz="1900"/>
              </a:pPr>
              <a:r>
                <a:t>Metni güzelleştirmek ve vurgu yapmak</a:t>
              </a:r>
            </a:p>
            <a:p>
              <a:pPr>
                <a:spcAft>
                  <a:spcPts val="1000"/>
                </a:spcAft>
                <a:defRPr sz="1900"/>
              </a:pPr>
            </a:p>
            <a:p>
              <a:pPr>
                <a:spcAft>
                  <a:spcPts val="1000"/>
                </a:spcAft>
                <a:defRPr sz="1900"/>
              </a:pPr>
              <a:r>
                <a:t>✅ Yazı Tipi (Font):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Arial, Times New Roman, Calibri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Resmi belgeler: Times New Roman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Modern: Calibri, Arial</a:t>
              </a:r>
            </a:p>
            <a:p>
              <a:pPr>
                <a:spcAft>
                  <a:spcPts val="1000"/>
                </a:spcAft>
                <a:defRPr sz="1900"/>
              </a:pPr>
            </a:p>
            <a:p>
              <a:pPr>
                <a:spcAft>
                  <a:spcPts val="1000"/>
                </a:spcAft>
                <a:defRPr sz="1900"/>
              </a:pPr>
              <a:r>
                <a:t>✅ Boyut: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Başlıklar: 14-18 pt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Normal metin: 11-12 pt</a:t>
              </a:r>
            </a:p>
            <a:p>
              <a:pPr>
                <a:spcAft>
                  <a:spcPts val="1000"/>
                </a:spcAft>
                <a:defRPr sz="1900"/>
              </a:pPr>
            </a:p>
            <a:p>
              <a:pPr>
                <a:spcAft>
                  <a:spcPts val="1000"/>
                </a:spcAft>
                <a:defRPr sz="1900"/>
              </a:pPr>
              <a:r>
                <a:t>✅ Stil: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Kalın (Bold): Ctrl+B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İtalik: Ctrl+I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Altı Çizili: Ctrl+U</a:t>
              </a:r>
            </a:p>
            <a:p>
              <a:pPr>
                <a:spcAft>
                  <a:spcPts val="1000"/>
                </a:spcAft>
                <a:defRPr sz="1900"/>
              </a:pPr>
            </a:p>
            <a:p>
              <a:pPr>
                <a:spcAft>
                  <a:spcPts val="1000"/>
                </a:spcAft>
                <a:defRPr sz="1900"/>
              </a:pPr>
              <a:r>
                <a:t>✅ Renk: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Siyah = Normal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Renkler = Vurgu için</a:t>
              </a:r>
            </a:p>
            <a:p>
              <a:pPr>
                <a:spcAft>
                  <a:spcPts val="1000"/>
                </a:spcAft>
                <a:defRPr sz="1900"/>
              </a:pPr>
            </a:p>
            <a:p>
              <a:pPr>
                <a:spcAft>
                  <a:spcPts val="1000"/>
                </a:spcAft>
                <a:defRPr sz="1900"/>
              </a:pPr>
              <a:r>
                <a:t>💡 Fazla biçimlendirme karmaşık görünür!</a:t>
              </a:r>
            </a:p>
          </p:txBody>
        </p:sp>
      </CT_Shap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CT_Shape>
        <p:sp>
          <p:nvSpPr>
            <p:cNvPr id="2" name="Title 1"/>
            <p:cNvSpPr>
              <a:spLocks noGrp="1"/>
            </p:cNvSpPr>
            <p:nvPr>
              <p:ph type="title"/>
            </p:nvPr>
          </p:nvSpPr>
          <p:spPr/>
          <p:txBody>
            <a:bodyPr/>
            <a:lstStyle/>
            <a:p>
              <a:pPr>
                <a:defRPr sz="3800" b="1">
                  <a:solidFill>
                    <a:srgbClr val="764BA2"/>
                  </a:solidFill>
                </a:defRPr>
              </a:pPr>
              <a:r>
                <a:t>📐 Paragraf Ayarları</a:t>
              </a:r>
            </a:p>
          </p:txBody>
        </p:sp>
      </CT_Shape>
      <CT_Shape>
        <p:sp>
          <p:nvSpPr>
            <p:cNvPr id="3" name="Content Placeholder 2"/>
            <p:cNvSpPr>
              <a:spLocks noGrp="1"/>
            </p:cNvSpPr>
            <p:nvPr>
              <p:ph idx="1"/>
            </p:nvPr>
          </p:nvSpPr>
          <p:spPr/>
          <p:txBody>
            <a:bodyPr/>
            <a:lstStyle/>
            <a:p/>
          </p:txBody>
        </p:sp>
      </CT_Shape>
      <CT_Shape>
        <p:sp>
          <p:nvSpPr>
            <p:cNvPr id="4" name="TextBox 3"/>
            <p:cNvSpPr txBox="1"/>
            <p:nvPr/>
          </p:nvSpPr>
          <p:spPr>
            <a:xfrm>
              <a:off x="914400" y="1828800"/>
              <a:ext cx="7315200" cy="4572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/>
            <a:p>
              <a:pPr>
                <a:spcAft>
                  <a:spcPts val="1000"/>
                </a:spcAft>
                <a:defRPr sz="1900"/>
              </a:pPr>
              <a:r>
                <a:t>Paragrafları düzenlemek</a:t>
              </a:r>
            </a:p>
            <a:p>
              <a:pPr>
                <a:spcAft>
                  <a:spcPts val="1000"/>
                </a:spcAft>
                <a:defRPr sz="1900"/>
              </a:pPr>
            </a:p>
            <a:p>
              <a:pPr>
                <a:spcAft>
                  <a:spcPts val="1000"/>
                </a:spcAft>
                <a:defRPr sz="1900"/>
              </a:pPr>
              <a:r>
                <a:t>✅ Hizalama: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Sola: Ctrl+L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Ortala: Ctrl+E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Sağa: Ctrl+R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İki Yana Yasla: Ctrl+J (resmi belgeler)</a:t>
              </a:r>
            </a:p>
            <a:p>
              <a:pPr>
                <a:spcAft>
                  <a:spcPts val="1000"/>
                </a:spcAft>
                <a:defRPr sz="1900"/>
              </a:pPr>
            </a:p>
            <a:p>
              <a:pPr>
                <a:spcAft>
                  <a:spcPts val="1000"/>
                </a:spcAft>
                <a:defRPr sz="1900"/>
              </a:pPr>
              <a:r>
                <a:t>✅ Satır Aralığı: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Tek: Normal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1.5: Ödev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2: Çift aralık</a:t>
              </a:r>
            </a:p>
            <a:p>
              <a:pPr>
                <a:spcAft>
                  <a:spcPts val="1000"/>
                </a:spcAft>
                <a:defRPr sz="1900"/>
              </a:pPr>
            </a:p>
            <a:p>
              <a:pPr>
                <a:spcAft>
                  <a:spcPts val="1000"/>
                </a:spcAft>
                <a:defRPr sz="1900"/>
              </a:pPr>
              <a:r>
                <a:t>✅ Girintiler: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İlk satır girintisi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Sol/Sağ girinti</a:t>
              </a:r>
            </a:p>
            <a:p>
              <a:pPr>
                <a:spcAft>
                  <a:spcPts val="1000"/>
                </a:spcAft>
                <a:defRPr sz="1900"/>
              </a:pPr>
            </a:p>
            <a:p>
              <a:pPr>
                <a:spcAft>
                  <a:spcPts val="1000"/>
                </a:spcAft>
                <a:defRPr sz="1900"/>
              </a:pPr>
              <a:r>
                <a:t>✅ Madde İşaretleri: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Madde listesi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Numaralı liste</a:t>
              </a:r>
            </a:p>
            <a:p>
              <a:pPr>
                <a:spcAft>
                  <a:spcPts val="1000"/>
                </a:spcAft>
                <a:defRPr sz="1900"/>
              </a:pPr>
            </a:p>
            <a:p>
              <a:pPr>
                <a:spcAft>
                  <a:spcPts val="1000"/>
                </a:spcAft>
                <a:defRPr sz="1900"/>
              </a:pPr>
              <a:r>
                <a:t>💡 Resmi belgeler: İki yana yaslı, 1.5 satır aralığı</a:t>
              </a:r>
            </a:p>
          </p:txBody>
        </p:sp>
      </CT_Shape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CT_Shape>
        <p:sp>
          <p:nvSpPr>
            <p:cNvPr id="2" name="Title 1"/>
            <p:cNvSpPr>
              <a:spLocks noGrp="1"/>
            </p:cNvSpPr>
            <p:nvPr>
              <p:ph type="title"/>
            </p:nvPr>
          </p:nvSpPr>
          <p:spPr/>
          <p:txBody>
            <a:bodyPr/>
            <a:lstStyle/>
            <a:p>
              <a:pPr>
                <a:defRPr sz="3800" b="1">
                  <a:solidFill>
                    <a:srgbClr val="764BA2"/>
                  </a:solidFill>
                </a:defRPr>
              </a:pPr>
              <a:r>
                <a:t>🖼️ Görsel ve Şekil Ekleme</a:t>
              </a:r>
            </a:p>
          </p:txBody>
        </p:sp>
      </CT_Shape>
      <CT_Shape>
        <p:sp>
          <p:nvSpPr>
            <p:cNvPr id="3" name="Content Placeholder 2"/>
            <p:cNvSpPr>
              <a:spLocks noGrp="1"/>
            </p:cNvSpPr>
            <p:nvPr>
              <p:ph idx="1"/>
            </p:nvPr>
          </p:nvSpPr>
          <p:spPr/>
          <p:txBody>
            <a:bodyPr/>
            <a:lstStyle/>
            <a:p/>
          </p:txBody>
        </p:sp>
      </CT_Shape>
      <CT_Shape>
        <p:sp>
          <p:nvSpPr>
            <p:cNvPr id="4" name="TextBox 3"/>
            <p:cNvSpPr txBox="1"/>
            <p:nvPr/>
          </p:nvSpPr>
          <p:spPr>
            <a:xfrm>
              <a:off x="914400" y="1828800"/>
              <a:ext cx="7315200" cy="4572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/>
            <a:p>
              <a:pPr>
                <a:spcAft>
                  <a:spcPts val="1000"/>
                </a:spcAft>
                <a:defRPr sz="1900"/>
              </a:pPr>
              <a:r>
                <a:t>Belgeye görsel katmak</a:t>
              </a:r>
            </a:p>
            <a:p>
              <a:pPr>
                <a:spcAft>
                  <a:spcPts val="1000"/>
                </a:spcAft>
                <a:defRPr sz="1900"/>
              </a:pPr>
            </a:p>
            <a:p>
              <a:pPr>
                <a:spcAft>
                  <a:spcPts val="1000"/>
                </a:spcAft>
                <a:defRPr sz="1900"/>
              </a:pPr>
              <a:r>
                <a:t>✅ Resim Ekleme: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Ekle → Resim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Bilgisayardan yükle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İnternetten ara (dikkat: telif!)</a:t>
              </a:r>
            </a:p>
            <a:p>
              <a:pPr>
                <a:spcAft>
                  <a:spcPts val="1000"/>
                </a:spcAft>
                <a:defRPr sz="1900"/>
              </a:pPr>
            </a:p>
            <a:p>
              <a:pPr>
                <a:spcAft>
                  <a:spcPts val="1000"/>
                </a:spcAft>
                <a:defRPr sz="1900"/>
              </a:pPr>
              <a:r>
                <a:t>✅ Resim Düzenleme: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Boyutlandır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Kırp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Metin sarma (çevreleme)</a:t>
              </a:r>
            </a:p>
            <a:p>
              <a:pPr>
                <a:spcAft>
                  <a:spcPts val="1000"/>
                </a:spcAft>
                <a:defRPr sz="1900"/>
              </a:pPr>
            </a:p>
            <a:p>
              <a:pPr>
                <a:spcAft>
                  <a:spcPts val="1000"/>
                </a:spcAft>
                <a:defRPr sz="1900"/>
              </a:pPr>
              <a:r>
                <a:t>✅ Şekiller: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Dikdörtgen, daire, ok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Akış diyagramı şekilleri</a:t>
              </a:r>
            </a:p>
            <a:p>
              <a:pPr>
                <a:spcAft>
                  <a:spcPts val="1000"/>
                </a:spcAft>
                <a:defRPr sz="1900"/>
              </a:pPr>
            </a:p>
            <a:p>
              <a:pPr>
                <a:spcAft>
                  <a:spcPts val="1000"/>
                </a:spcAft>
                <a:defRPr sz="1900"/>
              </a:pPr>
              <a:r>
                <a:t>✅ SmartArt: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Şemalar, grafikler</a:t>
              </a:r>
            </a:p>
            <a:p>
              <a:pPr>
                <a:spcAft>
                  <a:spcPts val="1000"/>
                </a:spcAft>
                <a:defRPr sz="1900"/>
              </a:pPr>
            </a:p>
            <a:p>
              <a:pPr>
                <a:spcAft>
                  <a:spcPts val="1000"/>
                </a:spcAft>
                <a:defRPr sz="1900"/>
              </a:pPr>
              <a:r>
                <a:t>⚠️ Telif Hakkı: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Başkasının resmini kullanırken kaynak göster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Ücretsiz resim siteleri: Unsplash, Pixabay</a:t>
              </a:r>
            </a:p>
          </p:txBody>
        </p:sp>
      </CT_Shap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CT_Shape>
        <p:sp>
          <p:nvSpPr>
            <p:cNvPr id="2" name="Title 1"/>
            <p:cNvSpPr>
              <a:spLocks noGrp="1"/>
            </p:cNvSpPr>
            <p:nvPr>
              <p:ph type="title"/>
            </p:nvPr>
          </p:nvSpPr>
          <p:spPr/>
          <p:txBody>
            <a:bodyPr/>
            <a:lstStyle/>
            <a:p>
              <a:pPr>
                <a:defRPr sz="3800" b="1">
                  <a:solidFill>
                    <a:srgbClr val="764BA2"/>
                  </a:solidFill>
                </a:defRPr>
              </a:pPr>
              <a:r>
                <a:t>📊 Tablo Oluşturma</a:t>
              </a:r>
            </a:p>
          </p:txBody>
        </p:sp>
      </CT_Shape>
      <CT_Shape>
        <p:sp>
          <p:nvSpPr>
            <p:cNvPr id="3" name="Content Placeholder 2"/>
            <p:cNvSpPr>
              <a:spLocks noGrp="1"/>
            </p:cNvSpPr>
            <p:nvPr>
              <p:ph idx="1"/>
            </p:nvPr>
          </p:nvSpPr>
          <p:spPr/>
          <p:txBody>
            <a:bodyPr/>
            <a:lstStyle/>
            <a:p/>
          </p:txBody>
        </p:sp>
      </CT_Shape>
      <CT_Shape>
        <p:sp>
          <p:nvSpPr>
            <p:cNvPr id="4" name="TextBox 3"/>
            <p:cNvSpPr txBox="1"/>
            <p:nvPr/>
          </p:nvSpPr>
          <p:spPr>
            <a:xfrm>
              <a:off x="914400" y="1828800"/>
              <a:ext cx="7315200" cy="4572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/>
            <a:p>
              <a:pPr>
                <a:spcAft>
                  <a:spcPts val="1000"/>
                </a:spcAft>
                <a:defRPr sz="1900"/>
              </a:pPr>
              <a:r>
                <a:t>Word'de tablo yapmak</a:t>
              </a:r>
            </a:p>
            <a:p>
              <a:pPr>
                <a:spcAft>
                  <a:spcPts val="1000"/>
                </a:spcAft>
                <a:defRPr sz="1900"/>
              </a:pPr>
            </a:p>
            <a:p>
              <a:pPr>
                <a:spcAft>
                  <a:spcPts val="1000"/>
                </a:spcAft>
                <a:defRPr sz="1900"/>
              </a:pPr>
              <a:r>
                <a:t>✅ Tablo Ekleme: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Ekle → Tablo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Satır ve sütun sayısı seç</a:t>
              </a:r>
            </a:p>
            <a:p>
              <a:pPr>
                <a:spcAft>
                  <a:spcPts val="1000"/>
                </a:spcAft>
                <a:defRPr sz="1900"/>
              </a:pPr>
            </a:p>
            <a:p>
              <a:pPr>
                <a:spcAft>
                  <a:spcPts val="1000"/>
                </a:spcAft>
                <a:defRPr sz="1900"/>
              </a:pPr>
              <a:r>
                <a:t>✅ Tablo Düzenleme: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Satır/Sütun ekle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Satır/Sütun sil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Hücreleri birleştir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Hücreleri böl</a:t>
              </a:r>
            </a:p>
            <a:p>
              <a:pPr>
                <a:spcAft>
                  <a:spcPts val="1000"/>
                </a:spcAft>
                <a:defRPr sz="1900"/>
              </a:pPr>
            </a:p>
            <a:p>
              <a:pPr>
                <a:spcAft>
                  <a:spcPts val="1000"/>
                </a:spcAft>
                <a:defRPr sz="1900"/>
              </a:pPr>
              <a:r>
                <a:t>✅ Tablo Biçimlendirme: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Kenarlıklar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Arka plan rengi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Tablo stilleri (hazır)</a:t>
              </a:r>
            </a:p>
            <a:p>
              <a:pPr>
                <a:spcAft>
                  <a:spcPts val="1000"/>
                </a:spcAft>
                <a:defRPr sz="1900"/>
              </a:pPr>
            </a:p>
            <a:p>
              <a:pPr>
                <a:spcAft>
                  <a:spcPts val="1000"/>
                </a:spcAft>
                <a:defRPr sz="1900"/>
              </a:pPr>
              <a:r>
                <a:t>📌 Örnek Kullanım: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Ders programı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Karşılaştırma tablosu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Veri gösterimi</a:t>
              </a:r>
            </a:p>
            <a:p>
              <a:pPr>
                <a:spcAft>
                  <a:spcPts val="1000"/>
                </a:spcAft>
                <a:defRPr sz="1900"/>
              </a:pPr>
            </a:p>
            <a:p>
              <a:pPr>
                <a:spcAft>
                  <a:spcPts val="1000"/>
                </a:spcAft>
                <a:defRPr sz="1900"/>
              </a:pPr>
              <a:r>
                <a:t>💡 Excel'den tablo kopyalayabilirsin</a:t>
              </a:r>
            </a:p>
          </p:txBody>
        </p:sp>
      </CT_Shap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CT_Shape>
        <p:sp>
          <p:nvSpPr>
            <p:cNvPr id="2" name="Title 1"/>
            <p:cNvSpPr>
              <a:spLocks noGrp="1"/>
            </p:cNvSpPr>
            <p:nvPr>
              <p:ph type="title"/>
            </p:nvPr>
          </p:nvSpPr>
          <p:spPr/>
          <p:txBody>
            <a:bodyPr/>
            <a:lstStyle/>
            <a:p>
              <a:pPr>
                <a:defRPr sz="3800" b="1">
                  <a:solidFill>
                    <a:srgbClr val="764BA2"/>
                  </a:solidFill>
                </a:defRPr>
              </a:pPr>
              <a:r>
                <a:t>📄 Sayfa Düzeni</a:t>
              </a:r>
            </a:p>
          </p:txBody>
        </p:sp>
      </CT_Shape>
      <CT_Shape>
        <p:sp>
          <p:nvSpPr>
            <p:cNvPr id="3" name="Content Placeholder 2"/>
            <p:cNvSpPr>
              <a:spLocks noGrp="1"/>
            </p:cNvSpPr>
            <p:nvPr>
              <p:ph idx="1"/>
            </p:nvPr>
          </p:nvSpPr>
          <p:spPr/>
          <p:txBody>
            <a:bodyPr/>
            <a:lstStyle/>
            <a:p/>
          </p:txBody>
        </p:sp>
      </CT_Shape>
      <CT_Shape>
        <p:sp>
          <p:nvSpPr>
            <p:cNvPr id="4" name="TextBox 3"/>
            <p:cNvSpPr txBox="1"/>
            <p:nvPr/>
          </p:nvSpPr>
          <p:spPr>
            <a:xfrm>
              <a:off x="914400" y="1828800"/>
              <a:ext cx="7315200" cy="4572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/>
            <a:p>
              <a:pPr>
                <a:spcAft>
                  <a:spcPts val="1000"/>
                </a:spcAft>
                <a:defRPr sz="1900"/>
              </a:pPr>
              <a:r>
                <a:t>Sayfayı ayarlamak</a:t>
              </a:r>
            </a:p>
            <a:p>
              <a:pPr>
                <a:spcAft>
                  <a:spcPts val="1000"/>
                </a:spcAft>
                <a:defRPr sz="1900"/>
              </a:pPr>
            </a:p>
            <a:p>
              <a:pPr>
                <a:spcAft>
                  <a:spcPts val="1000"/>
                </a:spcAft>
                <a:defRPr sz="1900"/>
              </a:pPr>
              <a:r>
                <a:t>✅ Sayfa Boyutu: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A4 (standart)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Letter</a:t>
              </a:r>
            </a:p>
            <a:p>
              <a:pPr>
                <a:spcAft>
                  <a:spcPts val="1000"/>
                </a:spcAft>
                <a:defRPr sz="1900"/>
              </a:pPr>
            </a:p>
            <a:p>
              <a:pPr>
                <a:spcAft>
                  <a:spcPts val="1000"/>
                </a:spcAft>
                <a:defRPr sz="1900"/>
              </a:pPr>
              <a:r>
                <a:t>✅ Yönlendirme: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Dikey (Portrait) - Normal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Yatay (Landscape) - Geniş tablolar</a:t>
              </a:r>
            </a:p>
            <a:p>
              <a:pPr>
                <a:spcAft>
                  <a:spcPts val="1000"/>
                </a:spcAft>
                <a:defRPr sz="1900"/>
              </a:pPr>
            </a:p>
            <a:p>
              <a:pPr>
                <a:spcAft>
                  <a:spcPts val="1000"/>
                </a:spcAft>
                <a:defRPr sz="1900"/>
              </a:pPr>
              <a:r>
                <a:t>✅ Kenar Boşlukları: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Normal: 2.5 cm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Dar: 1.27 cm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Geniş: 5 cm</a:t>
              </a:r>
            </a:p>
            <a:p>
              <a:pPr>
                <a:spcAft>
                  <a:spcPts val="1000"/>
                </a:spcAft>
                <a:defRPr sz="1900"/>
              </a:pPr>
            </a:p>
            <a:p>
              <a:pPr>
                <a:spcAft>
                  <a:spcPts val="1000"/>
                </a:spcAft>
                <a:defRPr sz="1900"/>
              </a:pPr>
              <a:r>
                <a:t>✅ Üstbilgi/Altbilgi: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Başlık, tarih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Sayfa numarası</a:t>
              </a:r>
            </a:p>
            <a:p>
              <a:pPr>
                <a:spcAft>
                  <a:spcPts val="1000"/>
                </a:spcAft>
                <a:defRPr sz="1900"/>
              </a:pPr>
            </a:p>
            <a:p>
              <a:pPr>
                <a:spcAft>
                  <a:spcPts val="1000"/>
                </a:spcAft>
                <a:defRPr sz="1900"/>
              </a:pPr>
              <a:r>
                <a:t>✅ Sütunlar: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Tek sütun: Normal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İki sütun: Gazete formatı</a:t>
              </a:r>
            </a:p>
            <a:p>
              <a:pPr>
                <a:spcAft>
                  <a:spcPts val="1000"/>
                </a:spcAft>
                <a:defRPr sz="1900"/>
              </a:pPr>
            </a:p>
            <a:p>
              <a:pPr>
                <a:spcAft>
                  <a:spcPts val="1000"/>
                </a:spcAft>
                <a:defRPr sz="1900"/>
              </a:pPr>
              <a:r>
                <a:t>💡 Resmi ödevler için standart A4, dikey</a:t>
              </a:r>
            </a:p>
          </p:txBody>
        </p:sp>
      </CT_Shape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CT_Shape>
        <p:sp>
          <p:nvSpPr>
            <p:cNvPr id="2" name="Title 1"/>
            <p:cNvSpPr>
              <a:spLocks noGrp="1"/>
            </p:cNvSpPr>
            <p:nvPr>
              <p:ph type="title"/>
            </p:nvPr>
          </p:nvSpPr>
          <p:spPr/>
          <p:txBody>
            <a:bodyPr/>
            <a:lstStyle/>
            <a:p>
              <a:pPr>
                <a:defRPr sz="3800" b="1">
                  <a:solidFill>
                    <a:srgbClr val="764BA2"/>
                  </a:solidFill>
                </a:defRPr>
              </a:pPr>
              <a:r>
                <a:t>📚 Google Docs</a:t>
              </a:r>
            </a:p>
          </p:txBody>
        </p:sp>
      </CT_Shape>
      <CT_Shape>
        <p:sp>
          <p:nvSpPr>
            <p:cNvPr id="3" name="Content Placeholder 2"/>
            <p:cNvSpPr>
              <a:spLocks noGrp="1"/>
            </p:cNvSpPr>
            <p:nvPr>
              <p:ph idx="1"/>
            </p:nvPr>
          </p:nvSpPr>
          <p:spPr/>
          <p:txBody>
            <a:bodyPr/>
            <a:lstStyle/>
            <a:p/>
          </p:txBody>
        </p:sp>
      </CT_Shape>
      <CT_Shape>
        <p:sp>
          <p:nvSpPr>
            <p:cNvPr id="4" name="TextBox 3"/>
            <p:cNvSpPr txBox="1"/>
            <p:nvPr/>
          </p:nvSpPr>
          <p:spPr>
            <a:xfrm>
              <a:off x="914400" y="1828800"/>
              <a:ext cx="7315200" cy="4572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/>
            <a:p>
              <a:pPr>
                <a:spcAft>
                  <a:spcPts val="1000"/>
                </a:spcAft>
                <a:defRPr sz="1900"/>
              </a:pPr>
              <a:r>
                <a:t>Online kelime işlemci</a:t>
              </a:r>
            </a:p>
            <a:p>
              <a:pPr>
                <a:spcAft>
                  <a:spcPts val="1000"/>
                </a:spcAft>
                <a:defRPr sz="1900"/>
              </a:pPr>
            </a:p>
            <a:p>
              <a:pPr>
                <a:spcAft>
                  <a:spcPts val="1000"/>
                </a:spcAft>
                <a:defRPr sz="1900"/>
              </a:pPr>
              <a:r>
                <a:t>✅ Google Docs Avantajları: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Ücretsiz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Her yerden erişim (internet ile)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Otomatik kaydetme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İşbirlikli çalışma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Yorum yapma</a:t>
              </a:r>
            </a:p>
            <a:p>
              <a:pPr>
                <a:spcAft>
                  <a:spcPts val="1000"/>
                </a:spcAft>
                <a:defRPr sz="1900"/>
              </a:pPr>
            </a:p>
            <a:p>
              <a:pPr>
                <a:spcAft>
                  <a:spcPts val="1000"/>
                </a:spcAft>
                <a:defRPr sz="1900"/>
              </a:pPr>
              <a:r>
                <a:t>✅ Nasıl Kullanılır?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docs.google.com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Google hesabı ile giriş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Yeni belge oluştur</a:t>
              </a:r>
            </a:p>
            <a:p>
              <a:pPr>
                <a:spcAft>
                  <a:spcPts val="1000"/>
                </a:spcAft>
                <a:defRPr sz="1900"/>
              </a:pPr>
            </a:p>
            <a:p>
              <a:pPr>
                <a:spcAft>
                  <a:spcPts val="1000"/>
                </a:spcAft>
                <a:defRPr sz="1900"/>
              </a:pPr>
              <a:r>
                <a:t>✅ Paylaşma: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Paylaş butonu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E-posta ile paylaş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Link ile paylaş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İzinler: Görüntüleme, Yorum, Düzenleme</a:t>
              </a:r>
            </a:p>
            <a:p>
              <a:pPr>
                <a:spcAft>
                  <a:spcPts val="1000"/>
                </a:spcAft>
                <a:defRPr sz="1900"/>
              </a:pPr>
            </a:p>
            <a:p>
              <a:pPr>
                <a:spcAft>
                  <a:spcPts val="1000"/>
                </a:spcAft>
                <a:defRPr sz="1900"/>
              </a:pPr>
              <a:r>
                <a:t>💡 Grup ödevlerinde çok kullanışlı!</a:t>
              </a:r>
            </a:p>
            <a:p>
              <a:pPr>
                <a:spcAft>
                  <a:spcPts val="1000"/>
                </a:spcAft>
                <a:defRPr sz="1900"/>
              </a:pPr>
              <a:r>
                <a:t>Herkes aynı anda çalışabilir</a:t>
              </a:r>
            </a:p>
          </p:txBody>
        </p:sp>
      </CT_Shape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CT_Shape>
        <p:sp>
          <p:nvSpPr>
            <p:cNvPr id="2" name="Title 1"/>
            <p:cNvSpPr>
              <a:spLocks noGrp="1"/>
            </p:cNvSpPr>
            <p:nvPr>
              <p:ph type="title"/>
            </p:nvPr>
          </p:nvSpPr>
          <p:spPr/>
          <p:txBody>
            <a:bodyPr/>
            <a:lstStyle/>
            <a:p>
              <a:pPr>
                <a:defRPr sz="3800" b="1">
                  <a:solidFill>
                    <a:srgbClr val="764BA2"/>
                  </a:solidFill>
                </a:defRPr>
              </a:pPr>
              <a:r>
                <a:t>🤝 İşbirlikli Çalışma</a:t>
              </a:r>
            </a:p>
          </p:txBody>
        </p:sp>
      </CT_Shape>
      <CT_Shape>
        <p:sp>
          <p:nvSpPr>
            <p:cNvPr id="3" name="Content Placeholder 2"/>
            <p:cNvSpPr>
              <a:spLocks noGrp="1"/>
            </p:cNvSpPr>
            <p:nvPr>
              <p:ph idx="1"/>
            </p:nvPr>
          </p:nvSpPr>
          <p:spPr/>
          <p:txBody>
            <a:bodyPr/>
            <a:lstStyle/>
            <a:p/>
          </p:txBody>
        </p:sp>
      </CT_Shape>
      <CT_Shape>
        <p:sp>
          <p:nvSpPr>
            <p:cNvPr id="4" name="TextBox 3"/>
            <p:cNvSpPr txBox="1"/>
            <p:nvPr/>
          </p:nvSpPr>
          <p:spPr>
            <a:xfrm>
              <a:off x="914400" y="1828800"/>
              <a:ext cx="7315200" cy="4572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/>
            <a:p>
              <a:pPr>
                <a:spcAft>
                  <a:spcPts val="1000"/>
                </a:spcAft>
                <a:defRPr sz="1900"/>
              </a:pPr>
              <a:r>
                <a:t>Birlikte belge oluşturmak</a:t>
              </a:r>
            </a:p>
            <a:p>
              <a:pPr>
                <a:spcAft>
                  <a:spcPts val="1000"/>
                </a:spcAft>
                <a:defRPr sz="1900"/>
              </a:pPr>
            </a:p>
            <a:p>
              <a:pPr>
                <a:spcAft>
                  <a:spcPts val="1000"/>
                </a:spcAft>
                <a:defRPr sz="1900"/>
              </a:pPr>
              <a:r>
                <a:t>✅ Google Docs ile İşbirliği: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Aynı anda birden fazla kişi düzenler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Her kişi farklı renk ile görünür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Anlık değişiklikler</a:t>
              </a:r>
            </a:p>
            <a:p>
              <a:pPr>
                <a:spcAft>
                  <a:spcPts val="1000"/>
                </a:spcAft>
                <a:defRPr sz="1900"/>
              </a:pPr>
            </a:p>
            <a:p>
              <a:pPr>
                <a:spcAft>
                  <a:spcPts val="1000"/>
                </a:spcAft>
                <a:defRPr sz="1900"/>
              </a:pPr>
              <a:r>
                <a:t>✅ Yorumlar: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Metin seç → Yorum ekle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Geri bildirim ver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Öneri yap</a:t>
              </a:r>
            </a:p>
            <a:p>
              <a:pPr>
                <a:spcAft>
                  <a:spcPts val="1000"/>
                </a:spcAft>
                <a:defRPr sz="1900"/>
              </a:pPr>
            </a:p>
            <a:p>
              <a:pPr>
                <a:spcAft>
                  <a:spcPts val="1000"/>
                </a:spcAft>
                <a:defRPr sz="1900"/>
              </a:pPr>
              <a:r>
                <a:t>✅ Sürüm Geçmişi: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Dosya → Sürüm geçmişi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Eski halini gör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Geri dön</a:t>
              </a:r>
            </a:p>
            <a:p>
              <a:pPr>
                <a:spcAft>
                  <a:spcPts val="1000"/>
                </a:spcAft>
                <a:defRPr sz="1900"/>
              </a:pPr>
            </a:p>
            <a:p>
              <a:pPr>
                <a:spcAft>
                  <a:spcPts val="1000"/>
                </a:spcAft>
                <a:defRPr sz="1900"/>
              </a:pPr>
              <a:r>
                <a:t>✅ Etiket: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@isim ile etiketle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Bildirim gider</a:t>
              </a:r>
            </a:p>
            <a:p>
              <a:pPr>
                <a:spcAft>
                  <a:spcPts val="1000"/>
                </a:spcAft>
                <a:defRPr sz="1900"/>
              </a:pPr>
            </a:p>
            <a:p>
              <a:pPr>
                <a:spcAft>
                  <a:spcPts val="1000"/>
                </a:spcAft>
                <a:defRPr sz="1900"/>
              </a:pPr>
              <a:r>
                <a:t>💡 İşbirliği Kuralları: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Başkasının yazısını silme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Değişiklikleri yorum olarak öner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İletişim kur</a:t>
              </a:r>
            </a:p>
          </p:txBody>
        </p:sp>
      </CT_Shape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CT_Shape>
        <p:sp>
          <p:nvSpPr>
            <p:cNvPr id="2" name="Title 1"/>
            <p:cNvSpPr>
              <a:spLocks noGrp="1"/>
            </p:cNvSpPr>
            <p:nvPr>
              <p:ph type="title"/>
            </p:nvPr>
          </p:nvSpPr>
          <p:spPr/>
          <p:txBody>
            <a:bodyPr/>
            <a:lstStyle/>
            <a:p>
              <a:pPr>
                <a:defRPr sz="3800" b="1">
                  <a:solidFill>
                    <a:srgbClr val="764BA2"/>
                  </a:solidFill>
                </a:defRPr>
              </a:pPr>
              <a:r>
                <a:t>📝 Ünite Özeti</a:t>
              </a:r>
            </a:p>
          </p:txBody>
        </p:sp>
      </CT_Shape>
      <CT_Shape>
        <p:sp>
          <p:nvSpPr>
            <p:cNvPr id="3" name="Content Placeholder 2"/>
            <p:cNvSpPr>
              <a:spLocks noGrp="1"/>
            </p:cNvSpPr>
            <p:nvPr>
              <p:ph idx="1"/>
            </p:nvPr>
          </p:nvSpPr>
          <p:spPr/>
          <p:txBody>
            <a:bodyPr/>
            <a:lstStyle/>
            <a:p/>
          </p:txBody>
        </p:sp>
      </CT_Shape>
      <CT_Shape>
        <p:sp>
          <p:nvSpPr>
            <p:cNvPr id="4" name="TextBox 3"/>
            <p:cNvSpPr txBox="1"/>
            <p:nvPr/>
          </p:nvSpPr>
          <p:spPr>
            <a:xfrm>
              <a:off x="914400" y="1828800"/>
              <a:ext cx="7315200" cy="4572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/>
            <a:p>
              <a:pPr>
                <a:spcAft>
                  <a:spcPts val="1000"/>
                </a:spcAft>
                <a:defRPr sz="1900"/>
              </a:pPr>
              <a:r>
                <a:t>Bu ünitede neler öğrendik?</a:t>
              </a:r>
            </a:p>
            <a:p>
              <a:pPr>
                <a:spcAft>
                  <a:spcPts val="1000"/>
                </a:spcAft>
                <a:defRPr sz="1900"/>
              </a:pPr>
            </a:p>
            <a:p>
              <a:pPr>
                <a:spcAft>
                  <a:spcPts val="1000"/>
                </a:spcAft>
                <a:defRPr sz="1900"/>
              </a:pPr>
              <a:r>
                <a:t>✅ Kelime işlemci programları (Word, Google Docs)</a:t>
              </a:r>
            </a:p>
            <a:p>
              <a:pPr>
                <a:spcAft>
                  <a:spcPts val="1000"/>
                </a:spcAft>
                <a:defRPr sz="1900"/>
              </a:pPr>
              <a:r>
                <a:t>✅ Metin biçimlendirme (font, boyut, stil)</a:t>
              </a:r>
            </a:p>
            <a:p>
              <a:pPr>
                <a:spcAft>
                  <a:spcPts val="1000"/>
                </a:spcAft>
                <a:defRPr sz="1900"/>
              </a:pPr>
              <a:r>
                <a:t>✅ Paragraf ayarları (hizalama, aralık)</a:t>
              </a:r>
            </a:p>
            <a:p>
              <a:pPr>
                <a:spcAft>
                  <a:spcPts val="1000"/>
                </a:spcAft>
                <a:defRPr sz="1900"/>
              </a:pPr>
              <a:r>
                <a:t>✅ Görsel ve şekil ekleme</a:t>
              </a:r>
            </a:p>
            <a:p>
              <a:pPr>
                <a:spcAft>
                  <a:spcPts val="1000"/>
                </a:spcAft>
                <a:defRPr sz="1900"/>
              </a:pPr>
              <a:r>
                <a:t>✅ Tablo oluşturma ve düzenleme</a:t>
              </a:r>
            </a:p>
            <a:p>
              <a:pPr>
                <a:spcAft>
                  <a:spcPts val="1000"/>
                </a:spcAft>
                <a:defRPr sz="1900"/>
              </a:pPr>
              <a:r>
                <a:t>✅ Sayfa düzeni ayarları</a:t>
              </a:r>
            </a:p>
            <a:p>
              <a:pPr>
                <a:spcAft>
                  <a:spcPts val="1000"/>
                </a:spcAft>
                <a:defRPr sz="1900"/>
              </a:pPr>
              <a:r>
                <a:t>✅ Yazım denetimi</a:t>
              </a:r>
            </a:p>
            <a:p>
              <a:pPr>
                <a:spcAft>
                  <a:spcPts val="1000"/>
                </a:spcAft>
                <a:defRPr sz="1900"/>
              </a:pPr>
              <a:r>
                <a:t>✅ Google Docs kullanımı</a:t>
              </a:r>
            </a:p>
            <a:p>
              <a:pPr>
                <a:spcAft>
                  <a:spcPts val="1000"/>
                </a:spcAft>
                <a:defRPr sz="1900"/>
              </a:pPr>
              <a:r>
                <a:t>✅ İşbirlikli çalışma</a:t>
              </a:r>
            </a:p>
            <a:p>
              <a:pPr>
                <a:spcAft>
                  <a:spcPts val="1000"/>
                </a:spcAft>
                <a:defRPr sz="1900"/>
              </a:pPr>
            </a:p>
            <a:p>
              <a:pPr>
                <a:spcAft>
                  <a:spcPts val="1000"/>
                </a:spcAft>
                <a:defRPr sz="1900"/>
              </a:pPr>
              <a:r>
                <a:t>💡 Anahtar Mesaj:</a:t>
              </a:r>
            </a:p>
            <a:p>
              <a:pPr>
                <a:spcAft>
                  <a:spcPts val="1000"/>
                </a:spcAft>
                <a:defRPr sz="1900"/>
              </a:pPr>
              <a:r>
                <a:t>Profesyonel belgeler hazırlayabilirsin!</a:t>
              </a:r>
            </a:p>
            <a:p>
              <a:pPr>
                <a:spcAft>
                  <a:spcPts val="1000"/>
                </a:spcAft>
                <a:defRPr sz="1900"/>
              </a:pPr>
            </a:p>
            <a:p>
              <a:pPr>
                <a:spcAft>
                  <a:spcPts val="1000"/>
                </a:spcAft>
                <a:defRPr sz="1900"/>
              </a:pPr>
              <a:r>
                <a:t>🎯 Artık bir ofis programları uzmanısın!</a:t>
              </a:r>
            </a:p>
          </p:txBody>
        </p:sp>
      </CT_Shape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CT_Shape>
        <p:sp>
          <p:nvSpPr>
            <p:cNvPr id="2" name="TextBox 1"/>
            <p:cNvSpPr txBox="1"/>
            <p:nvPr/>
          </p:nvSpPr>
          <p:spPr>
            <a:xfrm>
              <a:off x="914400" y="2286000"/>
              <a:ext cx="7315200" cy="91440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>
                <a:defRPr sz="5400" b="1">
                  <a:solidFill>
                    <a:srgbClr val="FFFFFF"/>
                  </a:solidFill>
                </a:defRPr>
              </a:pPr>
              <a:r>
                <a:t>6. SINIF - ÜNİTE 3</a:t>
              </a:r>
            </a:p>
          </p:txBody>
        </p:sp>
      </CT_Shape>
      <CT_Shape>
        <p:sp>
          <p:nvSpPr>
            <p:cNvPr id="3" name="TextBox 2"/>
            <p:cNvSpPr txBox="1"/>
            <p:nvPr/>
          </p:nvSpPr>
          <p:spPr>
            <a:xfrm>
              <a:off x="914400" y="3474720"/>
              <a:ext cx="7315200" cy="7315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>
                <a:defRPr sz="2800">
                  <a:solidFill>
                    <a:srgbClr val="FFFFFF"/>
                  </a:solidFill>
                </a:defRPr>
              </a:pPr>
              <a:r>
                <a:t>Algoritmalar ve Problem Çözme</a:t>
              </a:r>
            </a:p>
          </p:txBody>
        </p:sp>
      </CT_Shape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CT_Shape>
        <p:sp>
          <p:nvSpPr>
            <p:cNvPr id="2" name="Title 1"/>
            <p:cNvSpPr>
              <a:spLocks noGrp="1"/>
            </p:cNvSpPr>
            <p:nvPr>
              <p:ph type="title"/>
            </p:nvPr>
          </p:nvSpPr>
          <p:spPr/>
          <p:txBody>
            <a:bodyPr/>
            <a:lstStyle/>
            <a:p>
              <a:pPr>
                <a:defRPr sz="3800" b="1">
                  <a:solidFill>
                    <a:srgbClr val="764BA2"/>
                  </a:solidFill>
                </a:defRPr>
              </a:pPr>
              <a:r>
                <a:t>📚 Ünitenin Konuları</a:t>
              </a:r>
            </a:p>
          </p:txBody>
        </p:sp>
      </CT_Shape>
      <CT_Shape>
        <p:sp>
          <p:nvSpPr>
            <p:cNvPr id="3" name="Content Placeholder 2"/>
            <p:cNvSpPr>
              <a:spLocks noGrp="1"/>
            </p:cNvSpPr>
            <p:nvPr>
              <p:ph idx="1"/>
            </p:nvPr>
          </p:nvSpPr>
          <p:spPr/>
          <p:txBody>
            <a:bodyPr/>
            <a:lstStyle/>
            <a:p/>
          </p:txBody>
        </p:sp>
      </CT_Shape>
      <CT_Shape>
        <p:sp>
          <p:nvSpPr>
            <p:cNvPr id="4" name="TextBox 3"/>
            <p:cNvSpPr txBox="1"/>
            <p:nvPr/>
          </p:nvSpPr>
          <p:spPr>
            <a:xfrm>
              <a:off x="914400" y="1828800"/>
              <a:ext cx="7315200" cy="4572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/>
            <a:p>
              <a:pPr>
                <a:spcAft>
                  <a:spcPts val="1000"/>
                </a:spcAft>
                <a:defRPr sz="1900"/>
              </a:pPr>
              <a:r>
                <a:t>Bu ünitede neler öğreneceğiz?</a:t>
              </a:r>
            </a:p>
            <a:p>
              <a:pPr>
                <a:spcAft>
                  <a:spcPts val="1000"/>
                </a:spcAft>
                <a:defRPr sz="1900"/>
              </a:pPr>
            </a:p>
            <a:p>
              <a:pPr>
                <a:spcAft>
                  <a:spcPts val="1000"/>
                </a:spcAft>
                <a:defRPr sz="1900"/>
              </a:pPr>
              <a:r>
                <a:t>✅ 1. Algoritma Nedir?</a:t>
              </a:r>
            </a:p>
            <a:p>
              <a:pPr>
                <a:spcAft>
                  <a:spcPts val="1000"/>
                </a:spcAft>
                <a:defRPr sz="1900"/>
              </a:pPr>
              <a:r>
                <a:t>✅ 2. Algoritma Örnekleri</a:t>
              </a:r>
            </a:p>
            <a:p>
              <a:pPr>
                <a:spcAft>
                  <a:spcPts val="1000"/>
                </a:spcAft>
                <a:defRPr sz="1900"/>
              </a:pPr>
              <a:r>
                <a:t>✅ 3. Akış Diyagramları</a:t>
              </a:r>
            </a:p>
            <a:p>
              <a:pPr>
                <a:spcAft>
                  <a:spcPts val="1000"/>
                </a:spcAft>
                <a:defRPr sz="1900"/>
              </a:pPr>
              <a:r>
                <a:t>✅ 4. Akış Diyagramı Sembolleri</a:t>
              </a:r>
            </a:p>
            <a:p>
              <a:pPr>
                <a:spcAft>
                  <a:spcPts val="1000"/>
                </a:spcAft>
                <a:defRPr sz="1900"/>
              </a:pPr>
              <a:r>
                <a:t>✅ 5. Sıralı Algoritmalar</a:t>
              </a:r>
            </a:p>
            <a:p>
              <a:pPr>
                <a:spcAft>
                  <a:spcPts val="1000"/>
                </a:spcAft>
                <a:defRPr sz="1900"/>
              </a:pPr>
              <a:r>
                <a:t>✅ 6. Seçimli Algoritmalar (If-Else)</a:t>
              </a:r>
            </a:p>
            <a:p>
              <a:pPr>
                <a:spcAft>
                  <a:spcPts val="1000"/>
                </a:spcAft>
                <a:defRPr sz="1900"/>
              </a:pPr>
              <a:r>
                <a:t>✅ 7. Döngülü Algoritmalar</a:t>
              </a:r>
            </a:p>
            <a:p>
              <a:pPr>
                <a:spcAft>
                  <a:spcPts val="1000"/>
                </a:spcAft>
                <a:defRPr sz="1900"/>
              </a:pPr>
              <a:r>
                <a:t>✅ 8. Problem Çözme Basamakları</a:t>
              </a:r>
            </a:p>
            <a:p>
              <a:pPr>
                <a:spcAft>
                  <a:spcPts val="1000"/>
                </a:spcAft>
                <a:defRPr sz="1900"/>
              </a:pPr>
              <a:r>
                <a:t>✅ 9. Algoritma Tasarımı</a:t>
              </a:r>
            </a:p>
            <a:p>
              <a:pPr>
                <a:spcAft>
                  <a:spcPts val="1000"/>
                </a:spcAft>
                <a:defRPr sz="1900"/>
              </a:pPr>
              <a:r>
                <a:t>✅ 10. Algoritma Analizi</a:t>
              </a:r>
            </a:p>
            <a:p>
              <a:pPr>
                <a:spcAft>
                  <a:spcPts val="1000"/>
                </a:spcAft>
                <a:defRPr sz="1900"/>
              </a:pPr>
            </a:p>
            <a:p>
              <a:pPr>
                <a:spcAft>
                  <a:spcPts val="1000"/>
                </a:spcAft>
                <a:defRPr sz="1900"/>
              </a:pPr>
              <a:r>
                <a:t>⏰ Süre: 3 Hafta</a:t>
              </a:r>
            </a:p>
            <a:p>
              <a:pPr>
                <a:spcAft>
                  <a:spcPts val="1000"/>
                </a:spcAft>
                <a:defRPr sz="1900"/>
              </a:pPr>
              <a:r>
                <a:t>🎯 Amaç: Problem çözme becerisi kazanmak!</a:t>
              </a:r>
            </a:p>
          </p:txBody>
        </p:sp>
      </CT_Shape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CT_Shape>
        <p:sp>
          <p:nvSpPr>
            <p:cNvPr id="2" name="Title 1"/>
            <p:cNvSpPr>
              <a:spLocks noGrp="1"/>
            </p:cNvSpPr>
            <p:nvPr>
              <p:ph type="title"/>
            </p:nvPr>
          </p:nvSpPr>
          <p:spPr/>
          <p:txBody>
            <a:bodyPr/>
            <a:lstStyle/>
            <a:p>
              <a:pPr>
                <a:defRPr sz="3800" b="1">
                  <a:solidFill>
                    <a:srgbClr val="764BA2"/>
                  </a:solidFill>
                </a:defRPr>
              </a:pPr>
              <a:r>
                <a:t>🧩 Algoritma Nedir?</a:t>
              </a:r>
            </a:p>
          </p:txBody>
        </p:sp>
      </CT_Shape>
      <CT_Shape>
        <p:sp>
          <p:nvSpPr>
            <p:cNvPr id="3" name="Content Placeholder 2"/>
            <p:cNvSpPr>
              <a:spLocks noGrp="1"/>
            </p:cNvSpPr>
            <p:nvPr>
              <p:ph idx="1"/>
            </p:nvPr>
          </p:nvSpPr>
          <p:spPr/>
          <p:txBody>
            <a:bodyPr/>
            <a:lstStyle/>
            <a:p/>
          </p:txBody>
        </p:sp>
      </CT_Shape>
      <CT_Shape>
        <p:sp>
          <p:nvSpPr>
            <p:cNvPr id="4" name="TextBox 3"/>
            <p:cNvSpPr txBox="1"/>
            <p:nvPr/>
          </p:nvSpPr>
          <p:spPr>
            <a:xfrm>
              <a:off x="914400" y="1828800"/>
              <a:ext cx="7315200" cy="4572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/>
            <a:p>
              <a:pPr>
                <a:spcAft>
                  <a:spcPts val="1000"/>
                </a:spcAft>
                <a:defRPr sz="1900"/>
              </a:pPr>
              <a:r>
                <a:t>Algoritma = Bir problemi çözme adımları</a:t>
              </a:r>
            </a:p>
            <a:p>
              <a:pPr>
                <a:spcAft>
                  <a:spcPts val="1000"/>
                </a:spcAft>
                <a:defRPr sz="1900"/>
              </a:pPr>
            </a:p>
            <a:p>
              <a:pPr>
                <a:spcAft>
                  <a:spcPts val="1000"/>
                </a:spcAft>
                <a:defRPr sz="1900"/>
              </a:pPr>
              <a:r>
                <a:t>✅ Algoritma Özellikleri: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Adımları var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Sıralı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Sonlu (biter)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Her adım net</a:t>
              </a:r>
            </a:p>
            <a:p>
              <a:pPr>
                <a:spcAft>
                  <a:spcPts val="1000"/>
                </a:spcAft>
                <a:defRPr sz="1900"/>
              </a:pPr>
            </a:p>
            <a:p>
              <a:pPr>
                <a:spcAft>
                  <a:spcPts val="1000"/>
                </a:spcAft>
                <a:defRPr sz="1900"/>
              </a:pPr>
              <a:r>
                <a:t>📌 Günlük Hayattan Örnek:</a:t>
              </a:r>
            </a:p>
            <a:p>
              <a:pPr>
                <a:spcAft>
                  <a:spcPts val="1000"/>
                </a:spcAft>
                <a:defRPr sz="1900"/>
              </a:pPr>
            </a:p>
            <a:p>
              <a:pPr>
                <a:spcAft>
                  <a:spcPts val="1000"/>
                </a:spcAft>
                <a:defRPr sz="1900"/>
              </a:pPr>
              <a:r>
                <a:t>🍞 Çay Yapma Algoritması:</a:t>
              </a:r>
            </a:p>
            <a:p>
              <a:pPr>
                <a:spcAft>
                  <a:spcPts val="1000"/>
                </a:spcAft>
                <a:defRPr sz="1900"/>
              </a:pPr>
              <a:r>
                <a:t>1. Çaydanlığı al</a:t>
              </a:r>
            </a:p>
            <a:p>
              <a:pPr>
                <a:spcAft>
                  <a:spcPts val="1000"/>
                </a:spcAft>
                <a:defRPr sz="1900"/>
              </a:pPr>
              <a:r>
                <a:t>2. Su doldur</a:t>
              </a:r>
            </a:p>
            <a:p>
              <a:pPr>
                <a:spcAft>
                  <a:spcPts val="1000"/>
                </a:spcAft>
                <a:defRPr sz="1900"/>
              </a:pPr>
              <a:r>
                <a:t>3. Ocağa koy</a:t>
              </a:r>
            </a:p>
            <a:p>
              <a:pPr>
                <a:spcAft>
                  <a:spcPts val="1000"/>
                </a:spcAft>
                <a:defRPr sz="1900"/>
              </a:pPr>
              <a:r>
                <a:t>4. Yak</a:t>
              </a:r>
            </a:p>
            <a:p>
              <a:pPr>
                <a:spcAft>
                  <a:spcPts val="1000"/>
                </a:spcAft>
                <a:defRPr sz="1900"/>
              </a:pPr>
              <a:r>
                <a:t>5. Kaynayana kadar bekle</a:t>
              </a:r>
            </a:p>
            <a:p>
              <a:pPr>
                <a:spcAft>
                  <a:spcPts val="1000"/>
                </a:spcAft>
                <a:defRPr sz="1900"/>
              </a:pPr>
              <a:r>
                <a:t>6. Çayı demlendirme</a:t>
              </a:r>
            </a:p>
            <a:p>
              <a:pPr>
                <a:spcAft>
                  <a:spcPts val="1000"/>
                </a:spcAft>
                <a:defRPr sz="1900"/>
              </a:pPr>
            </a:p>
            <a:p>
              <a:pPr>
                <a:spcAft>
                  <a:spcPts val="1000"/>
                </a:spcAft>
                <a:defRPr sz="1900"/>
              </a:pPr>
              <a:r>
                <a:t>💡 Her tarifin bir algoritması vardır!</a:t>
              </a:r>
            </a:p>
            <a:p>
              <a:pPr>
                <a:spcAft>
                  <a:spcPts val="1000"/>
                </a:spcAft>
                <a:defRPr sz="1900"/>
              </a:pPr>
              <a:r>
                <a:t>Bilgisayar programları da algoritma ile çalışır</a:t>
              </a:r>
            </a:p>
          </p:txBody>
        </p:sp>
      </CT_Shape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CT_Shape>
        <p:sp>
          <p:nvSpPr>
            <p:cNvPr id="2" name="Title 1"/>
            <p:cNvSpPr>
              <a:spLocks noGrp="1"/>
            </p:cNvSpPr>
            <p:nvPr>
              <p:ph type="title"/>
            </p:nvPr>
          </p:nvSpPr>
          <p:spPr/>
          <p:txBody>
            <a:bodyPr/>
            <a:lstStyle/>
            <a:p>
              <a:pPr>
                <a:defRPr sz="3800" b="1">
                  <a:solidFill>
                    <a:srgbClr val="764BA2"/>
                  </a:solidFill>
                </a:defRPr>
              </a:pPr>
              <a:r>
                <a:t>📊 Akış Diyagramı</a:t>
              </a:r>
            </a:p>
          </p:txBody>
        </p:sp>
      </CT_Shape>
      <CT_Shape>
        <p:sp>
          <p:nvSpPr>
            <p:cNvPr id="3" name="Content Placeholder 2"/>
            <p:cNvSpPr>
              <a:spLocks noGrp="1"/>
            </p:cNvSpPr>
            <p:nvPr>
              <p:ph idx="1"/>
            </p:nvPr>
          </p:nvSpPr>
          <p:spPr/>
          <p:txBody>
            <a:bodyPr/>
            <a:lstStyle/>
            <a:p/>
          </p:txBody>
        </p:sp>
      </CT_Shape>
      <CT_Shape>
        <p:sp>
          <p:nvSpPr>
            <p:cNvPr id="4" name="TextBox 3"/>
            <p:cNvSpPr txBox="1"/>
            <p:nvPr/>
          </p:nvSpPr>
          <p:spPr>
            <a:xfrm>
              <a:off x="914400" y="1828800"/>
              <a:ext cx="7315200" cy="4572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/>
            <a:p>
              <a:pPr>
                <a:spcAft>
                  <a:spcPts val="1000"/>
                </a:spcAft>
                <a:defRPr sz="1900"/>
              </a:pPr>
              <a:r>
                <a:t>Akış diyagramı = Algoritmanın görsel hali</a:t>
              </a:r>
            </a:p>
            <a:p>
              <a:pPr>
                <a:spcAft>
                  <a:spcPts val="1000"/>
                </a:spcAft>
                <a:defRPr sz="1900"/>
              </a:pPr>
            </a:p>
            <a:p>
              <a:pPr>
                <a:spcAft>
                  <a:spcPts val="1000"/>
                </a:spcAft>
                <a:defRPr sz="1900"/>
              </a:pPr>
              <a:r>
                <a:t>✅ Temel Semboller:</a:t>
              </a:r>
            </a:p>
            <a:p>
              <a:pPr>
                <a:spcAft>
                  <a:spcPts val="1000"/>
                </a:spcAft>
                <a:defRPr sz="1900"/>
              </a:pPr>
            </a:p>
            <a:p>
              <a:pPr>
                <a:spcAft>
                  <a:spcPts val="1000"/>
                </a:spcAft>
                <a:defRPr sz="1900"/>
              </a:pPr>
              <a:r>
                <a:t>⭕ Oval: Başla/Bitir</a:t>
              </a:r>
            </a:p>
            <a:p>
              <a:pPr>
                <a:spcAft>
                  <a:spcPts val="1000"/>
                </a:spcAft>
                <a:defRPr sz="1900"/>
              </a:pPr>
              <a:r>
                <a:t>▭ Dikdörtgen: İşlem</a:t>
              </a:r>
            </a:p>
            <a:p>
              <a:pPr>
                <a:spcAft>
                  <a:spcPts val="1000"/>
                </a:spcAft>
                <a:defRPr sz="1900"/>
              </a:pPr>
              <a:r>
                <a:t>◇ Baklava: Karar (If)</a:t>
              </a:r>
            </a:p>
            <a:p>
              <a:pPr>
                <a:spcAft>
                  <a:spcPts val="1000"/>
                </a:spcAft>
                <a:defRPr sz="1900"/>
              </a:pPr>
              <a:r>
                <a:t>⬜ Paralelkenar: Girdi/Çıktı</a:t>
              </a:r>
            </a:p>
            <a:p>
              <a:pPr>
                <a:spcAft>
                  <a:spcPts val="1000"/>
                </a:spcAft>
                <a:defRPr sz="1900"/>
              </a:pPr>
              <a:r>
                <a:t>→ Ok: Akış yönü</a:t>
              </a:r>
            </a:p>
            <a:p>
              <a:pPr>
                <a:spcAft>
                  <a:spcPts val="1000"/>
                </a:spcAft>
                <a:defRPr sz="1900"/>
              </a:pPr>
            </a:p>
            <a:p>
              <a:pPr>
                <a:spcAft>
                  <a:spcPts val="1000"/>
                </a:spcAft>
                <a:defRPr sz="1900"/>
              </a:pPr>
              <a:r>
                <a:t>📌 Örnek:</a:t>
              </a:r>
            </a:p>
            <a:p>
              <a:pPr>
                <a:spcAft>
                  <a:spcPts val="1000"/>
                </a:spcAft>
                <a:defRPr sz="1900"/>
              </a:pPr>
            </a:p>
            <a:p>
              <a:pPr>
                <a:spcAft>
                  <a:spcPts val="1000"/>
                </a:spcAft>
                <a:defRPr sz="1900"/>
              </a:pPr>
              <a:r>
                <a:t>[Başla]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↓</a:t>
              </a:r>
            </a:p>
            <a:p>
              <a:pPr>
                <a:spcAft>
                  <a:spcPts val="1000"/>
                </a:spcAft>
                <a:defRPr sz="1900"/>
              </a:pPr>
              <a:r>
                <a:t>[Sayı Gir]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↓</a:t>
              </a:r>
            </a:p>
            <a:p>
              <a:pPr>
                <a:spcAft>
                  <a:spcPts val="1000"/>
                </a:spcAft>
                <a:defRPr sz="1900"/>
              </a:pPr>
              <a:r>
                <a:t>[Sayı&gt;0?]</a:t>
              </a:r>
            </a:p>
            <a:p>
              <a:pPr>
                <a:spcAft>
                  <a:spcPts val="1000"/>
                </a:spcAft>
                <a:defRPr sz="1900"/>
              </a:pPr>
              <a:r>
                <a:t>  ↙    ↘</a:t>
              </a:r>
            </a:p>
            <a:p>
              <a:pPr>
                <a:spcAft>
                  <a:spcPts val="1000"/>
                </a:spcAft>
                <a:defRPr sz="1900"/>
              </a:pPr>
              <a:r>
                <a:t>[Pozitif][Negatif]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↓</a:t>
              </a:r>
            </a:p>
            <a:p>
              <a:pPr>
                <a:spcAft>
                  <a:spcPts val="1000"/>
                </a:spcAft>
                <a:defRPr sz="1900"/>
              </a:pPr>
              <a:r>
                <a:t>[Bitir]</a:t>
              </a:r>
            </a:p>
            <a:p>
              <a:pPr>
                <a:spcAft>
                  <a:spcPts val="1000"/>
                </a:spcAft>
                <a:defRPr sz="1900"/>
              </a:pPr>
            </a:p>
            <a:p>
              <a:pPr>
                <a:spcAft>
                  <a:spcPts val="1000"/>
                </a:spcAft>
                <a:defRPr sz="1900"/>
              </a:pPr>
              <a:r>
                <a:t>💡 Akış diyagramı kod yazmadan önce kullanılır</a:t>
              </a:r>
            </a:p>
          </p:txBody>
        </p:sp>
      </CT_Shape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CT_Shape>
        <p:sp>
          <p:nvSpPr>
            <p:cNvPr id="2" name="Title 1"/>
            <p:cNvSpPr>
              <a:spLocks noGrp="1"/>
            </p:cNvSpPr>
            <p:nvPr>
              <p:ph type="title"/>
            </p:nvPr>
          </p:nvSpPr>
          <p:spPr/>
          <p:txBody>
            <a:bodyPr/>
            <a:lstStyle/>
            <a:p>
              <a:pPr>
                <a:defRPr sz="3800" b="1">
                  <a:solidFill>
                    <a:srgbClr val="764BA2"/>
                  </a:solidFill>
                </a:defRPr>
              </a:pPr>
              <a:r>
                <a:t>🔀 Seçimli Yapılar</a:t>
              </a:r>
            </a:p>
          </p:txBody>
        </p:sp>
      </CT_Shape>
      <CT_Shape>
        <p:sp>
          <p:nvSpPr>
            <p:cNvPr id="3" name="Content Placeholder 2"/>
            <p:cNvSpPr>
              <a:spLocks noGrp="1"/>
            </p:cNvSpPr>
            <p:nvPr>
              <p:ph idx="1"/>
            </p:nvPr>
          </p:nvSpPr>
          <p:spPr/>
          <p:txBody>
            <a:bodyPr/>
            <a:lstStyle/>
            <a:p/>
          </p:txBody>
        </p:sp>
      </CT_Shape>
      <CT_Shape>
        <p:sp>
          <p:nvSpPr>
            <p:cNvPr id="4" name="TextBox 3"/>
            <p:cNvSpPr txBox="1"/>
            <p:nvPr/>
          </p:nvSpPr>
          <p:spPr>
            <a:xfrm>
              <a:off x="914400" y="1828800"/>
              <a:ext cx="7315200" cy="4572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/>
            <a:p>
              <a:pPr>
                <a:spcAft>
                  <a:spcPts val="1000"/>
                </a:spcAft>
                <a:defRPr sz="1900"/>
              </a:pPr>
              <a:r>
                <a:t>Karar verme yapıları</a:t>
              </a:r>
            </a:p>
            <a:p>
              <a:pPr>
                <a:spcAft>
                  <a:spcPts val="1000"/>
                </a:spcAft>
                <a:defRPr sz="1900"/>
              </a:pPr>
            </a:p>
            <a:p>
              <a:pPr>
                <a:spcAft>
                  <a:spcPts val="1000"/>
                </a:spcAft>
                <a:defRPr sz="1900"/>
              </a:pPr>
              <a:r>
                <a:t>✅ If (Eğer):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Koşul doğruysa yap</a:t>
              </a:r>
            </a:p>
            <a:p>
              <a:pPr>
                <a:spcAft>
                  <a:spcPts val="1000"/>
                </a:spcAft>
                <a:defRPr sz="1900"/>
              </a:pPr>
            </a:p>
            <a:p>
              <a:pPr>
                <a:spcAft>
                  <a:spcPts val="1000"/>
                </a:spcAft>
                <a:defRPr sz="1900"/>
              </a:pPr>
              <a:r>
                <a:t>✅ If-Else (Değilse):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Doğruysa A yap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Yanlışsa B yap</a:t>
              </a:r>
            </a:p>
            <a:p>
              <a:pPr>
                <a:spcAft>
                  <a:spcPts val="1000"/>
                </a:spcAft>
                <a:defRPr sz="1900"/>
              </a:pPr>
            </a:p>
            <a:p>
              <a:pPr>
                <a:spcAft>
                  <a:spcPts val="1000"/>
                </a:spcAft>
                <a:defRPr sz="1900"/>
              </a:pPr>
              <a:r>
                <a:t>📌 Örnek: Sınav Geçme</a:t>
              </a:r>
            </a:p>
            <a:p>
              <a:pPr>
                <a:spcAft>
                  <a:spcPts val="1000"/>
                </a:spcAft>
                <a:defRPr sz="1900"/>
              </a:pPr>
            </a:p>
            <a:p>
              <a:pPr>
                <a:spcAft>
                  <a:spcPts val="1000"/>
                </a:spcAft>
                <a:defRPr sz="1900"/>
              </a:pPr>
              <a:r>
                <a:t>Eğer not &gt;= 50 ise: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Geçti yaz</a:t>
              </a:r>
            </a:p>
            <a:p>
              <a:pPr>
                <a:spcAft>
                  <a:spcPts val="1000"/>
                </a:spcAft>
                <a:defRPr sz="1900"/>
              </a:pPr>
              <a:r>
                <a:t>Değilse: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Kaldı yaz</a:t>
              </a:r>
            </a:p>
            <a:p>
              <a:pPr>
                <a:spcAft>
                  <a:spcPts val="1000"/>
                </a:spcAft>
                <a:defRPr sz="1900"/>
              </a:pPr>
            </a:p>
            <a:p>
              <a:pPr>
                <a:spcAft>
                  <a:spcPts val="1000"/>
                </a:spcAft>
                <a:defRPr sz="1900"/>
              </a:pPr>
              <a:r>
                <a:t>💡 Günlük Hayat:</a:t>
              </a:r>
            </a:p>
            <a:p>
              <a:pPr>
                <a:spcAft>
                  <a:spcPts val="1000"/>
                </a:spcAft>
                <a:defRPr sz="1900"/>
              </a:pPr>
              <a:r>
                <a:t>Eğer yağmur yağıyorsa: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Şemsiye al</a:t>
              </a:r>
            </a:p>
            <a:p>
              <a:pPr>
                <a:spcAft>
                  <a:spcPts val="1000"/>
                </a:spcAft>
                <a:defRPr sz="1900"/>
              </a:pPr>
              <a:r>
                <a:t>Değilse: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Şemsiye alma</a:t>
              </a:r>
            </a:p>
            <a:p>
              <a:pPr>
                <a:spcAft>
                  <a:spcPts val="1000"/>
                </a:spcAft>
                <a:defRPr sz="1900"/>
              </a:pPr>
            </a:p>
            <a:p>
              <a:pPr>
                <a:spcAft>
                  <a:spcPts val="1000"/>
                </a:spcAft>
                <a:defRPr sz="1900"/>
              </a:pPr>
              <a:r>
                <a:t>🎯 Her karar bir seçimli yapıdır!</a:t>
              </a:r>
            </a:p>
          </p:txBody>
        </p:sp>
      </CT_Shape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CT_Shape>
        <p:sp>
          <p:nvSpPr>
            <p:cNvPr id="2" name="Title 1"/>
            <p:cNvSpPr>
              <a:spLocks noGrp="1"/>
            </p:cNvSpPr>
            <p:nvPr>
              <p:ph type="title"/>
            </p:nvPr>
          </p:nvSpPr>
          <p:spPr/>
          <p:txBody>
            <a:bodyPr/>
            <a:lstStyle/>
            <a:p>
              <a:pPr>
                <a:defRPr sz="3800" b="1">
                  <a:solidFill>
                    <a:srgbClr val="764BA2"/>
                  </a:solidFill>
                </a:defRPr>
              </a:pPr>
              <a:r>
                <a:t>🔁 Döngüler</a:t>
              </a:r>
            </a:p>
          </p:txBody>
        </p:sp>
      </CT_Shape>
      <CT_Shape>
        <p:sp>
          <p:nvSpPr>
            <p:cNvPr id="3" name="Content Placeholder 2"/>
            <p:cNvSpPr>
              <a:spLocks noGrp="1"/>
            </p:cNvSpPr>
            <p:nvPr>
              <p:ph idx="1"/>
            </p:nvPr>
          </p:nvSpPr>
          <p:spPr/>
          <p:txBody>
            <a:bodyPr/>
            <a:lstStyle/>
            <a:p/>
          </p:txBody>
        </p:sp>
      </CT_Shape>
      <CT_Shape>
        <p:sp>
          <p:nvSpPr>
            <p:cNvPr id="4" name="TextBox 3"/>
            <p:cNvSpPr txBox="1"/>
            <p:nvPr/>
          </p:nvSpPr>
          <p:spPr>
            <a:xfrm>
              <a:off x="914400" y="1828800"/>
              <a:ext cx="7315200" cy="4572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/>
            <a:p>
              <a:pPr>
                <a:spcAft>
                  <a:spcPts val="1000"/>
                </a:spcAft>
                <a:defRPr sz="1900"/>
              </a:pPr>
              <a:r>
                <a:t>Tekrar yapıları</a:t>
              </a:r>
            </a:p>
            <a:p>
              <a:pPr>
                <a:spcAft>
                  <a:spcPts val="1000"/>
                </a:spcAft>
                <a:defRPr sz="1900"/>
              </a:pPr>
            </a:p>
            <a:p>
              <a:pPr>
                <a:spcAft>
                  <a:spcPts val="1000"/>
                </a:spcAft>
                <a:defRPr sz="1900"/>
              </a:pPr>
              <a:r>
                <a:t>✅ Döngü Türleri:</a:t>
              </a:r>
            </a:p>
            <a:p>
              <a:pPr>
                <a:spcAft>
                  <a:spcPts val="1000"/>
                </a:spcAft>
                <a:defRPr sz="1900"/>
              </a:pPr>
            </a:p>
            <a:p>
              <a:pPr>
                <a:spcAft>
                  <a:spcPts val="1000"/>
                </a:spcAft>
                <a:defRPr sz="1900"/>
              </a:pPr>
              <a:r>
                <a:t>🔢 For Döngüsü: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Belirli sayıda tekrar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Örnek: 10 kez yaz</a:t>
              </a:r>
            </a:p>
            <a:p>
              <a:pPr>
                <a:spcAft>
                  <a:spcPts val="1000"/>
                </a:spcAft>
                <a:defRPr sz="1900"/>
              </a:pPr>
            </a:p>
            <a:p>
              <a:pPr>
                <a:spcAft>
                  <a:spcPts val="1000"/>
                </a:spcAft>
                <a:defRPr sz="1900"/>
              </a:pPr>
              <a:r>
                <a:t>❓ While Döngüsü: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Koşul sağlanana kadar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Örnek: Not 50'den büyük olana kadar sor</a:t>
              </a:r>
            </a:p>
            <a:p>
              <a:pPr>
                <a:spcAft>
                  <a:spcPts val="1000"/>
                </a:spcAft>
                <a:defRPr sz="1900"/>
              </a:pPr>
            </a:p>
            <a:p>
              <a:pPr>
                <a:spcAft>
                  <a:spcPts val="1000"/>
                </a:spcAft>
                <a:defRPr sz="1900"/>
              </a:pPr>
              <a:r>
                <a:t>📌 Örnek: 1'den 10'a Kadar Say</a:t>
              </a:r>
            </a:p>
            <a:p>
              <a:pPr>
                <a:spcAft>
                  <a:spcPts val="1000"/>
                </a:spcAft>
                <a:defRPr sz="1900"/>
              </a:pPr>
            </a:p>
            <a:p>
              <a:pPr>
                <a:spcAft>
                  <a:spcPts val="1000"/>
                </a:spcAft>
                <a:defRPr sz="1900"/>
              </a:pPr>
              <a:r>
                <a:t>Sayaç = 1</a:t>
              </a:r>
            </a:p>
            <a:p>
              <a:pPr>
                <a:spcAft>
                  <a:spcPts val="1000"/>
                </a:spcAft>
                <a:defRPr sz="1900"/>
              </a:pPr>
              <a:r>
                <a:t>1'den 10'a kadar tekrarla: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Sayacı yaz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Sayacı 1 arttır</a:t>
              </a:r>
            </a:p>
            <a:p>
              <a:pPr>
                <a:spcAft>
                  <a:spcPts val="1000"/>
                </a:spcAft>
                <a:defRPr sz="1900"/>
              </a:pPr>
            </a:p>
            <a:p>
              <a:pPr>
                <a:spcAft>
                  <a:spcPts val="1000"/>
                </a:spcAft>
                <a:defRPr sz="1900"/>
              </a:pPr>
              <a:r>
                <a:t>💡 Döngüler tekrarlı işler için kullanılır</a:t>
              </a:r>
            </a:p>
            <a:p>
              <a:pPr>
                <a:spcAft>
                  <a:spcPts val="1000"/>
                </a:spcAft>
                <a:defRPr sz="1900"/>
              </a:pPr>
            </a:p>
            <a:p>
              <a:pPr>
                <a:spcAft>
                  <a:spcPts val="1000"/>
                </a:spcAft>
                <a:defRPr sz="1900"/>
              </a:pPr>
              <a:r>
                <a:t>⚠️ Sonsuz döngü = Hiç bitmeyen döngü (hata!)</a:t>
              </a:r>
            </a:p>
          </p:txBody>
        </p:sp>
      </CT_Shape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CT_Shape>
        <p:sp>
          <p:nvSpPr>
            <p:cNvPr id="2" name="Title 1"/>
            <p:cNvSpPr>
              <a:spLocks noGrp="1"/>
            </p:cNvSpPr>
            <p:nvPr>
              <p:ph type="title"/>
            </p:nvPr>
          </p:nvSpPr>
          <p:spPr/>
          <p:txBody>
            <a:bodyPr/>
            <a:lstStyle/>
            <a:p>
              <a:pPr>
                <a:defRPr sz="3800" b="1">
                  <a:solidFill>
                    <a:srgbClr val="764BA2"/>
                  </a:solidFill>
                </a:defRPr>
              </a:pPr>
              <a:r>
                <a:t>🎯 Problem Çözme</a:t>
              </a:r>
            </a:p>
          </p:txBody>
        </p:sp>
      </CT_Shape>
      <CT_Shape>
        <p:sp>
          <p:nvSpPr>
            <p:cNvPr id="3" name="Content Placeholder 2"/>
            <p:cNvSpPr>
              <a:spLocks noGrp="1"/>
            </p:cNvSpPr>
            <p:nvPr>
              <p:ph idx="1"/>
            </p:nvPr>
          </p:nvSpPr>
          <p:spPr/>
          <p:txBody>
            <a:bodyPr/>
            <a:lstStyle/>
            <a:p/>
          </p:txBody>
        </p:sp>
      </CT_Shape>
      <CT_Shape>
        <p:sp>
          <p:nvSpPr>
            <p:cNvPr id="4" name="TextBox 3"/>
            <p:cNvSpPr txBox="1"/>
            <p:nvPr/>
          </p:nvSpPr>
          <p:spPr>
            <a:xfrm>
              <a:off x="914400" y="1828800"/>
              <a:ext cx="7315200" cy="4572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/>
            <a:p>
              <a:pPr>
                <a:spcAft>
                  <a:spcPts val="1000"/>
                </a:spcAft>
                <a:defRPr sz="1900"/>
              </a:pPr>
              <a:r>
                <a:t>Problemi nasıl çözeriz?</a:t>
              </a:r>
            </a:p>
            <a:p>
              <a:pPr>
                <a:spcAft>
                  <a:spcPts val="1000"/>
                </a:spcAft>
                <a:defRPr sz="1900"/>
              </a:pPr>
            </a:p>
            <a:p>
              <a:pPr>
                <a:spcAft>
                  <a:spcPts val="1000"/>
                </a:spcAft>
                <a:defRPr sz="1900"/>
              </a:pPr>
              <a:r>
                <a:t>✅ Problem Çözme Adımları:</a:t>
              </a:r>
            </a:p>
            <a:p>
              <a:pPr>
                <a:spcAft>
                  <a:spcPts val="1000"/>
                </a:spcAft>
                <a:defRPr sz="1900"/>
              </a:pPr>
            </a:p>
            <a:p>
              <a:pPr>
                <a:spcAft>
                  <a:spcPts val="1000"/>
                </a:spcAft>
                <a:defRPr sz="1900"/>
              </a:pPr>
              <a:r>
                <a:t>1️⃣ Problemi Anla: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Ne isteniyor?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Girdi nedir?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Çıktı nedir?</a:t>
              </a:r>
            </a:p>
            <a:p>
              <a:pPr>
                <a:spcAft>
                  <a:spcPts val="1000"/>
                </a:spcAft>
                <a:defRPr sz="1900"/>
              </a:pPr>
            </a:p>
            <a:p>
              <a:pPr>
                <a:spcAft>
                  <a:spcPts val="1000"/>
                </a:spcAft>
                <a:defRPr sz="1900"/>
              </a:pPr>
              <a:r>
                <a:t>2️⃣ Plan Yap: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Algoritma tasarla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Akış diyagramı çiz</a:t>
              </a:r>
            </a:p>
            <a:p>
              <a:pPr>
                <a:spcAft>
                  <a:spcPts val="1000"/>
                </a:spcAft>
                <a:defRPr sz="1900"/>
              </a:pPr>
            </a:p>
            <a:p>
              <a:pPr>
                <a:spcAft>
                  <a:spcPts val="1000"/>
                </a:spcAft>
                <a:defRPr sz="1900"/>
              </a:pPr>
              <a:r>
                <a:t>3️⃣ Uygula: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Kodu yaz / adımları takip et</a:t>
              </a:r>
            </a:p>
            <a:p>
              <a:pPr>
                <a:spcAft>
                  <a:spcPts val="1000"/>
                </a:spcAft>
                <a:defRPr sz="1900"/>
              </a:pPr>
            </a:p>
            <a:p>
              <a:pPr>
                <a:spcAft>
                  <a:spcPts val="1000"/>
                </a:spcAft>
                <a:defRPr sz="1900"/>
              </a:pPr>
              <a:r>
                <a:t>4️⃣ Test Et: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Doğru çalışıyor mu?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Farklı değerler dene</a:t>
              </a:r>
            </a:p>
            <a:p>
              <a:pPr>
                <a:spcAft>
                  <a:spcPts val="1000"/>
                </a:spcAft>
                <a:defRPr sz="1900"/>
              </a:pPr>
            </a:p>
            <a:p>
              <a:pPr>
                <a:spcAft>
                  <a:spcPts val="1000"/>
                </a:spcAft>
                <a:defRPr sz="1900"/>
              </a:pPr>
              <a:r>
                <a:t>5️⃣ İyileştir: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Daha hızlı yapılabilir mi?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Daha basit olabilir mi?</a:t>
              </a:r>
            </a:p>
            <a:p>
              <a:pPr>
                <a:spcAft>
                  <a:spcPts val="1000"/>
                </a:spcAft>
                <a:defRPr sz="1900"/>
              </a:pPr>
            </a:p>
            <a:p>
              <a:pPr>
                <a:spcAft>
                  <a:spcPts val="1000"/>
                </a:spcAft>
                <a:defRPr sz="1900"/>
              </a:pPr>
              <a:r>
                <a:t>💡 Bu adımlar her problem için geçerli!</a:t>
              </a:r>
            </a:p>
          </p:txBody>
        </p:sp>
      </CT_Shape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CT_Shape>
        <p:sp>
          <p:nvSpPr>
            <p:cNvPr id="2" name="Title 1"/>
            <p:cNvSpPr>
              <a:spLocks noGrp="1"/>
            </p:cNvSpPr>
            <p:nvPr>
              <p:ph type="title"/>
            </p:nvPr>
          </p:nvSpPr>
          <p:spPr/>
          <p:txBody>
            <a:bodyPr/>
            <a:lstStyle/>
            <a:p>
              <a:pPr>
                <a:defRPr sz="3800" b="1">
                  <a:solidFill>
                    <a:srgbClr val="764BA2"/>
                  </a:solidFill>
                </a:defRPr>
              </a:pPr>
              <a:r>
                <a:t>📝 Ünite Özeti</a:t>
              </a:r>
            </a:p>
          </p:txBody>
        </p:sp>
      </CT_Shape>
      <CT_Shape>
        <p:sp>
          <p:nvSpPr>
            <p:cNvPr id="3" name="Content Placeholder 2"/>
            <p:cNvSpPr>
              <a:spLocks noGrp="1"/>
            </p:cNvSpPr>
            <p:nvPr>
              <p:ph idx="1"/>
            </p:nvPr>
          </p:nvSpPr>
          <p:spPr/>
          <p:txBody>
            <a:bodyPr/>
            <a:lstStyle/>
            <a:p/>
          </p:txBody>
        </p:sp>
      </CT_Shape>
      <CT_Shape>
        <p:sp>
          <p:nvSpPr>
            <p:cNvPr id="4" name="TextBox 3"/>
            <p:cNvSpPr txBox="1"/>
            <p:nvPr/>
          </p:nvSpPr>
          <p:spPr>
            <a:xfrm>
              <a:off x="914400" y="1828800"/>
              <a:ext cx="7315200" cy="4572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/>
            <a:p>
              <a:pPr>
                <a:spcAft>
                  <a:spcPts val="1000"/>
                </a:spcAft>
                <a:defRPr sz="1900"/>
              </a:pPr>
              <a:r>
                <a:t>Bu ünitede neler öğrendik?</a:t>
              </a:r>
            </a:p>
            <a:p>
              <a:pPr>
                <a:spcAft>
                  <a:spcPts val="1000"/>
                </a:spcAft>
                <a:defRPr sz="1900"/>
              </a:pPr>
            </a:p>
            <a:p>
              <a:pPr>
                <a:spcAft>
                  <a:spcPts val="1000"/>
                </a:spcAft>
                <a:defRPr sz="1900"/>
              </a:pPr>
              <a:r>
                <a:t>✅ Algoritma kavramı ve önemi</a:t>
              </a:r>
            </a:p>
            <a:p>
              <a:pPr>
                <a:spcAft>
                  <a:spcPts val="1000"/>
                </a:spcAft>
                <a:defRPr sz="1900"/>
              </a:pPr>
              <a:r>
                <a:t>✅ Günlük hayattan algoritma örnekleri</a:t>
              </a:r>
            </a:p>
            <a:p>
              <a:pPr>
                <a:spcAft>
                  <a:spcPts val="1000"/>
                </a:spcAft>
                <a:defRPr sz="1900"/>
              </a:pPr>
              <a:r>
                <a:t>✅ Akış diyagramları ve sembolleri</a:t>
              </a:r>
            </a:p>
            <a:p>
              <a:pPr>
                <a:spcAft>
                  <a:spcPts val="1000"/>
                </a:spcAft>
                <a:defRPr sz="1900"/>
              </a:pPr>
              <a:r>
                <a:t>✅ Sıralı, seçimli, döngülü yapılar</a:t>
              </a:r>
            </a:p>
            <a:p>
              <a:pPr>
                <a:spcAft>
                  <a:spcPts val="1000"/>
                </a:spcAft>
                <a:defRPr sz="1900"/>
              </a:pPr>
              <a:r>
                <a:t>✅ Problem çözme basamakları</a:t>
              </a:r>
            </a:p>
            <a:p>
              <a:pPr>
                <a:spcAft>
                  <a:spcPts val="1000"/>
                </a:spcAft>
                <a:defRPr sz="1900"/>
              </a:pPr>
              <a:r>
                <a:t>✅ Algoritma tasarımı</a:t>
              </a:r>
            </a:p>
            <a:p>
              <a:pPr>
                <a:spcAft>
                  <a:spcPts val="1000"/>
                </a:spcAft>
                <a:defRPr sz="1900"/>
              </a:pPr>
            </a:p>
            <a:p>
              <a:pPr>
                <a:spcAft>
                  <a:spcPts val="1000"/>
                </a:spcAft>
                <a:defRPr sz="1900"/>
              </a:pPr>
              <a:r>
                <a:t>💡 Anahtar Mesaj:</a:t>
              </a:r>
            </a:p>
            <a:p>
              <a:pPr>
                <a:spcAft>
                  <a:spcPts val="1000"/>
                </a:spcAft>
                <a:defRPr sz="1900"/>
              </a:pPr>
              <a:r>
                <a:t>Her problem adım adım çözülebilir!</a:t>
              </a:r>
            </a:p>
            <a:p>
              <a:pPr>
                <a:spcAft>
                  <a:spcPts val="1000"/>
                </a:spcAft>
                <a:defRPr sz="1900"/>
              </a:pPr>
              <a:r>
                <a:t>Algoritma düşüncesi hayatın her alanında işe yarar.</a:t>
              </a:r>
            </a:p>
            <a:p>
              <a:pPr>
                <a:spcAft>
                  <a:spcPts val="1000"/>
                </a:spcAft>
                <a:defRPr sz="1900"/>
              </a:pPr>
            </a:p>
            <a:p>
              <a:pPr>
                <a:spcAft>
                  <a:spcPts val="1000"/>
                </a:spcAft>
                <a:defRPr sz="1900"/>
              </a:pPr>
              <a:r>
                <a:t>🎯 Artık algoritmik düşünebilirsin!</a:t>
              </a:r>
            </a:p>
          </p:txBody>
        </p:sp>
      </CT_Shape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CT_Shape>
        <p:sp>
          <p:nvSpPr>
            <p:cNvPr id="2" name="TextBox 1"/>
            <p:cNvSpPr txBox="1"/>
            <p:nvPr/>
          </p:nvSpPr>
          <p:spPr>
            <a:xfrm>
              <a:off x="914400" y="2286000"/>
              <a:ext cx="7315200" cy="91440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>
                <a:defRPr sz="5400" b="1">
                  <a:solidFill>
                    <a:srgbClr val="FFFFFF"/>
                  </a:solidFill>
                </a:defRPr>
              </a:pPr>
              <a:r>
                <a:t>6. SINIF - ÜNİTE 4</a:t>
              </a:r>
            </a:p>
          </p:txBody>
        </p:sp>
      </CT_Shape>
      <CT_Shape>
        <p:sp>
          <p:nvSpPr>
            <p:cNvPr id="3" name="TextBox 2"/>
            <p:cNvSpPr txBox="1"/>
            <p:nvPr/>
          </p:nvSpPr>
          <p:spPr>
            <a:xfrm>
              <a:off x="914400" y="3474720"/>
              <a:ext cx="7315200" cy="7315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>
                <a:defRPr sz="2800">
                  <a:solidFill>
                    <a:srgbClr val="FFFFFF"/>
                  </a:solidFill>
                </a:defRPr>
              </a:pPr>
              <a:r>
                <a:t>Blok Tabanlı Programlama II</a:t>
              </a:r>
            </a:p>
          </p:txBody>
        </p:sp>
      </CT_Shape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CT_Shape>
        <p:sp>
          <p:nvSpPr>
            <p:cNvPr id="2" name="Title 1"/>
            <p:cNvSpPr>
              <a:spLocks noGrp="1"/>
            </p:cNvSpPr>
            <p:nvPr>
              <p:ph type="title"/>
            </p:nvPr>
          </p:nvSpPr>
          <p:spPr/>
          <p:txBody>
            <a:bodyPr/>
            <a:lstStyle/>
            <a:p>
              <a:pPr>
                <a:defRPr sz="3800" b="1">
                  <a:solidFill>
                    <a:srgbClr val="764BA2"/>
                  </a:solidFill>
                </a:defRPr>
              </a:pPr>
              <a:r>
                <a:t>📚 Ünitenin Konuları</a:t>
              </a:r>
            </a:p>
          </p:txBody>
        </p:sp>
      </CT_Shape>
      <CT_Shape>
        <p:sp>
          <p:nvSpPr>
            <p:cNvPr id="3" name="Content Placeholder 2"/>
            <p:cNvSpPr>
              <a:spLocks noGrp="1"/>
            </p:cNvSpPr>
            <p:nvPr>
              <p:ph idx="1"/>
            </p:nvPr>
          </p:nvSpPr>
          <p:spPr/>
          <p:txBody>
            <a:bodyPr/>
            <a:lstStyle/>
            <a:p/>
          </p:txBody>
        </p:sp>
      </CT_Shape>
      <CT_Shape>
        <p:sp>
          <p:nvSpPr>
            <p:cNvPr id="4" name="TextBox 3"/>
            <p:cNvSpPr txBox="1"/>
            <p:nvPr/>
          </p:nvSpPr>
          <p:spPr>
            <a:xfrm>
              <a:off x="914400" y="1828800"/>
              <a:ext cx="7315200" cy="4572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/>
            <a:p>
              <a:pPr>
                <a:spcAft>
                  <a:spcPts val="1000"/>
                </a:spcAft>
                <a:defRPr sz="1900"/>
              </a:pPr>
              <a:r>
                <a:t>Bu ünitede neler öğreneceğiz? (İleri Seviye Scratch)</a:t>
              </a:r>
            </a:p>
            <a:p>
              <a:pPr>
                <a:spcAft>
                  <a:spcPts val="1000"/>
                </a:spcAft>
                <a:defRPr sz="1900"/>
              </a:pPr>
            </a:p>
            <a:p>
              <a:pPr>
                <a:spcAft>
                  <a:spcPts val="1000"/>
                </a:spcAft>
                <a:defRPr sz="1900"/>
              </a:pPr>
              <a:r>
                <a:t>✅ 1. Klonlama</a:t>
              </a:r>
            </a:p>
            <a:p>
              <a:pPr>
                <a:spcAft>
                  <a:spcPts val="1000"/>
                </a:spcAft>
                <a:defRPr sz="1900"/>
              </a:pPr>
              <a:r>
                <a:t>✅ 2. Mesajlaşma (Broadcast)</a:t>
              </a:r>
            </a:p>
            <a:p>
              <a:pPr>
                <a:spcAft>
                  <a:spcPts val="1000"/>
                </a:spcAft>
                <a:defRPr sz="1900"/>
              </a:pPr>
              <a:r>
                <a:t>✅ 3. Kalem Uzantısı</a:t>
              </a:r>
            </a:p>
            <a:p>
              <a:pPr>
                <a:spcAft>
                  <a:spcPts val="1000"/>
                </a:spcAft>
                <a:defRPr sz="1900"/>
              </a:pPr>
              <a:r>
                <a:t>✅ 4. Müzik Uzantısı</a:t>
              </a:r>
            </a:p>
            <a:p>
              <a:pPr>
                <a:spcAft>
                  <a:spcPts val="1000"/>
                </a:spcAft>
                <a:defRPr sz="1900"/>
              </a:pPr>
              <a:r>
                <a:t>✅ 5. Video Algılama</a:t>
              </a:r>
            </a:p>
            <a:p>
              <a:pPr>
                <a:spcAft>
                  <a:spcPts val="1000"/>
                </a:spcAft>
                <a:defRPr sz="1900"/>
              </a:pPr>
              <a:r>
                <a:t>✅ 6. Karmaşık Oyun Mekaniği</a:t>
              </a:r>
            </a:p>
            <a:p>
              <a:pPr>
                <a:spcAft>
                  <a:spcPts val="1000"/>
                </a:spcAft>
                <a:defRPr sz="1900"/>
              </a:pPr>
              <a:r>
                <a:t>✅ 7. Yapay Zeka ile Scratch</a:t>
              </a:r>
            </a:p>
            <a:p>
              <a:pPr>
                <a:spcAft>
                  <a:spcPts val="1000"/>
                </a:spcAft>
                <a:defRPr sz="1900"/>
              </a:pPr>
              <a:r>
                <a:t>✅ 8. Bulut Değişkenleri</a:t>
              </a:r>
            </a:p>
            <a:p>
              <a:pPr>
                <a:spcAft>
                  <a:spcPts val="1000"/>
                </a:spcAft>
                <a:defRPr sz="1900"/>
              </a:pPr>
              <a:r>
                <a:t>✅ 9. Final Proje: Platform Oyunu</a:t>
              </a:r>
            </a:p>
            <a:p>
              <a:pPr>
                <a:spcAft>
                  <a:spcPts val="1000"/>
                </a:spcAft>
                <a:defRPr sz="1900"/>
              </a:pPr>
            </a:p>
            <a:p>
              <a:pPr>
                <a:spcAft>
                  <a:spcPts val="1000"/>
                </a:spcAft>
                <a:defRPr sz="1900"/>
              </a:pPr>
              <a:r>
                <a:t>⏰ Süre: 8 Hafta</a:t>
              </a:r>
            </a:p>
            <a:p>
              <a:pPr>
                <a:spcAft>
                  <a:spcPts val="1000"/>
                </a:spcAft>
                <a:defRPr sz="1900"/>
              </a:pPr>
              <a:r>
                <a:t>🎯 Amaç: Gelişmiş oyunlar programlamak!</a:t>
              </a:r>
            </a:p>
          </p:txBody>
        </p:sp>
      </CT_Shape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CT_Shape>
        <p:sp>
          <p:nvSpPr>
            <p:cNvPr id="2" name="Title 1"/>
            <p:cNvSpPr>
              <a:spLocks noGrp="1"/>
            </p:cNvSpPr>
            <p:nvPr>
              <p:ph type="title"/>
            </p:nvPr>
          </p:nvSpPr>
          <p:spPr/>
          <p:txBody>
            <a:bodyPr/>
            <a:lstStyle/>
            <a:p>
              <a:pPr>
                <a:defRPr sz="3800" b="1">
                  <a:solidFill>
                    <a:srgbClr val="764BA2"/>
                  </a:solidFill>
                </a:defRPr>
              </a:pPr>
              <a:r>
                <a:t>👥 Klonlama</a:t>
              </a:r>
            </a:p>
          </p:txBody>
        </p:sp>
      </CT_Shape>
      <CT_Shape>
        <p:sp>
          <p:nvSpPr>
            <p:cNvPr id="3" name="Content Placeholder 2"/>
            <p:cNvSpPr>
              <a:spLocks noGrp="1"/>
            </p:cNvSpPr>
            <p:nvPr>
              <p:ph idx="1"/>
            </p:nvPr>
          </p:nvSpPr>
          <p:spPr/>
          <p:txBody>
            <a:bodyPr/>
            <a:lstStyle/>
            <a:p/>
          </p:txBody>
        </p:sp>
      </CT_Shape>
      <CT_Shape>
        <p:sp>
          <p:nvSpPr>
            <p:cNvPr id="4" name="TextBox 3"/>
            <p:cNvSpPr txBox="1"/>
            <p:nvPr/>
          </p:nvSpPr>
          <p:spPr>
            <a:xfrm>
              <a:off x="914400" y="1828800"/>
              <a:ext cx="7315200" cy="4572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/>
            <a:p>
              <a:pPr>
                <a:spcAft>
                  <a:spcPts val="1000"/>
                </a:spcAft>
                <a:defRPr sz="1900"/>
              </a:pPr>
              <a:r>
                <a:t>Klonlama = Sprite'ın kopyalarını oluşturma</a:t>
              </a:r>
            </a:p>
            <a:p>
              <a:pPr>
                <a:spcAft>
                  <a:spcPts val="1000"/>
                </a:spcAft>
                <a:defRPr sz="1900"/>
              </a:pPr>
            </a:p>
            <a:p>
              <a:pPr>
                <a:spcAft>
                  <a:spcPts val="1000"/>
                </a:spcAft>
                <a:defRPr sz="1900"/>
              </a:pPr>
              <a:r>
                <a:t>✅ Neden Kullanılır?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Çok nesne oluşturmak (düşmanlar, mermiler)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Dinamik oyunlar</a:t>
              </a:r>
            </a:p>
            <a:p>
              <a:pPr>
                <a:spcAft>
                  <a:spcPts val="1000"/>
                </a:spcAft>
                <a:defRPr sz="1900"/>
              </a:pPr>
            </a:p>
            <a:p>
              <a:pPr>
                <a:spcAft>
                  <a:spcPts val="1000"/>
                </a:spcAft>
                <a:defRPr sz="1900"/>
              </a:pPr>
              <a:r>
                <a:t>✅ Klonlama Blokları:</a:t>
              </a:r>
            </a:p>
            <a:p>
              <a:pPr>
                <a:spcAft>
                  <a:spcPts val="1000"/>
                </a:spcAft>
                <a:defRPr sz="1900"/>
              </a:pPr>
            </a:p>
            <a:p>
              <a:pPr>
                <a:spcAft>
                  <a:spcPts val="1000"/>
                </a:spcAft>
                <a:defRPr sz="1900"/>
              </a:pPr>
              <a:r>
                <a:t>🔹 'Kendimin klonunu oluştur'</a:t>
              </a:r>
            </a:p>
            <a:p>
              <a:pPr>
                <a:spcAft>
                  <a:spcPts val="1000"/>
                </a:spcAft>
                <a:defRPr sz="1900"/>
              </a:pPr>
              <a:r>
                <a:t>🔹 'Klon olarak başladığımda'</a:t>
              </a:r>
            </a:p>
            <a:p>
              <a:pPr>
                <a:spcAft>
                  <a:spcPts val="1000"/>
                </a:spcAft>
                <a:defRPr sz="1900"/>
              </a:pPr>
              <a:r>
                <a:t>🔹 'Bu klonu sil'</a:t>
              </a:r>
            </a:p>
            <a:p>
              <a:pPr>
                <a:spcAft>
                  <a:spcPts val="1000"/>
                </a:spcAft>
                <a:defRPr sz="1900"/>
              </a:pPr>
            </a:p>
            <a:p>
              <a:pPr>
                <a:spcAft>
                  <a:spcPts val="1000"/>
                </a:spcAft>
                <a:defRPr sz="1900"/>
              </a:pPr>
              <a:r>
                <a:t>📌 Örnek: Yıldız Yağmuru</a:t>
              </a:r>
            </a:p>
            <a:p>
              <a:pPr>
                <a:spcAft>
                  <a:spcPts val="1000"/>
                </a:spcAft>
                <a:defRPr sz="1900"/>
              </a:pPr>
            </a:p>
            <a:p>
              <a:pPr>
                <a:spcAft>
                  <a:spcPts val="1000"/>
                </a:spcAft>
                <a:defRPr sz="1900"/>
              </a:pPr>
              <a:r>
                <a:t>[Yeşil bayrak]</a:t>
              </a:r>
            </a:p>
            <a:p>
              <a:pPr>
                <a:spcAft>
                  <a:spcPts val="1000"/>
                </a:spcAft>
                <a:defRPr sz="1900"/>
              </a:pPr>
              <a:r>
                <a:t>[Sürekli tekrarla]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[Kendimin klonunu oluştur]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[1 saniye bekle]</a:t>
              </a:r>
            </a:p>
            <a:p>
              <a:pPr>
                <a:spcAft>
                  <a:spcPts val="1000"/>
                </a:spcAft>
                <a:defRPr sz="1900"/>
              </a:pPr>
            </a:p>
            <a:p>
              <a:pPr>
                <a:spcAft>
                  <a:spcPts val="1000"/>
                </a:spcAft>
                <a:defRPr sz="1900"/>
              </a:pPr>
              <a:r>
                <a:t>[Klon olarak başladığımda]</a:t>
              </a:r>
            </a:p>
            <a:p>
              <a:pPr>
                <a:spcAft>
                  <a:spcPts val="1000"/>
                </a:spcAft>
                <a:defRPr sz="1900"/>
              </a:pPr>
              <a:r>
                <a:t>[Rastgele x, y=180]</a:t>
              </a:r>
            </a:p>
            <a:p>
              <a:pPr>
                <a:spcAft>
                  <a:spcPts val="1000"/>
                </a:spcAft>
                <a:defRPr sz="1900"/>
              </a:pPr>
              <a:r>
                <a:t>[y &lt; -180 olana kadar]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[y'yi 10 azalt]</a:t>
              </a:r>
            </a:p>
            <a:p>
              <a:pPr>
                <a:spcAft>
                  <a:spcPts val="1000"/>
                </a:spcAft>
                <a:defRPr sz="1900"/>
              </a:pPr>
              <a:r>
                <a:t>[Bu klonu sil]</a:t>
              </a:r>
            </a:p>
            <a:p>
              <a:pPr>
                <a:spcAft>
                  <a:spcPts val="1000"/>
                </a:spcAft>
                <a:defRPr sz="1900"/>
              </a:pPr>
            </a:p>
            <a:p>
              <a:pPr>
                <a:spcAft>
                  <a:spcPts val="1000"/>
                </a:spcAft>
                <a:defRPr sz="1900"/>
              </a:pPr>
              <a:r>
                <a:t>💡 Klonlar performans için önemli!</a:t>
              </a:r>
            </a:p>
          </p:txBody>
        </p:sp>
      </CT_Shape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CT_Shape>
        <p:sp>
          <p:nvSpPr>
            <p:cNvPr id="2" name="Title 1"/>
            <p:cNvSpPr>
              <a:spLocks noGrp="1"/>
            </p:cNvSpPr>
            <p:nvPr>
              <p:ph type="title"/>
            </p:nvPr>
          </p:nvSpPr>
          <p:spPr/>
          <p:txBody>
            <a:bodyPr/>
            <a:lstStyle/>
            <a:p>
              <a:pPr>
                <a:defRPr sz="3800" b="1">
                  <a:solidFill>
                    <a:srgbClr val="764BA2"/>
                  </a:solidFill>
                </a:defRPr>
              </a:pPr>
              <a:r>
                <a:t>📡 Mesajlaşma</a:t>
              </a:r>
            </a:p>
          </p:txBody>
        </p:sp>
      </CT_Shape>
      <CT_Shape>
        <p:sp>
          <p:nvSpPr>
            <p:cNvPr id="3" name="Content Placeholder 2"/>
            <p:cNvSpPr>
              <a:spLocks noGrp="1"/>
            </p:cNvSpPr>
            <p:nvPr>
              <p:ph idx="1"/>
            </p:nvPr>
          </p:nvSpPr>
          <p:spPr/>
          <p:txBody>
            <a:bodyPr/>
            <a:lstStyle/>
            <a:p/>
          </p:txBody>
        </p:sp>
      </CT_Shape>
      <CT_Shape>
        <p:sp>
          <p:nvSpPr>
            <p:cNvPr id="4" name="TextBox 3"/>
            <p:cNvSpPr txBox="1"/>
            <p:nvPr/>
          </p:nvSpPr>
          <p:spPr>
            <a:xfrm>
              <a:off x="914400" y="1828800"/>
              <a:ext cx="7315200" cy="4572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/>
            <a:p>
              <a:pPr>
                <a:spcAft>
                  <a:spcPts val="1000"/>
                </a:spcAft>
                <a:defRPr sz="1900"/>
              </a:pPr>
              <a:r>
                <a:t>Sprite'lar arasında iletişim</a:t>
              </a:r>
            </a:p>
            <a:p>
              <a:pPr>
                <a:spcAft>
                  <a:spcPts val="1000"/>
                </a:spcAft>
                <a:defRPr sz="1900"/>
              </a:pPr>
            </a:p>
            <a:p>
              <a:pPr>
                <a:spcAft>
                  <a:spcPts val="1000"/>
                </a:spcAft>
                <a:defRPr sz="1900"/>
              </a:pPr>
              <a:r>
                <a:t>✅ Mesaj Blokları: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'mesaj1 mesajını yayınla'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'mesaj1 mesajını aldığımda'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'mesaj1 yayınla ve bekle'</a:t>
              </a:r>
            </a:p>
            <a:p>
              <a:pPr>
                <a:spcAft>
                  <a:spcPts val="1000"/>
                </a:spcAft>
                <a:defRPr sz="1900"/>
              </a:pPr>
            </a:p>
            <a:p>
              <a:pPr>
                <a:spcAft>
                  <a:spcPts val="1000"/>
                </a:spcAft>
                <a:defRPr sz="1900"/>
              </a:pPr>
              <a:r>
                <a:t>📌 Örnek: Oyun Başlatma</a:t>
              </a:r>
            </a:p>
            <a:p>
              <a:pPr>
                <a:spcAft>
                  <a:spcPts val="1000"/>
                </a:spcAft>
                <a:defRPr sz="1900"/>
              </a:pPr>
            </a:p>
            <a:p>
              <a:pPr>
                <a:spcAft>
                  <a:spcPts val="1000"/>
                </a:spcAft>
                <a:defRPr sz="1900"/>
              </a:pPr>
              <a:r>
                <a:t>Buton Sprite:</a:t>
              </a:r>
            </a:p>
            <a:p>
              <a:pPr>
                <a:spcAft>
                  <a:spcPts val="1000"/>
                </a:spcAft>
                <a:defRPr sz="1900"/>
              </a:pPr>
              <a:r>
                <a:t>[Bu sprite tıklandığında]</a:t>
              </a:r>
            </a:p>
            <a:p>
              <a:pPr>
                <a:spcAft>
                  <a:spcPts val="1000"/>
                </a:spcAft>
                <a:defRPr sz="1900"/>
              </a:pPr>
              <a:r>
                <a:t>['OyunBasla' mesajını yayınla]</a:t>
              </a:r>
            </a:p>
            <a:p>
              <a:pPr>
                <a:spcAft>
                  <a:spcPts val="1000"/>
                </a:spcAft>
                <a:defRPr sz="1900"/>
              </a:pPr>
            </a:p>
            <a:p>
              <a:pPr>
                <a:spcAft>
                  <a:spcPts val="1000"/>
                </a:spcAft>
                <a:defRPr sz="1900"/>
              </a:pPr>
              <a:r>
                <a:t>Oyuncu Sprite:</a:t>
              </a:r>
            </a:p>
            <a:p>
              <a:pPr>
                <a:spcAft>
                  <a:spcPts val="1000"/>
                </a:spcAft>
                <a:defRPr sz="1900"/>
              </a:pPr>
              <a:r>
                <a:t>['OyunBasla' mesajını aldığında]</a:t>
              </a:r>
            </a:p>
            <a:p>
              <a:pPr>
                <a:spcAft>
                  <a:spcPts val="1000"/>
                </a:spcAft>
                <a:defRPr sz="1900"/>
              </a:pPr>
              <a:r>
                <a:t>[Oyun kodları...]</a:t>
              </a:r>
            </a:p>
            <a:p>
              <a:pPr>
                <a:spcAft>
                  <a:spcPts val="1000"/>
                </a:spcAft>
                <a:defRPr sz="1900"/>
              </a:pPr>
            </a:p>
            <a:p>
              <a:pPr>
                <a:spcAft>
                  <a:spcPts val="1000"/>
                </a:spcAft>
                <a:defRPr sz="1900"/>
              </a:pPr>
              <a:r>
                <a:t>Düşman Sprite:</a:t>
              </a:r>
            </a:p>
            <a:p>
              <a:pPr>
                <a:spcAft>
                  <a:spcPts val="1000"/>
                </a:spcAft>
                <a:defRPr sz="1900"/>
              </a:pPr>
              <a:r>
                <a:t>['OyunBasla' mesajını aldığında]</a:t>
              </a:r>
            </a:p>
            <a:p>
              <a:pPr>
                <a:spcAft>
                  <a:spcPts val="1000"/>
                </a:spcAft>
                <a:defRPr sz="1900"/>
              </a:pPr>
              <a:r>
                <a:t>[Hareket et...]</a:t>
              </a:r>
            </a:p>
            <a:p>
              <a:pPr>
                <a:spcAft>
                  <a:spcPts val="1000"/>
                </a:spcAft>
                <a:defRPr sz="1900"/>
              </a:pPr>
            </a:p>
            <a:p>
              <a:pPr>
                <a:spcAft>
                  <a:spcPts val="1000"/>
                </a:spcAft>
                <a:defRPr sz="1900"/>
              </a:pPr>
              <a:r>
                <a:t>💡 Mesajlar koordinasyon sağlar</a:t>
              </a:r>
            </a:p>
            <a:p>
              <a:pPr>
                <a:spcAft>
                  <a:spcPts val="1000"/>
                </a:spcAft>
                <a:defRPr sz="1900"/>
              </a:pPr>
              <a:r>
                <a:t>Tüm sprite'lar senkronize çalışır</a:t>
              </a:r>
            </a:p>
          </p:txBody>
        </p:sp>
      </CT_Shape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CT_Shape>
        <p:sp>
          <p:nvSpPr>
            <p:cNvPr id="2" name="Title 1"/>
            <p:cNvSpPr>
              <a:spLocks noGrp="1"/>
            </p:cNvSpPr>
            <p:nvPr>
              <p:ph type="title"/>
            </p:nvPr>
          </p:nvSpPr>
          <p:spPr/>
          <p:txBody>
            <a:bodyPr/>
            <a:lstStyle/>
            <a:p>
              <a:pPr>
                <a:defRPr sz="3800" b="1">
                  <a:solidFill>
                    <a:srgbClr val="764BA2"/>
                  </a:solidFill>
                </a:defRPr>
              </a:pPr>
              <a:r>
                <a:t>🎨 Kalem Uzantısı</a:t>
              </a:r>
            </a:p>
          </p:txBody>
        </p:sp>
      </CT_Shape>
      <CT_Shape>
        <p:sp>
          <p:nvSpPr>
            <p:cNvPr id="3" name="Content Placeholder 2"/>
            <p:cNvSpPr>
              <a:spLocks noGrp="1"/>
            </p:cNvSpPr>
            <p:nvPr>
              <p:ph idx="1"/>
            </p:nvPr>
          </p:nvSpPr>
          <p:spPr/>
          <p:txBody>
            <a:bodyPr/>
            <a:lstStyle/>
            <a:p/>
          </p:txBody>
        </p:sp>
      </CT_Shape>
      <CT_Shape>
        <p:sp>
          <p:nvSpPr>
            <p:cNvPr id="4" name="TextBox 3"/>
            <p:cNvSpPr txBox="1"/>
            <p:nvPr/>
          </p:nvSpPr>
          <p:spPr>
            <a:xfrm>
              <a:off x="914400" y="1828800"/>
              <a:ext cx="7315200" cy="4572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/>
            <a:p>
              <a:pPr>
                <a:spcAft>
                  <a:spcPts val="1000"/>
                </a:spcAft>
                <a:defRPr sz="1900"/>
              </a:pPr>
              <a:r>
                <a:t>Çizim yapmak için uzantı</a:t>
              </a:r>
            </a:p>
            <a:p>
              <a:pPr>
                <a:spcAft>
                  <a:spcPts val="1000"/>
                </a:spcAft>
                <a:defRPr sz="1900"/>
              </a:pPr>
            </a:p>
            <a:p>
              <a:pPr>
                <a:spcAft>
                  <a:spcPts val="1000"/>
                </a:spcAft>
                <a:defRPr sz="1900"/>
              </a:pPr>
              <a:r>
                <a:t>✅ Uzantı Ekleme: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Sol altta 'Uzantı Ekle'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Kalem'i seç</a:t>
              </a:r>
            </a:p>
            <a:p>
              <a:pPr>
                <a:spcAft>
                  <a:spcPts val="1000"/>
                </a:spcAft>
                <a:defRPr sz="1900"/>
              </a:pPr>
            </a:p>
            <a:p>
              <a:pPr>
                <a:spcAft>
                  <a:spcPts val="1000"/>
                </a:spcAft>
                <a:defRPr sz="1900"/>
              </a:pPr>
              <a:r>
                <a:t>✅ Kalem Blokları: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'Hepsini temizle'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'Damga'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'Kalemi indir/kaldır'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'Kalem rengini ... yap'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'Kalem kalınlığını ... yap'</a:t>
              </a:r>
            </a:p>
            <a:p>
              <a:pPr>
                <a:spcAft>
                  <a:spcPts val="1000"/>
                </a:spcAft>
                <a:defRPr sz="1900"/>
              </a:pPr>
            </a:p>
            <a:p>
              <a:pPr>
                <a:spcAft>
                  <a:spcPts val="1000"/>
                </a:spcAft>
                <a:defRPr sz="1900"/>
              </a:pPr>
              <a:r>
                <a:t>📌 Proje: Paint Uygulaması</a:t>
              </a:r>
            </a:p>
            <a:p>
              <a:pPr>
                <a:spcAft>
                  <a:spcPts val="1000"/>
                </a:spcAft>
                <a:defRPr sz="1900"/>
              </a:pPr>
            </a:p>
            <a:p>
              <a:pPr>
                <a:spcAft>
                  <a:spcPts val="1000"/>
                </a:spcAft>
                <a:defRPr sz="1900"/>
              </a:pPr>
              <a:r>
                <a:t>[Sürekli tekrarla]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[Fare x, y'ye git]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[Eğer fare tıklandı ise]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    [Kalemi indir]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[Değilse]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    [Kalemi kaldır]</a:t>
              </a:r>
            </a:p>
            <a:p>
              <a:pPr>
                <a:spcAft>
                  <a:spcPts val="1000"/>
                </a:spcAft>
                <a:defRPr sz="1900"/>
              </a:pPr>
            </a:p>
            <a:p>
              <a:pPr>
                <a:spcAft>
                  <a:spcPts val="1000"/>
                </a:spcAft>
                <a:defRPr sz="1900"/>
              </a:pPr>
              <a:r>
                <a:t>💡 Geometri çizim öğretimi için harika!</a:t>
              </a:r>
            </a:p>
          </p:txBody>
        </p:sp>
      </CT_Shape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CT_Shape>
        <p:sp>
          <p:nvSpPr>
            <p:cNvPr id="2" name="Title 1"/>
            <p:cNvSpPr>
              <a:spLocks noGrp="1"/>
            </p:cNvSpPr>
            <p:nvPr>
              <p:ph type="title"/>
            </p:nvPr>
          </p:nvSpPr>
          <p:spPr/>
          <p:txBody>
            <a:bodyPr/>
            <a:lstStyle/>
            <a:p>
              <a:pPr>
                <a:defRPr sz="3800" b="1">
                  <a:solidFill>
                    <a:srgbClr val="764BA2"/>
                  </a:solidFill>
                </a:defRPr>
              </a:pPr>
              <a:r>
                <a:t>🎵 Müzik Uzantısı</a:t>
              </a:r>
            </a:p>
          </p:txBody>
        </p:sp>
      </CT_Shape>
      <CT_Shape>
        <p:sp>
          <p:nvSpPr>
            <p:cNvPr id="3" name="Content Placeholder 2"/>
            <p:cNvSpPr>
              <a:spLocks noGrp="1"/>
            </p:cNvSpPr>
            <p:nvPr>
              <p:ph idx="1"/>
            </p:nvPr>
          </p:nvSpPr>
          <p:spPr/>
          <p:txBody>
            <a:bodyPr/>
            <a:lstStyle/>
            <a:p/>
          </p:txBody>
        </p:sp>
      </CT_Shape>
      <CT_Shape>
        <p:sp>
          <p:nvSpPr>
            <p:cNvPr id="4" name="TextBox 3"/>
            <p:cNvSpPr txBox="1"/>
            <p:nvPr/>
          </p:nvSpPr>
          <p:spPr>
            <a:xfrm>
              <a:off x="914400" y="1828800"/>
              <a:ext cx="7315200" cy="4572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/>
            <a:p>
              <a:pPr>
                <a:spcAft>
                  <a:spcPts val="1000"/>
                </a:spcAft>
                <a:defRPr sz="1900"/>
              </a:pPr>
              <a:r>
                <a:t>Kendi müziğini yap!</a:t>
              </a:r>
            </a:p>
            <a:p>
              <a:pPr>
                <a:spcAft>
                  <a:spcPts val="1000"/>
                </a:spcAft>
                <a:defRPr sz="1900"/>
              </a:pPr>
            </a:p>
            <a:p>
              <a:pPr>
                <a:spcAft>
                  <a:spcPts val="1000"/>
                </a:spcAft>
                <a:defRPr sz="1900"/>
              </a:pPr>
              <a:r>
                <a:t>✅ Müzik Uzantısı: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Uzantı → Müzik</a:t>
              </a:r>
            </a:p>
            <a:p>
              <a:pPr>
                <a:spcAft>
                  <a:spcPts val="1000"/>
                </a:spcAft>
                <a:defRPr sz="1900"/>
              </a:pPr>
            </a:p>
            <a:p>
              <a:pPr>
                <a:spcAft>
                  <a:spcPts val="1000"/>
                </a:spcAft>
                <a:defRPr sz="1900"/>
              </a:pPr>
              <a:r>
                <a:t>✅ Müzik Blokları: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'Nota ... çal ...'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'Enstrümanı ... yap'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'Tempo ... yap'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'Davul ... çal'</a:t>
              </a:r>
            </a:p>
            <a:p>
              <a:pPr>
                <a:spcAft>
                  <a:spcPts val="1000"/>
                </a:spcAft>
                <a:defRPr sz="1900"/>
              </a:pPr>
            </a:p>
            <a:p>
              <a:pPr>
                <a:spcAft>
                  <a:spcPts val="1000"/>
                </a:spcAft>
                <a:defRPr sz="1900"/>
              </a:pPr>
              <a:r>
                <a:t>📌 Basit Melodi:</a:t>
              </a:r>
            </a:p>
            <a:p>
              <a:pPr>
                <a:spcAft>
                  <a:spcPts val="1000"/>
                </a:spcAft>
                <a:defRPr sz="1900"/>
              </a:pPr>
            </a:p>
            <a:p>
              <a:pPr>
                <a:spcAft>
                  <a:spcPts val="1000"/>
                </a:spcAft>
                <a:defRPr sz="1900"/>
              </a:pPr>
              <a:r>
                <a:t>[Do notasını 0.5 vuruş çal]</a:t>
              </a:r>
            </a:p>
            <a:p>
              <a:pPr>
                <a:spcAft>
                  <a:spcPts val="1000"/>
                </a:spcAft>
                <a:defRPr sz="1900"/>
              </a:pPr>
              <a:r>
                <a:t>[Re notasını 0.5 vuruş çal]</a:t>
              </a:r>
            </a:p>
            <a:p>
              <a:pPr>
                <a:spcAft>
                  <a:spcPts val="1000"/>
                </a:spcAft>
                <a:defRPr sz="1900"/>
              </a:pPr>
              <a:r>
                <a:t>[Mi notasını 0.5 vuruş çal]</a:t>
              </a:r>
            </a:p>
            <a:p>
              <a:pPr>
                <a:spcAft>
                  <a:spcPts val="1000"/>
                </a:spcAft>
                <a:defRPr sz="1900"/>
              </a:pPr>
              <a:r>
                <a:t>[Do notasını 1 vuruş çal]</a:t>
              </a:r>
            </a:p>
            <a:p>
              <a:pPr>
                <a:spcAft>
                  <a:spcPts val="1000"/>
                </a:spcAft>
                <a:defRPr sz="1900"/>
              </a:pPr>
            </a:p>
            <a:p>
              <a:pPr>
                <a:spcAft>
                  <a:spcPts val="1000"/>
                </a:spcAft>
                <a:defRPr sz="1900"/>
              </a:pPr>
              <a:r>
                <a:t>🎯 Proje Fikirleri: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Piyano uygulaması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Müzik kompozisyonu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Ritim oyunu</a:t>
              </a:r>
            </a:p>
            <a:p>
              <a:pPr>
                <a:spcAft>
                  <a:spcPts val="1000"/>
                </a:spcAft>
                <a:defRPr sz="1900"/>
              </a:pPr>
            </a:p>
            <a:p>
              <a:pPr>
                <a:spcAft>
                  <a:spcPts val="1000"/>
                </a:spcAft>
                <a:defRPr sz="1900"/>
              </a:pPr>
              <a:r>
                <a:t>💡 Müzik + Kodlama = Yaratıcılık!</a:t>
              </a:r>
            </a:p>
          </p:txBody>
        </p:sp>
      </CT_Shape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CT_Shape>
        <p:sp>
          <p:nvSpPr>
            <p:cNvPr id="2" name="Title 1"/>
            <p:cNvSpPr>
              <a:spLocks noGrp="1"/>
            </p:cNvSpPr>
            <p:nvPr>
              <p:ph type="title"/>
            </p:nvPr>
          </p:nvSpPr>
          <p:spPr/>
          <p:txBody>
            <a:bodyPr/>
            <a:lstStyle/>
            <a:p>
              <a:pPr>
                <a:defRPr sz="3800" b="1">
                  <a:solidFill>
                    <a:srgbClr val="764BA2"/>
                  </a:solidFill>
                </a:defRPr>
              </a:pPr>
              <a:r>
                <a:t>🎮 Platform Oyunu Projesi</a:t>
              </a:r>
            </a:p>
          </p:txBody>
        </p:sp>
      </CT_Shape>
      <CT_Shape>
        <p:sp>
          <p:nvSpPr>
            <p:cNvPr id="3" name="Content Placeholder 2"/>
            <p:cNvSpPr>
              <a:spLocks noGrp="1"/>
            </p:cNvSpPr>
            <p:nvPr>
              <p:ph idx="1"/>
            </p:nvPr>
          </p:nvSpPr>
          <p:spPr/>
          <p:txBody>
            <a:bodyPr/>
            <a:lstStyle/>
            <a:p/>
          </p:txBody>
        </p:sp>
      </CT_Shape>
      <CT_Shape>
        <p:sp>
          <p:nvSpPr>
            <p:cNvPr id="4" name="TextBox 3"/>
            <p:cNvSpPr txBox="1"/>
            <p:nvPr/>
          </p:nvSpPr>
          <p:spPr>
            <a:xfrm>
              <a:off x="914400" y="1828800"/>
              <a:ext cx="7315200" cy="4572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/>
            <a:p>
              <a:pPr>
                <a:spcAft>
                  <a:spcPts val="1000"/>
                </a:spcAft>
                <a:defRPr sz="1900"/>
              </a:pPr>
              <a:r>
                <a:t>Final Proje: Kendi platform oyununu yap!</a:t>
              </a:r>
            </a:p>
            <a:p>
              <a:pPr>
                <a:spcAft>
                  <a:spcPts val="1000"/>
                </a:spcAft>
                <a:defRPr sz="1900"/>
              </a:pPr>
            </a:p>
            <a:p>
              <a:pPr>
                <a:spcAft>
                  <a:spcPts val="1000"/>
                </a:spcAft>
                <a:defRPr sz="1900"/>
              </a:pPr>
              <a:r>
                <a:t>✅ Gereksinimler: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Oyuncu karakteri (zıplama, hareket)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Platformlar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Düşmanlar (AI)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Puanlama sistemi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Seviye tasarımı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Yer çekimi mekaniği</a:t>
              </a:r>
            </a:p>
            <a:p>
              <a:pPr>
                <a:spcAft>
                  <a:spcPts val="1000"/>
                </a:spcAft>
                <a:defRPr sz="1900"/>
              </a:pPr>
            </a:p>
            <a:p>
              <a:pPr>
                <a:spcAft>
                  <a:spcPts val="1000"/>
                </a:spcAft>
                <a:defRPr sz="1900"/>
              </a:pPr>
              <a:r>
                <a:t>📌 Teknik Özellikler: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Klonlama kullan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Mesajlaşma kullan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Değişkenler (puan, can)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Çarpışma algılama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Ses efektleri</a:t>
              </a:r>
            </a:p>
            <a:p>
              <a:pPr>
                <a:spcAft>
                  <a:spcPts val="1000"/>
                </a:spcAft>
                <a:defRPr sz="1900"/>
              </a:pPr>
            </a:p>
            <a:p>
              <a:pPr>
                <a:spcAft>
                  <a:spcPts val="1000"/>
                </a:spcAft>
                <a:defRPr sz="1900"/>
              </a:pPr>
              <a:r>
                <a:t>💡 Örnek Oyunlar: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Mario benzeri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Sonic benzeri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Geometry Dash benzeri</a:t>
              </a:r>
            </a:p>
            <a:p>
              <a:pPr>
                <a:spcAft>
                  <a:spcPts val="1000"/>
                </a:spcAft>
                <a:defRPr sz="1900"/>
              </a:pPr>
            </a:p>
            <a:p>
              <a:pPr>
                <a:spcAft>
                  <a:spcPts val="1000"/>
                </a:spcAft>
                <a:defRPr sz="1900"/>
              </a:pPr>
              <a:r>
                <a:t>🎯 Bu proje tüm öğrendiklerini birleştiriyor!</a:t>
              </a:r>
            </a:p>
          </p:txBody>
        </p:sp>
      </CT_Shape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CT_Shape>
        <p:sp>
          <p:nvSpPr>
            <p:cNvPr id="2" name="Title 1"/>
            <p:cNvSpPr>
              <a:spLocks noGrp="1"/>
            </p:cNvSpPr>
            <p:nvPr>
              <p:ph type="title"/>
            </p:nvPr>
          </p:nvSpPr>
          <p:spPr/>
          <p:txBody>
            <a:bodyPr/>
            <a:lstStyle/>
            <a:p>
              <a:pPr>
                <a:defRPr sz="3800" b="1">
                  <a:solidFill>
                    <a:srgbClr val="764BA2"/>
                  </a:solidFill>
                </a:defRPr>
              </a:pPr>
              <a:r>
                <a:t>📝 Ünite Özeti</a:t>
              </a:r>
            </a:p>
          </p:txBody>
        </p:sp>
      </CT_Shape>
      <CT_Shape>
        <p:sp>
          <p:nvSpPr>
            <p:cNvPr id="3" name="Content Placeholder 2"/>
            <p:cNvSpPr>
              <a:spLocks noGrp="1"/>
            </p:cNvSpPr>
            <p:nvPr>
              <p:ph idx="1"/>
            </p:nvPr>
          </p:nvSpPr>
          <p:spPr/>
          <p:txBody>
            <a:bodyPr/>
            <a:lstStyle/>
            <a:p/>
          </p:txBody>
        </p:sp>
      </CT_Shape>
      <CT_Shape>
        <p:sp>
          <p:nvSpPr>
            <p:cNvPr id="4" name="TextBox 3"/>
            <p:cNvSpPr txBox="1"/>
            <p:nvPr/>
          </p:nvSpPr>
          <p:spPr>
            <a:xfrm>
              <a:off x="914400" y="1828800"/>
              <a:ext cx="7315200" cy="4572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/>
            <a:p>
              <a:pPr>
                <a:spcAft>
                  <a:spcPts val="1000"/>
                </a:spcAft>
                <a:defRPr sz="1900"/>
              </a:pPr>
              <a:r>
                <a:t>Bu ünitede neler öğrendik?</a:t>
              </a:r>
            </a:p>
            <a:p>
              <a:pPr>
                <a:spcAft>
                  <a:spcPts val="1000"/>
                </a:spcAft>
                <a:defRPr sz="1900"/>
              </a:pPr>
            </a:p>
            <a:p>
              <a:pPr>
                <a:spcAft>
                  <a:spcPts val="1000"/>
                </a:spcAft>
                <a:defRPr sz="1900"/>
              </a:pPr>
              <a:r>
                <a:t>✅ Klonlama (çok nesne oluşturma)</a:t>
              </a:r>
            </a:p>
            <a:p>
              <a:pPr>
                <a:spcAft>
                  <a:spcPts val="1000"/>
                </a:spcAft>
                <a:defRPr sz="1900"/>
              </a:pPr>
              <a:r>
                <a:t>✅ Mesajlaşma (sprite iletişimi)</a:t>
              </a:r>
            </a:p>
            <a:p>
              <a:pPr>
                <a:spcAft>
                  <a:spcPts val="1000"/>
                </a:spcAft>
                <a:defRPr sz="1900"/>
              </a:pPr>
              <a:r>
                <a:t>✅ Kalem uzantısı (çizim)</a:t>
              </a:r>
            </a:p>
            <a:p>
              <a:pPr>
                <a:spcAft>
                  <a:spcPts val="1000"/>
                </a:spcAft>
                <a:defRPr sz="1900"/>
              </a:pPr>
              <a:r>
                <a:t>✅ Müzik uzantısı (melodi)</a:t>
              </a:r>
            </a:p>
            <a:p>
              <a:pPr>
                <a:spcAft>
                  <a:spcPts val="1000"/>
                </a:spcAft>
                <a:defRPr sz="1900"/>
              </a:pPr>
              <a:r>
                <a:t>✅ Video algılama (kamera)</a:t>
              </a:r>
            </a:p>
            <a:p>
              <a:pPr>
                <a:spcAft>
                  <a:spcPts val="1000"/>
                </a:spcAft>
                <a:defRPr sz="1900"/>
              </a:pPr>
              <a:r>
                <a:t>✅ Karmaşık oyun mekaniği</a:t>
              </a:r>
            </a:p>
            <a:p>
              <a:pPr>
                <a:spcAft>
                  <a:spcPts val="1000"/>
                </a:spcAft>
                <a:defRPr sz="1900"/>
              </a:pPr>
              <a:r>
                <a:t>✅ Platform oyunu projesi</a:t>
              </a:r>
            </a:p>
            <a:p>
              <a:pPr>
                <a:spcAft>
                  <a:spcPts val="1000"/>
                </a:spcAft>
                <a:defRPr sz="1900"/>
              </a:pPr>
            </a:p>
            <a:p>
              <a:pPr>
                <a:spcAft>
                  <a:spcPts val="1000"/>
                </a:spcAft>
                <a:defRPr sz="1900"/>
              </a:pPr>
              <a:r>
                <a:t>💡 Anahtar Mesaj:</a:t>
              </a:r>
            </a:p>
            <a:p>
              <a:pPr>
                <a:spcAft>
                  <a:spcPts val="1000"/>
                </a:spcAft>
                <a:defRPr sz="1900"/>
              </a:pPr>
              <a:r>
                <a:t>Artık profesyonel seviye oyunlar yapabilirsin!</a:t>
              </a:r>
            </a:p>
            <a:p>
              <a:pPr>
                <a:spcAft>
                  <a:spcPts val="1000"/>
                </a:spcAft>
                <a:defRPr sz="1900"/>
              </a:pPr>
            </a:p>
            <a:p>
              <a:pPr>
                <a:spcAft>
                  <a:spcPts val="1000"/>
                </a:spcAft>
                <a:defRPr sz="1900"/>
              </a:pPr>
              <a:r>
                <a:t>🎯 Scratch'in tüm özelliklerini öğrendin!</a:t>
              </a:r>
            </a:p>
            <a:p>
              <a:pPr>
                <a:spcAft>
                  <a:spcPts val="1000"/>
                </a:spcAft>
                <a:defRPr sz="1900"/>
              </a:pPr>
              <a:r>
                <a:t>🚀 Sıra kendi büyük projendeartık!</a:t>
              </a:r>
            </a:p>
          </p:txBody>
        </p:sp>
      </CT_Shape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CT_Shape>
        <p:sp>
          <p:nvSpPr>
            <p:cNvPr id="2" name="TextBox 1"/>
            <p:cNvSpPr txBox="1"/>
            <p:nvPr/>
          </p:nvSpPr>
          <p:spPr>
            <a:xfrm>
              <a:off x="914400" y="2286000"/>
              <a:ext cx="7315200" cy="91440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>
                <a:defRPr sz="5400" b="1">
                  <a:solidFill>
                    <a:srgbClr val="FFFFFF"/>
                  </a:solidFill>
                </a:defRPr>
              </a:pPr>
              <a:r>
                <a:t>6. SINIF - ÜNİTE 5</a:t>
              </a:r>
            </a:p>
          </p:txBody>
        </p:sp>
      </CT_Shape>
      <CT_Shape>
        <p:sp>
          <p:nvSpPr>
            <p:cNvPr id="3" name="TextBox 2"/>
            <p:cNvSpPr txBox="1"/>
            <p:nvPr/>
          </p:nvSpPr>
          <p:spPr>
            <a:xfrm>
              <a:off x="914400" y="3474720"/>
              <a:ext cx="7315200" cy="7315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>
                <a:defRPr sz="2800">
                  <a:solidFill>
                    <a:srgbClr val="FFFFFF"/>
                  </a:solidFill>
                </a:defRPr>
              </a:pPr>
              <a:r>
                <a:t>Sunum Programları</a:t>
              </a:r>
            </a:p>
          </p:txBody>
        </p:sp>
      </CT_Shape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CT_Shape>
        <p:sp>
          <p:nvSpPr>
            <p:cNvPr id="2" name="Title 1"/>
            <p:cNvSpPr>
              <a:spLocks noGrp="1"/>
            </p:cNvSpPr>
            <p:nvPr>
              <p:ph type="title"/>
            </p:nvPr>
          </p:nvSpPr>
          <p:spPr/>
          <p:txBody>
            <a:bodyPr/>
            <a:lstStyle/>
            <a:p>
              <a:pPr>
                <a:defRPr sz="3800" b="1">
                  <a:solidFill>
                    <a:srgbClr val="764BA2"/>
                  </a:solidFill>
                </a:defRPr>
              </a:pPr>
              <a:r>
                <a:t>📚 Ünitenin Konuları</a:t>
              </a:r>
            </a:p>
          </p:txBody>
        </p:sp>
      </CT_Shape>
      <CT_Shape>
        <p:sp>
          <p:nvSpPr>
            <p:cNvPr id="3" name="Content Placeholder 2"/>
            <p:cNvSpPr>
              <a:spLocks noGrp="1"/>
            </p:cNvSpPr>
            <p:nvPr>
              <p:ph idx="1"/>
            </p:nvPr>
          </p:nvSpPr>
          <p:spPr/>
          <p:txBody>
            <a:bodyPr/>
            <a:lstStyle/>
            <a:p/>
          </p:txBody>
        </p:sp>
      </CT_Shape>
      <CT_Shape>
        <p:sp>
          <p:nvSpPr>
            <p:cNvPr id="4" name="TextBox 3"/>
            <p:cNvSpPr txBox="1"/>
            <p:nvPr/>
          </p:nvSpPr>
          <p:spPr>
            <a:xfrm>
              <a:off x="914400" y="1828800"/>
              <a:ext cx="7315200" cy="4572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/>
            <a:p>
              <a:pPr>
                <a:spcAft>
                  <a:spcPts val="1000"/>
                </a:spcAft>
                <a:defRPr sz="1900"/>
              </a:pPr>
              <a:r>
                <a:t>Bu ünitede neler öğreneceğiz?</a:t>
              </a:r>
            </a:p>
            <a:p>
              <a:pPr>
                <a:spcAft>
                  <a:spcPts val="1000"/>
                </a:spcAft>
                <a:defRPr sz="1900"/>
              </a:pPr>
            </a:p>
            <a:p>
              <a:pPr>
                <a:spcAft>
                  <a:spcPts val="1000"/>
                </a:spcAft>
                <a:defRPr sz="1900"/>
              </a:pPr>
              <a:r>
                <a:t>✅ 1. Sunum Programları Nedir?</a:t>
              </a:r>
            </a:p>
            <a:p>
              <a:pPr>
                <a:spcAft>
                  <a:spcPts val="1000"/>
                </a:spcAft>
                <a:defRPr sz="1900"/>
              </a:pPr>
              <a:r>
                <a:t>✅ 2. PowerPoint / Google Slides</a:t>
              </a:r>
            </a:p>
            <a:p>
              <a:pPr>
                <a:spcAft>
                  <a:spcPts val="1000"/>
                </a:spcAft>
                <a:defRPr sz="1900"/>
              </a:pPr>
              <a:r>
                <a:t>✅ 3. Slayt Tasarımı</a:t>
              </a:r>
            </a:p>
            <a:p>
              <a:pPr>
                <a:spcAft>
                  <a:spcPts val="1000"/>
                </a:spcAft>
                <a:defRPr sz="1900"/>
              </a:pPr>
              <a:r>
                <a:t>✅ 4. Metin ve Görsel Ekleme</a:t>
              </a:r>
            </a:p>
            <a:p>
              <a:pPr>
                <a:spcAft>
                  <a:spcPts val="1000"/>
                </a:spcAft>
                <a:defRPr sz="1900"/>
              </a:pPr>
              <a:r>
                <a:t>✅ 5. Animasyonlar</a:t>
              </a:r>
            </a:p>
            <a:p>
              <a:pPr>
                <a:spcAft>
                  <a:spcPts val="1000"/>
                </a:spcAft>
                <a:defRPr sz="1900"/>
              </a:pPr>
              <a:r>
                <a:t>✅ 6. Geçiş Efektleri</a:t>
              </a:r>
            </a:p>
            <a:p>
              <a:pPr>
                <a:spcAft>
                  <a:spcPts val="1000"/>
                </a:spcAft>
                <a:defRPr sz="1900"/>
              </a:pPr>
              <a:r>
                <a:t>✅ 7. Multimedya Ekleme (Video, Ses)</a:t>
              </a:r>
            </a:p>
            <a:p>
              <a:pPr>
                <a:spcAft>
                  <a:spcPts val="1000"/>
                </a:spcAft>
                <a:defRPr sz="1900"/>
              </a:pPr>
              <a:r>
                <a:t>✅ 8. Sunum Hazırlama İpuçları</a:t>
              </a:r>
            </a:p>
            <a:p>
              <a:pPr>
                <a:spcAft>
                  <a:spcPts val="1000"/>
                </a:spcAft>
                <a:defRPr sz="1900"/>
              </a:pPr>
              <a:r>
                <a:t>✅ 9. Etkili Sunum Yapma</a:t>
              </a:r>
            </a:p>
            <a:p>
              <a:pPr>
                <a:spcAft>
                  <a:spcPts val="1000"/>
                </a:spcAft>
                <a:defRPr sz="1900"/>
              </a:pPr>
              <a:r>
                <a:t>✅ 10. Proje: Araştırma Sunumu</a:t>
              </a:r>
            </a:p>
            <a:p>
              <a:pPr>
                <a:spcAft>
                  <a:spcPts val="1000"/>
                </a:spcAft>
                <a:defRPr sz="1900"/>
              </a:pPr>
            </a:p>
            <a:p>
              <a:pPr>
                <a:spcAft>
                  <a:spcPts val="1000"/>
                </a:spcAft>
                <a:defRPr sz="1900"/>
              </a:pPr>
              <a:r>
                <a:t>⏰ Süre: 3 Hafta</a:t>
              </a:r>
            </a:p>
            <a:p>
              <a:pPr>
                <a:spcAft>
                  <a:spcPts val="1000"/>
                </a:spcAft>
                <a:defRPr sz="1900"/>
              </a:pPr>
              <a:r>
                <a:t>🎯 Amaç: Etkili sunumlar hazırlamak!</a:t>
              </a:r>
            </a:p>
          </p:txBody>
        </p:sp>
      </CT_Shape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CT_Shape>
        <p:sp>
          <p:nvSpPr>
            <p:cNvPr id="2" name="Title 1"/>
            <p:cNvSpPr>
              <a:spLocks noGrp="1"/>
            </p:cNvSpPr>
            <p:nvPr>
              <p:ph type="title"/>
            </p:nvPr>
          </p:nvSpPr>
          <p:spPr/>
          <p:txBody>
            <a:bodyPr/>
            <a:lstStyle/>
            <a:p>
              <a:pPr>
                <a:defRPr sz="3800" b="1">
                  <a:solidFill>
                    <a:srgbClr val="764BA2"/>
                  </a:solidFill>
                </a:defRPr>
              </a:pPr>
              <a:r>
                <a:t>🎬 Sunum Programı Nedir?</a:t>
              </a:r>
            </a:p>
          </p:txBody>
        </p:sp>
      </CT_Shape>
      <CT_Shape>
        <p:sp>
          <p:nvSpPr>
            <p:cNvPr id="3" name="Content Placeholder 2"/>
            <p:cNvSpPr>
              <a:spLocks noGrp="1"/>
            </p:cNvSpPr>
            <p:nvPr>
              <p:ph idx="1"/>
            </p:nvPr>
          </p:nvSpPr>
          <p:spPr/>
          <p:txBody>
            <a:bodyPr/>
            <a:lstStyle/>
            <a:p/>
          </p:txBody>
        </p:sp>
      </CT_Shape>
      <CT_Shape>
        <p:sp>
          <p:nvSpPr>
            <p:cNvPr id="4" name="TextBox 3"/>
            <p:cNvSpPr txBox="1"/>
            <p:nvPr/>
          </p:nvSpPr>
          <p:spPr>
            <a:xfrm>
              <a:off x="914400" y="1828800"/>
              <a:ext cx="7315200" cy="4572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/>
            <a:p>
              <a:pPr>
                <a:spcAft>
                  <a:spcPts val="1000"/>
                </a:spcAft>
                <a:defRPr sz="1900"/>
              </a:pPr>
              <a:r>
                <a:t>Sunum programı = Görsel sunumlar hazırlama aracı</a:t>
              </a:r>
            </a:p>
            <a:p>
              <a:pPr>
                <a:spcAft>
                  <a:spcPts val="1000"/>
                </a:spcAft>
                <a:defRPr sz="1900"/>
              </a:pPr>
            </a:p>
            <a:p>
              <a:pPr>
                <a:spcAft>
                  <a:spcPts val="1000"/>
                </a:spcAft>
                <a:defRPr sz="1900"/>
              </a:pPr>
              <a:r>
                <a:t>✅ Popüler Programlar: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Microsoft PowerPoint (ücretli)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Google Slides (ücretsiz)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Canva (online)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Prezi (farklı format)</a:t>
              </a:r>
            </a:p>
            <a:p>
              <a:pPr>
                <a:spcAft>
                  <a:spcPts val="1000"/>
                </a:spcAft>
                <a:defRPr sz="1900"/>
              </a:pPr>
            </a:p>
            <a:p>
              <a:pPr>
                <a:spcAft>
                  <a:spcPts val="1000"/>
                </a:spcAft>
                <a:defRPr sz="1900"/>
              </a:pPr>
              <a:r>
                <a:t>📌 Ne İçin Kullanılır?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Ders sunumları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Proje tanıtımı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Rapor sunumu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Eğitim materyali</a:t>
              </a:r>
            </a:p>
            <a:p>
              <a:pPr>
                <a:spcAft>
                  <a:spcPts val="1000"/>
                </a:spcAft>
                <a:defRPr sz="1900"/>
              </a:pPr>
            </a:p>
            <a:p>
              <a:pPr>
                <a:spcAft>
                  <a:spcPts val="1000"/>
                </a:spcAft>
                <a:defRPr sz="1900"/>
              </a:pPr>
              <a:r>
                <a:t>💡 İyi bir sunum: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Görsel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Net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Özlü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Etkili</a:t>
              </a:r>
            </a:p>
          </p:txBody>
        </p:sp>
      </CT_Shape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CT_Shape>
        <p:sp>
          <p:nvSpPr>
            <p:cNvPr id="2" name="Title 1"/>
            <p:cNvSpPr>
              <a:spLocks noGrp="1"/>
            </p:cNvSpPr>
            <p:nvPr>
              <p:ph type="title"/>
            </p:nvPr>
          </p:nvSpPr>
          <p:spPr/>
          <p:txBody>
            <a:bodyPr/>
            <a:lstStyle/>
            <a:p>
              <a:pPr>
                <a:defRPr sz="3800" b="1">
                  <a:solidFill>
                    <a:srgbClr val="764BA2"/>
                  </a:solidFill>
                </a:defRPr>
              </a:pPr>
              <a:r>
                <a:t>🎨 Slayt Tasarımı</a:t>
              </a:r>
            </a:p>
          </p:txBody>
        </p:sp>
      </CT_Shape>
      <CT_Shape>
        <p:sp>
          <p:nvSpPr>
            <p:cNvPr id="3" name="Content Placeholder 2"/>
            <p:cNvSpPr>
              <a:spLocks noGrp="1"/>
            </p:cNvSpPr>
            <p:nvPr>
              <p:ph idx="1"/>
            </p:nvPr>
          </p:nvSpPr>
          <p:spPr/>
          <p:txBody>
            <a:bodyPr/>
            <a:lstStyle/>
            <a:p/>
          </p:txBody>
        </p:sp>
      </CT_Shape>
      <CT_Shape>
        <p:sp>
          <p:nvSpPr>
            <p:cNvPr id="4" name="TextBox 3"/>
            <p:cNvSpPr txBox="1"/>
            <p:nvPr/>
          </p:nvSpPr>
          <p:spPr>
            <a:xfrm>
              <a:off x="914400" y="1828800"/>
              <a:ext cx="7315200" cy="4572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/>
            <a:p>
              <a:pPr>
                <a:spcAft>
                  <a:spcPts val="1000"/>
                </a:spcAft>
                <a:defRPr sz="1900"/>
              </a:pPr>
              <a:r>
                <a:t>Güzel ve etkili slayt nasıl olur?</a:t>
              </a:r>
            </a:p>
            <a:p>
              <a:pPr>
                <a:spcAft>
                  <a:spcPts val="1000"/>
                </a:spcAft>
                <a:defRPr sz="1900"/>
              </a:pPr>
            </a:p>
            <a:p>
              <a:pPr>
                <a:spcAft>
                  <a:spcPts val="1000"/>
                </a:spcAft>
                <a:defRPr sz="1900"/>
              </a:pPr>
              <a:r>
                <a:t>✅ Tasarım İlkeleri:</a:t>
              </a:r>
            </a:p>
            <a:p>
              <a:pPr>
                <a:spcAft>
                  <a:spcPts val="1000"/>
                </a:spcAft>
                <a:defRPr sz="1900"/>
              </a:pPr>
            </a:p>
            <a:p>
              <a:pPr>
                <a:spcAft>
                  <a:spcPts val="1000"/>
                </a:spcAft>
                <a:defRPr sz="1900"/>
              </a:pPr>
              <a:r>
                <a:t>🎯 Basitlik: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Her slayt 1 ana fikir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Çok metin kullanma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Boşluk bırak</a:t>
              </a:r>
            </a:p>
            <a:p>
              <a:pPr>
                <a:spcAft>
                  <a:spcPts val="1000"/>
                </a:spcAft>
                <a:defRPr sz="1900"/>
              </a:pPr>
            </a:p>
            <a:p>
              <a:pPr>
                <a:spcAft>
                  <a:spcPts val="1000"/>
                </a:spcAft>
                <a:defRPr sz="1900"/>
              </a:pPr>
              <a:r>
                <a:t>🌈 Renk Uyumu: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3-4 renk kullan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Kontrast önemli (açık arka plan + koyu metin)</a:t>
              </a:r>
            </a:p>
            <a:p>
              <a:pPr>
                <a:spcAft>
                  <a:spcPts val="1000"/>
                </a:spcAft>
                <a:defRPr sz="1900"/>
              </a:pPr>
            </a:p>
            <a:p>
              <a:pPr>
                <a:spcAft>
                  <a:spcPts val="1000"/>
                </a:spcAft>
                <a:defRPr sz="1900"/>
              </a:pPr>
              <a:r>
                <a:t>🔤 Yazı Tipi: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Okunabilir fontlar (Arial, Calibri)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Başlık: 28-44 pt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Metin: 18-24 pt</a:t>
              </a:r>
            </a:p>
            <a:p>
              <a:pPr>
                <a:spcAft>
                  <a:spcPts val="1000"/>
                </a:spcAft>
                <a:defRPr sz="1900"/>
              </a:pPr>
            </a:p>
            <a:p>
              <a:pPr>
                <a:spcAft>
                  <a:spcPts val="1000"/>
                </a:spcAft>
                <a:defRPr sz="1900"/>
              </a:pPr>
              <a:r>
                <a:t>🖼️ Görseller: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Yüksek çözünürlük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Konuyla ilgili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Telif haklarına dikkat</a:t>
              </a:r>
            </a:p>
            <a:p>
              <a:pPr>
                <a:spcAft>
                  <a:spcPts val="1000"/>
                </a:spcAft>
                <a:defRPr sz="1900"/>
              </a:pPr>
            </a:p>
            <a:p>
              <a:pPr>
                <a:spcAft>
                  <a:spcPts val="1000"/>
                </a:spcAft>
                <a:defRPr sz="1900"/>
              </a:pPr>
              <a:r>
                <a:t>💡 6-6 Kuralı:</a:t>
              </a:r>
            </a:p>
            <a:p>
              <a:pPr>
                <a:spcAft>
                  <a:spcPts val="1000"/>
                </a:spcAft>
                <a:defRPr sz="1900"/>
              </a:pPr>
              <a:r>
                <a:t>Slayt başına 6 madde, madde başına 6 kelime</a:t>
              </a:r>
            </a:p>
          </p:txBody>
        </p:sp>
      </CT_Shape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CT_Shape>
        <p:sp>
          <p:nvSpPr>
            <p:cNvPr id="2" name="Title 1"/>
            <p:cNvSpPr>
              <a:spLocks noGrp="1"/>
            </p:cNvSpPr>
            <p:nvPr>
              <p:ph type="title"/>
            </p:nvPr>
          </p:nvSpPr>
          <p:spPr/>
          <p:txBody>
            <a:bodyPr/>
            <a:lstStyle/>
            <a:p>
              <a:pPr>
                <a:defRPr sz="3800" b="1">
                  <a:solidFill>
                    <a:srgbClr val="764BA2"/>
                  </a:solidFill>
                </a:defRPr>
              </a:pPr>
              <a:r>
                <a:t>✨ Animasyonlar</a:t>
              </a:r>
            </a:p>
          </p:txBody>
        </p:sp>
      </CT_Shape>
      <CT_Shape>
        <p:sp>
          <p:nvSpPr>
            <p:cNvPr id="3" name="Content Placeholder 2"/>
            <p:cNvSpPr>
              <a:spLocks noGrp="1"/>
            </p:cNvSpPr>
            <p:nvPr>
              <p:ph idx="1"/>
            </p:nvPr>
          </p:nvSpPr>
          <p:spPr/>
          <p:txBody>
            <a:bodyPr/>
            <a:lstStyle/>
            <a:p/>
          </p:txBody>
        </p:sp>
      </CT_Shape>
      <CT_Shape>
        <p:sp>
          <p:nvSpPr>
            <p:cNvPr id="4" name="TextBox 3"/>
            <p:cNvSpPr txBox="1"/>
            <p:nvPr/>
          </p:nvSpPr>
          <p:spPr>
            <a:xfrm>
              <a:off x="914400" y="1828800"/>
              <a:ext cx="7315200" cy="4572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/>
            <a:p>
              <a:pPr>
                <a:spcAft>
                  <a:spcPts val="1000"/>
                </a:spcAft>
                <a:defRPr sz="1900"/>
              </a:pPr>
              <a:r>
                <a:t>Slaytları canlı hale getir!</a:t>
              </a:r>
            </a:p>
            <a:p>
              <a:pPr>
                <a:spcAft>
                  <a:spcPts val="1000"/>
                </a:spcAft>
                <a:defRPr sz="1900"/>
              </a:pPr>
            </a:p>
            <a:p>
              <a:pPr>
                <a:spcAft>
                  <a:spcPts val="1000"/>
                </a:spcAft>
                <a:defRPr sz="1900"/>
              </a:pPr>
              <a:r>
                <a:t>✅ Animasyon Türleri:</a:t>
              </a:r>
            </a:p>
            <a:p>
              <a:pPr>
                <a:spcAft>
                  <a:spcPts val="1000"/>
                </a:spcAft>
                <a:defRPr sz="1900"/>
              </a:pPr>
            </a:p>
            <a:p>
              <a:pPr>
                <a:spcAft>
                  <a:spcPts val="1000"/>
                </a:spcAft>
                <a:defRPr sz="1900"/>
              </a:pPr>
              <a:r>
                <a:t>🎬 Giriş Animasyonları: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Belirme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Uçarak gelme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Kayarak gelme</a:t>
              </a:r>
            </a:p>
            <a:p>
              <a:pPr>
                <a:spcAft>
                  <a:spcPts val="1000"/>
                </a:spcAft>
                <a:defRPr sz="1900"/>
              </a:pPr>
            </a:p>
            <a:p>
              <a:pPr>
                <a:spcAft>
                  <a:spcPts val="1000"/>
                </a:spcAft>
                <a:defRPr sz="1900"/>
              </a:pPr>
              <a:r>
                <a:t>🎭 Vurgu Animasyonları: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Büyütme/Küçültme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Döndürme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Renk değişimi</a:t>
              </a:r>
            </a:p>
            <a:p>
              <a:pPr>
                <a:spcAft>
                  <a:spcPts val="1000"/>
                </a:spcAft>
                <a:defRPr sz="1900"/>
              </a:pPr>
            </a:p>
            <a:p>
              <a:pPr>
                <a:spcAft>
                  <a:spcPts val="1000"/>
                </a:spcAft>
                <a:defRPr sz="1900"/>
              </a:pPr>
              <a:r>
                <a:t>🚀 Çıkış Animasyonları: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Kaybolma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Uçarak gitme</a:t>
              </a:r>
            </a:p>
            <a:p>
              <a:pPr>
                <a:spcAft>
                  <a:spcPts val="1000"/>
                </a:spcAft>
                <a:defRPr sz="1900"/>
              </a:pPr>
            </a:p>
            <a:p>
              <a:pPr>
                <a:spcAft>
                  <a:spcPts val="1000"/>
                </a:spcAft>
                <a:defRPr sz="1900"/>
              </a:pPr>
              <a:r>
                <a:t>⏱️ Zamanlama: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Otomatik (zaman ayarlı)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Tıklama ile</a:t>
              </a:r>
            </a:p>
            <a:p>
              <a:pPr>
                <a:spcAft>
                  <a:spcPts val="1000"/>
                </a:spcAft>
                <a:defRPr sz="1900"/>
              </a:pPr>
            </a:p>
            <a:p>
              <a:pPr>
                <a:spcAft>
                  <a:spcPts val="1000"/>
                </a:spcAft>
                <a:defRPr sz="1900"/>
              </a:pPr>
              <a:r>
                <a:t>⚠️ Dikkat: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Fazla animasyon dikkat dağıtır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Basit tutun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Amaca uygun kullanın</a:t>
              </a:r>
            </a:p>
          </p:txBody>
        </p:sp>
      </CT_Shape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CT_Shape>
        <p:sp>
          <p:nvSpPr>
            <p:cNvPr id="2" name="Title 1"/>
            <p:cNvSpPr>
              <a:spLocks noGrp="1"/>
            </p:cNvSpPr>
            <p:nvPr>
              <p:ph type="title"/>
            </p:nvPr>
          </p:nvSpPr>
          <p:spPr/>
          <p:txBody>
            <a:bodyPr/>
            <a:lstStyle/>
            <a:p>
              <a:pPr>
                <a:defRPr sz="3800" b="1">
                  <a:solidFill>
                    <a:srgbClr val="764BA2"/>
                  </a:solidFill>
                </a:defRPr>
              </a:pPr>
              <a:r>
                <a:t>🎬 Geçiş Efektleri</a:t>
              </a:r>
            </a:p>
          </p:txBody>
        </p:sp>
      </CT_Shape>
      <CT_Shape>
        <p:sp>
          <p:nvSpPr>
            <p:cNvPr id="3" name="Content Placeholder 2"/>
            <p:cNvSpPr>
              <a:spLocks noGrp="1"/>
            </p:cNvSpPr>
            <p:nvPr>
              <p:ph idx="1"/>
            </p:nvPr>
          </p:nvSpPr>
          <p:spPr/>
          <p:txBody>
            <a:bodyPr/>
            <a:lstStyle/>
            <a:p/>
          </p:txBody>
        </p:sp>
      </CT_Shape>
      <CT_Shape>
        <p:sp>
          <p:nvSpPr>
            <p:cNvPr id="4" name="TextBox 3"/>
            <p:cNvSpPr txBox="1"/>
            <p:nvPr/>
          </p:nvSpPr>
          <p:spPr>
            <a:xfrm>
              <a:off x="914400" y="1828800"/>
              <a:ext cx="7315200" cy="4572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/>
            <a:p>
              <a:pPr>
                <a:spcAft>
                  <a:spcPts val="1000"/>
                </a:spcAft>
                <a:defRPr sz="1900"/>
              </a:pPr>
              <a:r>
                <a:t>Slaytlar arası geçişler</a:t>
              </a:r>
            </a:p>
            <a:p>
              <a:pPr>
                <a:spcAft>
                  <a:spcPts val="1000"/>
                </a:spcAft>
                <a:defRPr sz="1900"/>
              </a:pPr>
            </a:p>
            <a:p>
              <a:pPr>
                <a:spcAft>
                  <a:spcPts val="1000"/>
                </a:spcAft>
                <a:defRPr sz="1900"/>
              </a:pPr>
              <a:r>
                <a:t>✅ Popüler Geçişler: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Soldurma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İtme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Kapak açma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Küp döndürme</a:t>
              </a:r>
            </a:p>
            <a:p>
              <a:pPr>
                <a:spcAft>
                  <a:spcPts val="1000"/>
                </a:spcAft>
                <a:defRPr sz="1900"/>
              </a:pPr>
            </a:p>
            <a:p>
              <a:pPr>
                <a:spcAft>
                  <a:spcPts val="1000"/>
                </a:spcAft>
                <a:defRPr sz="1900"/>
              </a:pPr>
              <a:r>
                <a:t>✅ Geçiş Ayarları: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Hız (yavaş, orta, hızlı)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Yön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Ses (genelde kullanılmaz)</a:t>
              </a:r>
            </a:p>
            <a:p>
              <a:pPr>
                <a:spcAft>
                  <a:spcPts val="1000"/>
                </a:spcAft>
                <a:defRPr sz="1900"/>
              </a:pPr>
            </a:p>
            <a:p>
              <a:pPr>
                <a:spcAft>
                  <a:spcPts val="1000"/>
                </a:spcAft>
                <a:defRPr sz="1900"/>
              </a:pPr>
              <a:r>
                <a:t>💡 İyi Uygulama: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Tüm slaytlarda aynı geçiş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Basit geçiş seç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Hız: Orta</a:t>
              </a:r>
            </a:p>
            <a:p>
              <a:pPr>
                <a:spcAft>
                  <a:spcPts val="1000"/>
                </a:spcAft>
                <a:defRPr sz="1900"/>
              </a:pPr>
            </a:p>
            <a:p>
              <a:pPr>
                <a:spcAft>
                  <a:spcPts val="1000"/>
                </a:spcAft>
                <a:defRPr sz="1900"/>
              </a:pPr>
              <a:r>
                <a:t>⚠️ Kötü Uygulama: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Her slayt farklı geçiş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Çok hızlı veya çok yavaş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Dikkat dağıtıcı efektler</a:t>
              </a:r>
            </a:p>
          </p:txBody>
        </p:sp>
      </CT_Shape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CT_Shape>
        <p:sp>
          <p:nvSpPr>
            <p:cNvPr id="2" name="Title 1"/>
            <p:cNvSpPr>
              <a:spLocks noGrp="1"/>
            </p:cNvSpPr>
            <p:nvPr>
              <p:ph type="title"/>
            </p:nvPr>
          </p:nvSpPr>
          <p:spPr/>
          <p:txBody>
            <a:bodyPr/>
            <a:lstStyle/>
            <a:p>
              <a:pPr>
                <a:defRPr sz="3800" b="1">
                  <a:solidFill>
                    <a:srgbClr val="764BA2"/>
                  </a:solidFill>
                </a:defRPr>
              </a:pPr>
              <a:r>
                <a:t>🎤 Etkili Sunum Yapma</a:t>
              </a:r>
            </a:p>
          </p:txBody>
        </p:sp>
      </CT_Shape>
      <CT_Shape>
        <p:sp>
          <p:nvSpPr>
            <p:cNvPr id="3" name="Content Placeholder 2"/>
            <p:cNvSpPr>
              <a:spLocks noGrp="1"/>
            </p:cNvSpPr>
            <p:nvPr>
              <p:ph idx="1"/>
            </p:nvPr>
          </p:nvSpPr>
          <p:spPr/>
          <p:txBody>
            <a:bodyPr/>
            <a:lstStyle/>
            <a:p/>
          </p:txBody>
        </p:sp>
      </CT_Shape>
      <CT_Shape>
        <p:sp>
          <p:nvSpPr>
            <p:cNvPr id="4" name="TextBox 3"/>
            <p:cNvSpPr txBox="1"/>
            <p:nvPr/>
          </p:nvSpPr>
          <p:spPr>
            <a:xfrm>
              <a:off x="914400" y="1828800"/>
              <a:ext cx="7315200" cy="4572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/>
            <a:p>
              <a:pPr>
                <a:spcAft>
                  <a:spcPts val="1000"/>
                </a:spcAft>
                <a:defRPr sz="1900"/>
              </a:pPr>
              <a:r>
                <a:t>Sunumu nasıl yapmalısın?</a:t>
              </a:r>
            </a:p>
            <a:p>
              <a:pPr>
                <a:spcAft>
                  <a:spcPts val="1000"/>
                </a:spcAft>
                <a:defRPr sz="1900"/>
              </a:pPr>
            </a:p>
            <a:p>
              <a:pPr>
                <a:spcAft>
                  <a:spcPts val="1000"/>
                </a:spcAft>
                <a:defRPr sz="1900"/>
              </a:pPr>
              <a:r>
                <a:t>✅ Sunum Öncesi: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Prova yap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Zamanını ölç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Ekipmanı kontrol et</a:t>
              </a:r>
            </a:p>
            <a:p>
              <a:pPr>
                <a:spcAft>
                  <a:spcPts val="1000"/>
                </a:spcAft>
                <a:defRPr sz="1900"/>
              </a:pPr>
            </a:p>
            <a:p>
              <a:pPr>
                <a:spcAft>
                  <a:spcPts val="1000"/>
                </a:spcAft>
                <a:defRPr sz="1900"/>
              </a:pPr>
              <a:r>
                <a:t>✅ Sunum Sırasında: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Göz teması kur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Net konuş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Slayta bakma, izleyicilere bak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Jestlerini kullan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Kendine güven</a:t>
              </a:r>
            </a:p>
            <a:p>
              <a:pPr>
                <a:spcAft>
                  <a:spcPts val="1000"/>
                </a:spcAft>
                <a:defRPr sz="1900"/>
              </a:pPr>
            </a:p>
            <a:p>
              <a:pPr>
                <a:spcAft>
                  <a:spcPts val="1000"/>
                </a:spcAft>
                <a:defRPr sz="1900"/>
              </a:pPr>
              <a:r>
                <a:t>✅ İçerik: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Giriş yap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Ana konuları sun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Özet yap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Sorular al</a:t>
              </a:r>
            </a:p>
            <a:p>
              <a:pPr>
                <a:spcAft>
                  <a:spcPts val="1000"/>
                </a:spcAft>
                <a:defRPr sz="1900"/>
              </a:pPr>
            </a:p>
            <a:p>
              <a:pPr>
                <a:spcAft>
                  <a:spcPts val="1000"/>
                </a:spcAft>
                <a:defRPr sz="1900"/>
              </a:pPr>
              <a:r>
                <a:t>💡 Altın Kural:</a:t>
              </a:r>
            </a:p>
            <a:p>
              <a:pPr>
                <a:spcAft>
                  <a:spcPts val="1000"/>
                </a:spcAft>
                <a:defRPr sz="1900"/>
              </a:pPr>
              <a:r>
                <a:t>Slayt senin yardımcın, sen sunumu yapıyorsun!</a:t>
              </a:r>
            </a:p>
            <a:p>
              <a:pPr>
                <a:spcAft>
                  <a:spcPts val="1000"/>
                </a:spcAft>
                <a:defRPr sz="1900"/>
              </a:pPr>
            </a:p>
            <a:p>
              <a:pPr>
                <a:spcAft>
                  <a:spcPts val="1000"/>
                </a:spcAft>
                <a:defRPr sz="1900"/>
              </a:pPr>
              <a:r>
                <a:t>⚠️ Yapma: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Slaytı kelimesi kelimesine okuma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Hızlı konuşma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İzleyiciye sırt dönme</a:t>
              </a:r>
            </a:p>
          </p:txBody>
        </p:sp>
      </CT_Shape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CT_Shape>
        <p:sp>
          <p:nvSpPr>
            <p:cNvPr id="2" name="Title 1"/>
            <p:cNvSpPr>
              <a:spLocks noGrp="1"/>
            </p:cNvSpPr>
            <p:nvPr>
              <p:ph type="title"/>
            </p:nvPr>
          </p:nvSpPr>
          <p:spPr/>
          <p:txBody>
            <a:bodyPr/>
            <a:lstStyle/>
            <a:p>
              <a:pPr>
                <a:defRPr sz="3800" b="1">
                  <a:solidFill>
                    <a:srgbClr val="764BA2"/>
                  </a:solidFill>
                </a:defRPr>
              </a:pPr>
              <a:r>
                <a:t>📝 Ünite Özeti</a:t>
              </a:r>
            </a:p>
          </p:txBody>
        </p:sp>
      </CT_Shape>
      <CT_Shape>
        <p:sp>
          <p:nvSpPr>
            <p:cNvPr id="3" name="Content Placeholder 2"/>
            <p:cNvSpPr>
              <a:spLocks noGrp="1"/>
            </p:cNvSpPr>
            <p:nvPr>
              <p:ph idx="1"/>
            </p:nvPr>
          </p:nvSpPr>
          <p:spPr/>
          <p:txBody>
            <a:bodyPr/>
            <a:lstStyle/>
            <a:p/>
          </p:txBody>
        </p:sp>
      </CT_Shape>
      <CT_Shape>
        <p:sp>
          <p:nvSpPr>
            <p:cNvPr id="4" name="TextBox 3"/>
            <p:cNvSpPr txBox="1"/>
            <p:nvPr/>
          </p:nvSpPr>
          <p:spPr>
            <a:xfrm>
              <a:off x="914400" y="1828800"/>
              <a:ext cx="7315200" cy="4572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/>
            <a:p>
              <a:pPr>
                <a:spcAft>
                  <a:spcPts val="1000"/>
                </a:spcAft>
                <a:defRPr sz="1900"/>
              </a:pPr>
              <a:r>
                <a:t>Bu ünitede neler öğrendik?</a:t>
              </a:r>
            </a:p>
            <a:p>
              <a:pPr>
                <a:spcAft>
                  <a:spcPts val="1000"/>
                </a:spcAft>
                <a:defRPr sz="1900"/>
              </a:pPr>
            </a:p>
            <a:p>
              <a:pPr>
                <a:spcAft>
                  <a:spcPts val="1000"/>
                </a:spcAft>
                <a:defRPr sz="1900"/>
              </a:pPr>
              <a:r>
                <a:t>✅ Sunum programları (PowerPoint, Google Slides)</a:t>
              </a:r>
            </a:p>
            <a:p>
              <a:pPr>
                <a:spcAft>
                  <a:spcPts val="1000"/>
                </a:spcAft>
                <a:defRPr sz="1900"/>
              </a:pPr>
              <a:r>
                <a:t>✅ Slayt tasarımı ilkeleri</a:t>
              </a:r>
            </a:p>
            <a:p>
              <a:pPr>
                <a:spcAft>
                  <a:spcPts val="1000"/>
                </a:spcAft>
                <a:defRPr sz="1900"/>
              </a:pPr>
              <a:r>
                <a:t>✅ Metin ve görsel ekleme</a:t>
              </a:r>
            </a:p>
            <a:p>
              <a:pPr>
                <a:spcAft>
                  <a:spcPts val="1000"/>
                </a:spcAft>
                <a:defRPr sz="1900"/>
              </a:pPr>
              <a:r>
                <a:t>✅ Animasyonlar ve geçişler</a:t>
              </a:r>
            </a:p>
            <a:p>
              <a:pPr>
                <a:spcAft>
                  <a:spcPts val="1000"/>
                </a:spcAft>
                <a:defRPr sz="1900"/>
              </a:pPr>
              <a:r>
                <a:t>✅ Multimedya ekleme</a:t>
              </a:r>
            </a:p>
            <a:p>
              <a:pPr>
                <a:spcAft>
                  <a:spcPts val="1000"/>
                </a:spcAft>
                <a:defRPr sz="1900"/>
              </a:pPr>
              <a:r>
                <a:t>✅ Etkili sunum hazırlama</a:t>
              </a:r>
            </a:p>
            <a:p>
              <a:pPr>
                <a:spcAft>
                  <a:spcPts val="1000"/>
                </a:spcAft>
                <a:defRPr sz="1900"/>
              </a:pPr>
              <a:r>
                <a:t>✅ Sunum yapma teknikleri</a:t>
              </a:r>
            </a:p>
            <a:p>
              <a:pPr>
                <a:spcAft>
                  <a:spcPts val="1000"/>
                </a:spcAft>
                <a:defRPr sz="1900"/>
              </a:pPr>
            </a:p>
            <a:p>
              <a:pPr>
                <a:spcAft>
                  <a:spcPts val="1000"/>
                </a:spcAft>
                <a:defRPr sz="1900"/>
              </a:pPr>
              <a:r>
                <a:t>💡 Anahtar Mesaj:</a:t>
              </a:r>
            </a:p>
            <a:p>
              <a:pPr>
                <a:spcAft>
                  <a:spcPts val="1000"/>
                </a:spcAft>
                <a:defRPr sz="1900"/>
              </a:pPr>
              <a:r>
                <a:t>Etkili sunum = Basit tasarım + İyi içerik + Kendine güven</a:t>
              </a:r>
            </a:p>
            <a:p>
              <a:pPr>
                <a:spcAft>
                  <a:spcPts val="1000"/>
                </a:spcAft>
                <a:defRPr sz="1900"/>
              </a:pPr>
            </a:p>
            <a:p>
              <a:pPr>
                <a:spcAft>
                  <a:spcPts val="1000"/>
                </a:spcAft>
                <a:defRPr sz="1900"/>
              </a:pPr>
              <a:r>
                <a:t>🎯 Artık profesyonel sunumlar yapabilirsin!</a:t>
              </a:r>
            </a:p>
            <a:p>
              <a:pPr>
                <a:spcAft>
                  <a:spcPts val="1000"/>
                </a:spcAft>
                <a:defRPr sz="1900"/>
              </a:pPr>
              <a:r>
                <a:t>🎤 Fikirlerini etkili bir şekilde anlatabilirsin!</a:t>
              </a:r>
            </a:p>
          </p:txBody>
        </p:sp>
      </CT_Shap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