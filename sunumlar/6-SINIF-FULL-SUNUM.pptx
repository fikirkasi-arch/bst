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BİLİŞİM TEKNOLOJİLERİ VE YAZILIM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2024-2025 Eğitim Öğretim Yılı - Tam Yıllık Program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📚 Yıllık Program İçeriği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/>
            </a:pPr>
            <a:r>
              <a:t>Bu yıl neler öğreneceğiz?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📊 ÜNİTE 1: Veri ve Analiz (4 hafta)</a:t>
            </a:r>
          </a:p>
          <a:p>
            <a:pPr lvl="1">
              <a:spcAft>
                <a:spcPts val="1000"/>
              </a:spcAft>
              <a:defRPr sz="1800"/>
            </a:pPr>
            <a:r>
              <a:t>    • Veri toplama ve düzenleme</a:t>
            </a:r>
          </a:p>
          <a:p>
            <a:pPr lvl="1">
              <a:spcAft>
                <a:spcPts val="1000"/>
              </a:spcAft>
              <a:defRPr sz="1800"/>
            </a:pPr>
            <a:r>
              <a:t>    • Grafik ve tablolar</a:t>
            </a:r>
          </a:p>
          <a:p>
            <a:pPr lvl="1">
              <a:spcAft>
                <a:spcPts val="1000"/>
              </a:spcAft>
              <a:defRPr sz="1800"/>
            </a:pPr>
            <a:r>
              <a:t>    • Excel/Sheets kullanımı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📝 ÜNİTE 2: Kelime İşlemci Programları (3 hafta)</a:t>
            </a:r>
          </a:p>
          <a:p>
            <a:pPr lvl="1">
              <a:spcAft>
                <a:spcPts val="1000"/>
              </a:spcAft>
              <a:defRPr sz="1800"/>
            </a:pPr>
            <a:r>
              <a:t>    • Word/Google Docs</a:t>
            </a:r>
          </a:p>
          <a:p>
            <a:pPr lvl="1">
              <a:spcAft>
                <a:spcPts val="1000"/>
              </a:spcAft>
              <a:defRPr sz="1800"/>
            </a:pPr>
            <a:r>
              <a:t>    • Profesyonel belge hazırlama</a:t>
            </a:r>
          </a:p>
          <a:p>
            <a:pPr lvl="1">
              <a:spcAft>
                <a:spcPts val="1000"/>
              </a:spcAft>
              <a:defRPr sz="1800"/>
            </a:pPr>
            <a:r>
              <a:t>    • İşbirlikli çalışma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🧩 ÜNİTE 3: Algoritmalar ve Problem Çözme (3 hafta)</a:t>
            </a:r>
          </a:p>
          <a:p>
            <a:pPr lvl="1">
              <a:spcAft>
                <a:spcPts val="1000"/>
              </a:spcAft>
              <a:defRPr sz="1800"/>
            </a:pPr>
            <a:r>
              <a:t>    • Algoritma tasarımı</a:t>
            </a:r>
          </a:p>
          <a:p>
            <a:pPr lvl="1">
              <a:spcAft>
                <a:spcPts val="1000"/>
              </a:spcAft>
              <a:defRPr sz="1800"/>
            </a:pPr>
            <a:r>
              <a:t>    • Akış diyagramları</a:t>
            </a:r>
          </a:p>
          <a:p>
            <a:pPr lvl="1">
              <a:spcAft>
                <a:spcPts val="1000"/>
              </a:spcAft>
              <a:defRPr sz="1800"/>
            </a:pPr>
            <a:r>
              <a:t>    • Problem çözme basamakları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🎮 ÜNİTE 4: Blok Tabanlı Programlama II (8 hafta)</a:t>
            </a:r>
          </a:p>
          <a:p>
            <a:pPr lvl="1">
              <a:spcAft>
                <a:spcPts val="1000"/>
              </a:spcAft>
              <a:defRPr sz="1800"/>
            </a:pPr>
            <a:r>
              <a:t>    • İleri seviye Scratch</a:t>
            </a:r>
          </a:p>
          <a:p>
            <a:pPr lvl="1">
              <a:spcAft>
                <a:spcPts val="1000"/>
              </a:spcAft>
              <a:defRPr sz="1800"/>
            </a:pPr>
            <a:r>
              <a:t>    • Klonlama, mesajlaşma</a:t>
            </a:r>
          </a:p>
          <a:p>
            <a:pPr lvl="1">
              <a:spcAft>
                <a:spcPts val="1000"/>
              </a:spcAft>
              <a:defRPr sz="1800"/>
            </a:pPr>
            <a:r>
              <a:t>    • Platform oyunu projesi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🎬 ÜNİTE 5: Sunum Programları (3 hafta)</a:t>
            </a:r>
          </a:p>
          <a:p>
            <a:pPr lvl="1">
              <a:spcAft>
                <a:spcPts val="1000"/>
              </a:spcAft>
              <a:defRPr sz="1800"/>
            </a:pPr>
            <a:r>
              <a:t>    • PowerPoint/Google Slides</a:t>
            </a:r>
          </a:p>
          <a:p>
            <a:pPr lvl="1">
              <a:spcAft>
                <a:spcPts val="1000"/>
              </a:spcAft>
              <a:defRPr sz="1800"/>
            </a:pPr>
            <a:r>
              <a:t>    • Etkili sunum hazırlama ve yapma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4C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Veri ve Analiz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E74C3C"/>
                </a:solidFill>
              </a:defRPr>
            </a:pPr>
            <a:r>
              <a:t>📊 Veri ile Çalışmak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/>
            </a:pPr>
            <a:r>
              <a:t>Veri = Ham bilgi, Bilgi = İşlenmiş veri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✅ Veri Süreci: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1️⃣ Toplama: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Anket, gözlem, deney</a:t>
            </a:r>
          </a:p>
          <a:p>
            <a:pPr lvl="1">
              <a:spcAft>
                <a:spcPts val="1000"/>
              </a:spcAft>
              <a:defRPr sz="1800"/>
            </a:pPr>
            <a:r>
              <a:t>    • İnternet, sensörler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2️⃣ Düzenleme: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Temizleme, sıralama</a:t>
            </a:r>
          </a:p>
          <a:p>
            <a:pPr lvl="1">
              <a:spcAft>
                <a:spcPts val="1000"/>
              </a:spcAft>
              <a:defRPr sz="1800"/>
            </a:pPr>
            <a:r>
              <a:t>    • Tabloya dönüştürme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3️⃣ Görselleştirme: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Grafikler (sütun, çizgi, pasta)</a:t>
            </a:r>
          </a:p>
          <a:p>
            <a:pPr lvl="1">
              <a:spcAft>
                <a:spcPts val="1000"/>
              </a:spcAft>
              <a:defRPr sz="1800"/>
            </a:pPr>
            <a:r>
              <a:t>    • Anlaşılır hale getirme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4️⃣ Analiz: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Ortalama, medyan, mod</a:t>
            </a:r>
          </a:p>
          <a:p>
            <a:pPr lvl="1">
              <a:spcAft>
                <a:spcPts val="1000"/>
              </a:spcAft>
              <a:defRPr sz="1800"/>
            </a:pPr>
            <a:r>
              <a:t>    • Kalıpları bulma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5️⃣ Karar Verme: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Veriye dayalı sonuçlar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💡 Excel/Sheets ile tablo ve grafik oluşturma</a:t>
            </a:r>
          </a:p>
          <a:p>
            <a:pPr>
              <a:spcAft>
                <a:spcPts val="1000"/>
              </a:spcAft>
              <a:defRPr sz="2000"/>
            </a:pPr>
            <a:r>
              <a:t>Formüller: =SUM(), =AVERAGE(), =MAX()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CC7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Kelime İşlemci Programları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ECC71"/>
                </a:solidFill>
              </a:defRPr>
            </a:pPr>
            <a:r>
              <a:t>📝 Profesyonel Belge Hazırlama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/>
            </a:pPr>
            <a:r>
              <a:t>Word ve Google Docs kullanımı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✅ Temel Beceriler: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🎨 Biçimlendirme: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Font, boyut, stil</a:t>
            </a:r>
          </a:p>
          <a:p>
            <a:pPr lvl="1">
              <a:spcAft>
                <a:spcPts val="1000"/>
              </a:spcAft>
              <a:defRPr sz="1800"/>
            </a:pPr>
            <a:r>
              <a:t>    • Paragraf ayarları</a:t>
            </a:r>
          </a:p>
          <a:p>
            <a:pPr lvl="1">
              <a:spcAft>
                <a:spcPts val="1000"/>
              </a:spcAft>
              <a:defRPr sz="1800"/>
            </a:pPr>
            <a:r>
              <a:t>    • Hizalama ve girintiler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🖼️ Görsel Öğeler: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Resim ekleme</a:t>
            </a:r>
          </a:p>
          <a:p>
            <a:pPr lvl="1">
              <a:spcAft>
                <a:spcPts val="1000"/>
              </a:spcAft>
              <a:defRPr sz="1800"/>
            </a:pPr>
            <a:r>
              <a:t>    • Şekiller ve SmartArt</a:t>
            </a:r>
          </a:p>
          <a:p>
            <a:pPr lvl="1">
              <a:spcAft>
                <a:spcPts val="1000"/>
              </a:spcAft>
              <a:defRPr sz="1800"/>
            </a:pPr>
            <a:r>
              <a:t>    • Tablo oluşturma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📄 Sayfa Düzeni: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Kenar boşlukları</a:t>
            </a:r>
          </a:p>
          <a:p>
            <a:pPr lvl="1">
              <a:spcAft>
                <a:spcPts val="1000"/>
              </a:spcAft>
              <a:defRPr sz="1800"/>
            </a:pPr>
            <a:r>
              <a:t>    • Üstbilgi/Altbilgi</a:t>
            </a:r>
          </a:p>
          <a:p>
            <a:pPr lvl="1">
              <a:spcAft>
                <a:spcPts val="1000"/>
              </a:spcAft>
              <a:defRPr sz="1800"/>
            </a:pPr>
            <a:r>
              <a:t>    • Sayfa numarası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🤝 İşbirlikli Çalışma (Google Docs):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Aynı anda düzenleme</a:t>
            </a:r>
          </a:p>
          <a:p>
            <a:pPr lvl="1">
              <a:spcAft>
                <a:spcPts val="1000"/>
              </a:spcAft>
              <a:defRPr sz="1800"/>
            </a:pPr>
            <a:r>
              <a:t>    • Yorum yapma</a:t>
            </a:r>
          </a:p>
          <a:p>
            <a:pPr lvl="1">
              <a:spcAft>
                <a:spcPts val="1000"/>
              </a:spcAft>
              <a:defRPr sz="1800"/>
            </a:pPr>
            <a:r>
              <a:t>    • Paylaşma ve izinler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💡 Grup ödevleri için harika!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98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Algoritmalar ve Problem Çözme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3498DB"/>
                </a:solidFill>
              </a:defRPr>
            </a:pPr>
            <a:r>
              <a:t>🧩 Algoritma Düşüncesi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/>
            </a:pPr>
            <a:r>
              <a:t>Algoritma = Problemi çözme adımları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✅ Algoritma Yapıları: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➡️ Sıralı: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Adım 1, Adım 2, Adım 3...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🔀 Seçimli (Karar):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Eğer ... ise</a:t>
            </a:r>
          </a:p>
          <a:p>
            <a:pPr lvl="1">
              <a:spcAft>
                <a:spcPts val="1000"/>
              </a:spcAft>
              <a:defRPr sz="1800"/>
            </a:pPr>
            <a:r>
              <a:t>    • Değilse...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🔁 Döngülü (Tekrar):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For döngüsü (belirli sayıda)</a:t>
            </a:r>
          </a:p>
          <a:p>
            <a:pPr lvl="1">
              <a:spcAft>
                <a:spcPts val="1000"/>
              </a:spcAft>
              <a:defRPr sz="1800"/>
            </a:pPr>
            <a:r>
              <a:t>    • While döngüsü (koşula göre)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📊 Akış Diyagramı: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Oval: Başla/Bitir</a:t>
            </a:r>
          </a:p>
          <a:p>
            <a:pPr lvl="1">
              <a:spcAft>
                <a:spcPts val="1000"/>
              </a:spcAft>
              <a:defRPr sz="1800"/>
            </a:pPr>
            <a:r>
              <a:t>    • Dikdörtgen: İşlem</a:t>
            </a:r>
          </a:p>
          <a:p>
            <a:pPr lvl="1">
              <a:spcAft>
                <a:spcPts val="1000"/>
              </a:spcAft>
              <a:defRPr sz="1800"/>
            </a:pPr>
            <a:r>
              <a:t>    • Baklava: Karar</a:t>
            </a:r>
          </a:p>
          <a:p>
            <a:pPr lvl="1">
              <a:spcAft>
                <a:spcPts val="1000"/>
              </a:spcAft>
              <a:defRPr sz="1800"/>
            </a:pPr>
            <a:r>
              <a:t>    • Ok: Akış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🎯 Problem Çözme:</a:t>
            </a:r>
          </a:p>
          <a:p>
            <a:pPr>
              <a:spcAft>
                <a:spcPts val="1000"/>
              </a:spcAft>
              <a:defRPr sz="2000"/>
            </a:pPr>
            <a:r>
              <a:t>Anla → Planla → Uygula → Test Et → İyileştir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💡 Her problem adım adım çözülebilir!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59B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Blok Tabanlı Programlama II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B59B6"/>
                </a:solidFill>
              </a:defRPr>
            </a:pPr>
            <a:r>
              <a:t>🎮 İleri Seviye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/>
            </a:pPr>
            <a:r>
              <a:t>Scratch'te profesyonel projeler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✅ İleri Seviye Özellikler: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👥 Klonlama: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Çok sprite oluşturma</a:t>
            </a:r>
          </a:p>
          <a:p>
            <a:pPr lvl="1">
              <a:spcAft>
                <a:spcPts val="1000"/>
              </a:spcAft>
              <a:defRPr sz="1800"/>
            </a:pPr>
            <a:r>
              <a:t>    • Düşmanlar, mermiler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📡 Mesajlaşma: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Sprite'lar arası iletişim</a:t>
            </a:r>
          </a:p>
          <a:p>
            <a:pPr lvl="1">
              <a:spcAft>
                <a:spcPts val="1000"/>
              </a:spcAft>
              <a:defRPr sz="1800"/>
            </a:pPr>
            <a:r>
              <a:t>    • Koordinasyon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🎨 Uzantılar: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Kalem (çizim)</a:t>
            </a:r>
          </a:p>
          <a:p>
            <a:pPr lvl="1">
              <a:spcAft>
                <a:spcPts val="1000"/>
              </a:spcAft>
              <a:defRPr sz="1800"/>
            </a:pPr>
            <a:r>
              <a:t>    • Müzik (melodi)</a:t>
            </a:r>
          </a:p>
          <a:p>
            <a:pPr lvl="1">
              <a:spcAft>
                <a:spcPts val="1000"/>
              </a:spcAft>
              <a:defRPr sz="1800"/>
            </a:pPr>
            <a:r>
              <a:t>    • Video algılama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🎯 Platform Oyunu Projesi: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Yer çekimi mekaniği</a:t>
            </a:r>
          </a:p>
          <a:p>
            <a:pPr lvl="1">
              <a:spcAft>
                <a:spcPts val="1000"/>
              </a:spcAft>
              <a:defRPr sz="1800"/>
            </a:pPr>
            <a:r>
              <a:t>    • Zıplama ve hareket</a:t>
            </a:r>
          </a:p>
          <a:p>
            <a:pPr lvl="1">
              <a:spcAft>
                <a:spcPts val="1000"/>
              </a:spcAft>
              <a:defRPr sz="1800"/>
            </a:pPr>
            <a:r>
              <a:t>    • Düşman AI</a:t>
            </a:r>
          </a:p>
          <a:p>
            <a:pPr lvl="1">
              <a:spcAft>
                <a:spcPts val="1000"/>
              </a:spcAft>
              <a:defRPr sz="1800"/>
            </a:pPr>
            <a:r>
              <a:t>    • Seviye tasarımı</a:t>
            </a:r>
          </a:p>
          <a:p>
            <a:pPr lvl="1">
              <a:spcAft>
                <a:spcPts val="1000"/>
              </a:spcAft>
              <a:defRPr sz="1800"/>
            </a:pPr>
            <a:r>
              <a:t>    • Puan ve can sistemi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💡 Karmaşık oyunlar yapabilirsin!</a:t>
            </a:r>
          </a:p>
          <a:p>
            <a:pPr>
              <a:spcAft>
                <a:spcPts val="1000"/>
              </a:spcAft>
              <a:defRPr sz="2000"/>
            </a:pPr>
            <a:r>
              <a:t>Tüm öğrendiklerini birleştir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C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Sunum Programları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F1C40F"/>
                </a:solidFill>
              </a:defRPr>
            </a:pPr>
            <a:r>
              <a:t>🎬 Etkili Sunum Hazırlama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/>
            </a:pPr>
            <a:r>
              <a:t>PowerPoint ve Google Slides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✅ Tasarım İlkeleri: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🎨 Basitlik: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Her slayt 1 ana fikir</a:t>
            </a:r>
          </a:p>
          <a:p>
            <a:pPr lvl="1">
              <a:spcAft>
                <a:spcPts val="1000"/>
              </a:spcAft>
              <a:defRPr sz="1800"/>
            </a:pPr>
            <a:r>
              <a:t>    • 6-6 Kuralı (6 madde, 6 kelime)</a:t>
            </a:r>
          </a:p>
          <a:p>
            <a:pPr lvl="1">
              <a:spcAft>
                <a:spcPts val="1000"/>
              </a:spcAft>
              <a:defRPr sz="1800"/>
            </a:pPr>
            <a:r>
              <a:t>    • Boşluk bırak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🌈 Görsellik: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Renkuyumu</a:t>
            </a:r>
          </a:p>
          <a:p>
            <a:pPr lvl="1">
              <a:spcAft>
                <a:spcPts val="1000"/>
              </a:spcAft>
              <a:defRPr sz="1800"/>
            </a:pPr>
            <a:r>
              <a:t>    • Yüksek kalite görseller</a:t>
            </a:r>
          </a:p>
          <a:p>
            <a:pPr lvl="1">
              <a:spcAft>
                <a:spcPts val="1000"/>
              </a:spcAft>
              <a:defRPr sz="1800"/>
            </a:pPr>
            <a:r>
              <a:t>    • Okumabilir fontlar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✨ Animasyonlar: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Basit kullan</a:t>
            </a:r>
          </a:p>
          <a:p>
            <a:pPr lvl="1">
              <a:spcAft>
                <a:spcPts val="1000"/>
              </a:spcAft>
              <a:defRPr sz="1800"/>
            </a:pPr>
            <a:r>
              <a:t>    • Amaçlı kullan</a:t>
            </a:r>
          </a:p>
          <a:p>
            <a:pPr lvl="1">
              <a:spcAft>
                <a:spcPts val="1000"/>
              </a:spcAft>
              <a:defRPr sz="1800"/>
            </a:pPr>
            <a:r>
              <a:t>    • Dikkat dağıtma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🎤 Sunum Yapma: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Göz teması</a:t>
            </a:r>
          </a:p>
          <a:p>
            <a:pPr lvl="1">
              <a:spcAft>
                <a:spcPts val="1000"/>
              </a:spcAft>
              <a:defRPr sz="1800"/>
            </a:pPr>
            <a:r>
              <a:t>    • Net konuşma</a:t>
            </a:r>
          </a:p>
          <a:p>
            <a:pPr lvl="1">
              <a:spcAft>
                <a:spcPts val="1000"/>
              </a:spcAft>
              <a:defRPr sz="1800"/>
            </a:pPr>
            <a:r>
              <a:t>    • Slayta değil, izleyiciye bak</a:t>
            </a:r>
          </a:p>
          <a:p>
            <a:pPr lvl="1">
              <a:spcAft>
                <a:spcPts val="1000"/>
              </a:spcAft>
              <a:defRPr sz="1800"/>
            </a:pPr>
            <a:r>
              <a:t>    • Prova yap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💡 Sen sunumu yapıyorsun, slayt yardımcın!</a:t>
            </a:r>
          </a:p>
          <a:p>
            <a:pPr>
              <a:spcAft>
                <a:spcPts val="1000"/>
              </a:spcAft>
              <a:defRPr sz="2000"/>
            </a:pPr>
            <a:r>
              <a:t>İçerik + Tasarım + Sunum = Başarı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764BA2"/>
                </a:solidFill>
              </a:defRPr>
            </a:pPr>
            <a:r>
              <a:t>🎯 6. Sınıfta Kazandıklarınız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/>
            </a:pPr>
            <a:r>
              <a:t>Bu yıl neler öğrendiniz?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✅ Veri analizi ve görselleştirme</a:t>
            </a:r>
          </a:p>
          <a:p>
            <a:pPr>
              <a:spcAft>
                <a:spcPts val="1000"/>
              </a:spcAft>
              <a:defRPr sz="2000"/>
            </a:pPr>
            <a:r>
              <a:t>✅ Profesyonel belge hazırlama</a:t>
            </a:r>
          </a:p>
          <a:p>
            <a:pPr>
              <a:spcAft>
                <a:spcPts val="1000"/>
              </a:spcAft>
              <a:defRPr sz="2000"/>
            </a:pPr>
            <a:r>
              <a:t>✅ Algoritmik düşünme ve problem çözme</a:t>
            </a:r>
          </a:p>
          <a:p>
            <a:pPr>
              <a:spcAft>
                <a:spcPts val="1000"/>
              </a:spcAft>
              <a:defRPr sz="2000"/>
            </a:pPr>
            <a:r>
              <a:t>✅ İleri seviye programlama (Scratch)</a:t>
            </a:r>
          </a:p>
          <a:p>
            <a:pPr>
              <a:spcAft>
                <a:spcPts val="1000"/>
              </a:spcAft>
              <a:defRPr sz="2000"/>
            </a:pPr>
            <a:r>
              <a:t>✅ Etkili sunum hazırlama ve yapma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💡 Kazanılan Üst Düzey Beceriler:</a:t>
            </a:r>
          </a:p>
          <a:p>
            <a:pPr lvl="1">
              <a:spcAft>
                <a:spcPts val="1000"/>
              </a:spcAft>
              <a:defRPr sz="1800"/>
            </a:pPr>
            <a:r>
              <a:t>    • Analitik düşünme</a:t>
            </a:r>
          </a:p>
          <a:p>
            <a:pPr lvl="1">
              <a:spcAft>
                <a:spcPts val="1000"/>
              </a:spcAft>
              <a:defRPr sz="1800"/>
            </a:pPr>
            <a:r>
              <a:t>    • Veri okuryazarlığı</a:t>
            </a:r>
          </a:p>
          <a:p>
            <a:pPr lvl="1">
              <a:spcAft>
                <a:spcPts val="1000"/>
              </a:spcAft>
              <a:defRPr sz="1800"/>
            </a:pPr>
            <a:r>
              <a:t>    • Algoritmik çözüm geliştirme</a:t>
            </a:r>
          </a:p>
          <a:p>
            <a:pPr lvl="1">
              <a:spcAft>
                <a:spcPts val="1000"/>
              </a:spcAft>
              <a:defRPr sz="1800"/>
            </a:pPr>
            <a:r>
              <a:t>    • Karmaşık proje yönetimi</a:t>
            </a:r>
          </a:p>
          <a:p>
            <a:pPr lvl="1">
              <a:spcAft>
                <a:spcPts val="1000"/>
              </a:spcAft>
              <a:defRPr sz="1800"/>
            </a:pPr>
            <a:r>
              <a:t>    • Etkili iletişim</a:t>
            </a:r>
          </a:p>
          <a:p>
            <a:pPr lvl="1">
              <a:spcAft>
                <a:spcPts val="1000"/>
              </a:spcAft>
              <a:defRPr sz="1800"/>
            </a:pPr>
            <a:r>
              <a:t>    • Dijital üretkenlik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🎓 Artık ileri seviye teknoloji kullanıcısısınız!</a:t>
            </a:r>
          </a:p>
          <a:p>
            <a:pPr>
              <a:spcAft>
                <a:spcPts val="1000"/>
              </a:spcAft>
              <a:defRPr sz="2000"/>
            </a:pPr>
          </a:p>
          <a:p>
            <a:pPr>
              <a:spcAft>
                <a:spcPts val="1000"/>
              </a:spcAft>
              <a:defRPr sz="2000"/>
            </a:pPr>
            <a:r>
              <a:t>🚀 Ortaokulda Python, web programlama sizi bekliyor!</a:t>
            </a:r>
          </a:p>
          <a:p>
            <a:pPr>
              <a:spcAft>
                <a:spcPts val="1000"/>
              </a:spcAft>
              <a:defRPr sz="2000"/>
            </a:pPr>
            <a:r>
              <a:t>Temelleri çok sağlam attınız!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6. Sınıf Bilişim Teknolojileri Programını Tamamladınız!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