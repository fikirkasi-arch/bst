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ünite 9 hafta sürecek ve bilişim teknolojilerinin temellerini kapsar.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önerisi: 'Bilişim Teknolojileri Nedir?' - YouTube'da aratın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Her kategori için örnek resimler ekleyin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Donanım ve yazılım karşılaştırma görselleri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'CPU Nasıl Çalışır?' animasyonu izletin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RAM kartı fotoğrafı ve çalışma masası analojisi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'HDD vs SSD Karşılaştırması' izletin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Anakart fotoğrafı ve etiketli diyagram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'İşletim Sistemleri Tanıtımı'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Uygulama: Öğrencilere kısayolları denetin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Farklı dosya türleri ve ikonları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Uygulama: Öğrencilerle birlikte bu işlemleri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📱 BİLİŞİM TEMELLERİ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5. Sınıf - Ünite 1</a:t>
            </a:r>
          </a:p>
          <a:p>
            <a:r>
              <a:t>9 Haftalık Kapsamlı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📋 Ünite İçeriği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🖥️ 1. Bilişim Teknolojilerinin Hayatımızdaki Yeri</a:t>
            </a:r>
          </a:p>
          <a:p>
            <a:pPr>
              <a:spcAft>
                <a:spcPts val="1200"/>
              </a:spcAft>
              <a:defRPr sz="2000"/>
            </a:pPr>
            <a:r>
              <a:t>    • Bilişim Teknolojilerinin Sınıflandırılması</a:t>
            </a:r>
          </a:p>
          <a:p>
            <a:pPr>
              <a:spcAft>
                <a:spcPts val="1200"/>
              </a:spcAft>
              <a:defRPr sz="2000"/>
            </a:pPr>
            <a:r>
              <a:t>    • Etkileri ve Dijital Sağlık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💻 2. Bilgisayar Sistemleri</a:t>
            </a:r>
          </a:p>
          <a:p>
            <a:pPr>
              <a:spcAft>
                <a:spcPts val="1200"/>
              </a:spcAft>
              <a:defRPr sz="2000"/>
            </a:pPr>
            <a:r>
              <a:t>    • Donanım Bileşenleri (CPU, RAM, Hard Disk, Anakart)</a:t>
            </a:r>
          </a:p>
          <a:p>
            <a:pPr>
              <a:spcAft>
                <a:spcPts val="1200"/>
              </a:spcAft>
              <a:defRPr sz="2000"/>
            </a:pPr>
            <a:r>
              <a:t>    • Giriş ve Çıkış Birimleri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⚙️ 3. İşletim Sistemleri</a:t>
            </a:r>
          </a:p>
          <a:p>
            <a:pPr>
              <a:spcAft>
                <a:spcPts val="1200"/>
              </a:spcAft>
              <a:defRPr sz="2000"/>
            </a:pPr>
            <a:r>
              <a:t>    • Windows, Linux, macOS</a:t>
            </a:r>
          </a:p>
          <a:p>
            <a:pPr>
              <a:spcAft>
                <a:spcPts val="1200"/>
              </a:spcAft>
              <a:defRPr sz="2000"/>
            </a:pPr>
            <a:r>
              <a:t>    • Temel Görevler ve Kullanım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📁 4. Dosya ve Klasör Yönetimi</a:t>
            </a:r>
          </a:p>
          <a:p>
            <a:pPr>
              <a:spcAft>
                <a:spcPts val="1200"/>
              </a:spcAft>
              <a:defRPr sz="2000"/>
            </a:pPr>
            <a:r>
              <a:t>    • Dosya Uzantıları</a:t>
            </a:r>
          </a:p>
          <a:p>
            <a:pPr>
              <a:spcAft>
                <a:spcPts val="1200"/>
              </a:spcAft>
              <a:defRPr sz="2000"/>
            </a:pPr>
            <a:r>
              <a:t>    • Düzenleme ve Yönetim İşlemleri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🌐 Bilişim Teknolojileri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✅ Tanım:</a:t>
            </a:r>
          </a:p>
          <a:p>
            <a:pPr>
              <a:spcAft>
                <a:spcPts val="1200"/>
              </a:spcAft>
              <a:defRPr sz="2000"/>
            </a:pPr>
            <a:r>
              <a:t>Bilgi ve iletişim teknolojilerinin tümünü kapsayan alan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Temel Bileşenler:</a:t>
            </a:r>
          </a:p>
          <a:p>
            <a:pPr>
              <a:spcAft>
                <a:spcPts val="1200"/>
              </a:spcAft>
              <a:defRPr sz="2000"/>
            </a:pPr>
            <a:r>
              <a:t>    • Donanım (Hardware)</a:t>
            </a:r>
          </a:p>
          <a:p>
            <a:pPr>
              <a:spcAft>
                <a:spcPts val="1200"/>
              </a:spcAft>
              <a:defRPr sz="2000"/>
            </a:pPr>
            <a:r>
              <a:t>    • Yazılım (Software)</a:t>
            </a:r>
          </a:p>
          <a:p>
            <a:pPr>
              <a:spcAft>
                <a:spcPts val="1200"/>
              </a:spcAft>
              <a:defRPr sz="2000"/>
            </a:pPr>
            <a:r>
              <a:t>    • Ağlar (Networks)</a:t>
            </a:r>
          </a:p>
          <a:p>
            <a:pPr>
              <a:spcAft>
                <a:spcPts val="1200"/>
              </a:spcAft>
              <a:defRPr sz="2000"/>
            </a:pPr>
            <a:r>
              <a:t>    • Veriler (Data)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Kullanım Alanları:</a:t>
            </a:r>
          </a:p>
          <a:p>
            <a:pPr>
              <a:spcAft>
                <a:spcPts val="1200"/>
              </a:spcAft>
              <a:defRPr sz="2000"/>
            </a:pPr>
            <a:r>
              <a:t>    • Eğitim</a:t>
            </a:r>
          </a:p>
          <a:p>
            <a:pPr>
              <a:spcAft>
                <a:spcPts val="1200"/>
              </a:spcAft>
              <a:defRPr sz="2000"/>
            </a:pPr>
            <a:r>
              <a:t>    • Sağlık</a:t>
            </a:r>
          </a:p>
          <a:p>
            <a:pPr>
              <a:spcAft>
                <a:spcPts val="1200"/>
              </a:spcAft>
              <a:defRPr sz="2000"/>
            </a:pPr>
            <a:r>
              <a:t>    • İletişim</a:t>
            </a:r>
          </a:p>
          <a:p>
            <a:pPr>
              <a:spcAft>
                <a:spcPts val="1200"/>
              </a:spcAft>
              <a:defRPr sz="2000"/>
            </a:pPr>
            <a:r>
              <a:t>    • Eğlence</a:t>
            </a:r>
          </a:p>
          <a:p>
            <a:pPr>
              <a:spcAft>
                <a:spcPts val="1200"/>
              </a:spcAft>
              <a:defRPr sz="2000"/>
            </a:pPr>
            <a:r>
              <a:t>    • İş dünyası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📊 Bilişim Teknolojilerinin Sınıflandırılması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1️⃣ Donanım Teknolojileri</a:t>
            </a:r>
          </a:p>
          <a:p>
            <a:pPr>
              <a:spcAft>
                <a:spcPts val="1200"/>
              </a:spcAft>
              <a:defRPr sz="2000"/>
            </a:pPr>
            <a:r>
              <a:t>    • Bilgisayarlar, tabletler, akıllı telefonlar</a:t>
            </a:r>
          </a:p>
          <a:p>
            <a:pPr>
              <a:spcAft>
                <a:spcPts val="1200"/>
              </a:spcAft>
              <a:defRPr sz="2000"/>
            </a:pPr>
            <a:r>
              <a:t>    • Sunucular, ağ cihazları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2️⃣ Yazılım Teknolojileri</a:t>
            </a:r>
          </a:p>
          <a:p>
            <a:pPr>
              <a:spcAft>
                <a:spcPts val="1200"/>
              </a:spcAft>
              <a:defRPr sz="2000"/>
            </a:pPr>
            <a:r>
              <a:t>    • İşletim sistemleri</a:t>
            </a:r>
          </a:p>
          <a:p>
            <a:pPr>
              <a:spcAft>
                <a:spcPts val="1200"/>
              </a:spcAft>
              <a:defRPr sz="2000"/>
            </a:pPr>
            <a:r>
              <a:t>    • Uygulama programları</a:t>
            </a:r>
          </a:p>
          <a:p>
            <a:pPr>
              <a:spcAft>
                <a:spcPts val="1200"/>
              </a:spcAft>
              <a:defRPr sz="2000"/>
            </a:pPr>
            <a:r>
              <a:t>    • Web tarayıcıları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3️⃣ İletişim Teknolojileri</a:t>
            </a:r>
          </a:p>
          <a:p>
            <a:pPr>
              <a:spcAft>
                <a:spcPts val="1200"/>
              </a:spcAft>
              <a:defRPr sz="2000"/>
            </a:pPr>
            <a:r>
              <a:t>    • İnternet</a:t>
            </a:r>
          </a:p>
          <a:p>
            <a:pPr>
              <a:spcAft>
                <a:spcPts val="1200"/>
              </a:spcAft>
              <a:defRPr sz="2000"/>
            </a:pPr>
            <a:r>
              <a:t>    • E-posta</a:t>
            </a:r>
          </a:p>
          <a:p>
            <a:pPr>
              <a:spcAft>
                <a:spcPts val="1200"/>
              </a:spcAft>
              <a:defRPr sz="2000"/>
            </a:pPr>
            <a:r>
              <a:t>    • Video konferans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4️⃣ Veri Yönetimi</a:t>
            </a:r>
          </a:p>
          <a:p>
            <a:pPr>
              <a:spcAft>
                <a:spcPts val="1200"/>
              </a:spcAft>
              <a:defRPr sz="2000"/>
            </a:pPr>
            <a:r>
              <a:t>    • Veritabanları</a:t>
            </a:r>
          </a:p>
          <a:p>
            <a:pPr>
              <a:spcAft>
                <a:spcPts val="1200"/>
              </a:spcAft>
              <a:defRPr sz="2000"/>
            </a:pPr>
            <a:r>
              <a:t>    • Bulut depolama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🌟 Bilişim Teknolojilerinin Hayatımıza Etkileri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✅ Olumlu Etkiler:</a:t>
            </a:r>
          </a:p>
          <a:p>
            <a:pPr>
              <a:spcAft>
                <a:spcPts val="1200"/>
              </a:spcAft>
              <a:defRPr sz="2000"/>
            </a:pPr>
            <a:r>
              <a:t>    • Hızlı bilgiye erişim</a:t>
            </a:r>
          </a:p>
          <a:p>
            <a:pPr>
              <a:spcAft>
                <a:spcPts val="1200"/>
              </a:spcAft>
              <a:defRPr sz="2000"/>
            </a:pPr>
            <a:r>
              <a:t>    • Uzaktan çalışma/eğitim imkanı</a:t>
            </a:r>
          </a:p>
          <a:p>
            <a:pPr>
              <a:spcAft>
                <a:spcPts val="1200"/>
              </a:spcAft>
              <a:defRPr sz="2000"/>
            </a:pPr>
            <a:r>
              <a:t>    • Sosyal bağlantılar</a:t>
            </a:r>
          </a:p>
          <a:p>
            <a:pPr>
              <a:spcAft>
                <a:spcPts val="1200"/>
              </a:spcAft>
              <a:defRPr sz="2000"/>
            </a:pPr>
            <a:r>
              <a:t>    • Eğlence ve hobi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⚠️ Olumsuz Etkiler:</a:t>
            </a:r>
          </a:p>
          <a:p>
            <a:pPr>
              <a:spcAft>
                <a:spcPts val="1200"/>
              </a:spcAft>
              <a:defRPr sz="2000"/>
            </a:pPr>
            <a:r>
              <a:t>    • Ekran bağımlılığı</a:t>
            </a:r>
          </a:p>
          <a:p>
            <a:pPr>
              <a:spcAft>
                <a:spcPts val="1200"/>
              </a:spcAft>
              <a:defRPr sz="2000"/>
            </a:pPr>
            <a:r>
              <a:t>    • Göz ve sırt problemleri</a:t>
            </a:r>
          </a:p>
          <a:p>
            <a:pPr>
              <a:spcAft>
                <a:spcPts val="1200"/>
              </a:spcAft>
              <a:defRPr sz="2000"/>
            </a:pPr>
            <a:r>
              <a:t>    • Siber zorbalık riski</a:t>
            </a:r>
          </a:p>
          <a:p>
            <a:pPr>
              <a:spcAft>
                <a:spcPts val="1200"/>
              </a:spcAft>
              <a:defRPr sz="2000"/>
            </a:pPr>
            <a:r>
              <a:t>    • Gizlilik endişeleri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Dijital Sağlık:</a:t>
            </a:r>
          </a:p>
          <a:p>
            <a:pPr>
              <a:spcAft>
                <a:spcPts val="1200"/>
              </a:spcAft>
              <a:defRPr sz="2000"/>
            </a:pPr>
            <a:r>
              <a:t>    • 20-20-20 kuralı (20 dk çalış, 20 sn ara, 20 feet uzak)</a:t>
            </a:r>
          </a:p>
          <a:p>
            <a:pPr>
              <a:spcAft>
                <a:spcPts val="1200"/>
              </a:spcAft>
              <a:defRPr sz="2000"/>
            </a:pPr>
            <a:r>
              <a:t>    • Doğru oturuş pozisyonu</a:t>
            </a:r>
          </a:p>
          <a:p>
            <a:pPr>
              <a:spcAft>
                <a:spcPts val="1200"/>
              </a:spcAft>
              <a:defRPr sz="2000"/>
            </a:pPr>
            <a:r>
              <a:t>    • Düzenli molalar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🖥️ Bilgisayar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Bir bilgisayar 2 ana bölümden oluşur: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1️⃣ DONANIM (Hardware)</a:t>
            </a:r>
          </a:p>
          <a:p>
            <a:pPr>
              <a:spcAft>
                <a:spcPts val="1200"/>
              </a:spcAft>
              <a:defRPr sz="2000"/>
            </a:pPr>
            <a:r>
              <a:t>    • Elle tutulabilen, fiziksel parçalar</a:t>
            </a:r>
          </a:p>
          <a:p>
            <a:pPr>
              <a:spcAft>
                <a:spcPts val="1200"/>
              </a:spcAft>
              <a:defRPr sz="2000"/>
            </a:pPr>
            <a:r>
              <a:t>    • Örnek: Klavye, mouse, ekran, kasa içi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2️⃣ YAZILIM (Software)</a:t>
            </a:r>
          </a:p>
          <a:p>
            <a:pPr>
              <a:spcAft>
                <a:spcPts val="1200"/>
              </a:spcAft>
              <a:defRPr sz="2000"/>
            </a:pPr>
            <a:r>
              <a:t>    • Programlar ve uygulamalar</a:t>
            </a:r>
          </a:p>
          <a:p>
            <a:pPr>
              <a:spcAft>
                <a:spcPts val="1200"/>
              </a:spcAft>
              <a:defRPr sz="2000"/>
            </a:pPr>
            <a:r>
              <a:t>    • Örnek: Windows, Word, oyunlar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Önemli:</a:t>
            </a:r>
          </a:p>
          <a:p>
            <a:pPr>
              <a:spcAft>
                <a:spcPts val="1200"/>
              </a:spcAft>
              <a:defRPr sz="2000"/>
            </a:pPr>
            <a:r>
              <a:t>Donanım ve yazılım birlikte çalışarak</a:t>
            </a:r>
          </a:p>
          <a:p>
            <a:pPr>
              <a:spcAft>
                <a:spcPts val="1200"/>
              </a:spcAft>
              <a:defRPr sz="2000"/>
            </a:pPr>
            <a:r>
              <a:t>bilgisayarın görevlerini yerine getirir!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🧠 İşlemci - Bilgisayarın Beyni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CPU = Central Processing Unit (Merkezi İşlem Birimi)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Görevleri:</a:t>
            </a:r>
          </a:p>
          <a:p>
            <a:pPr>
              <a:spcAft>
                <a:spcPts val="1200"/>
              </a:spcAft>
              <a:defRPr sz="2000"/>
            </a:pPr>
            <a:r>
              <a:t>    • Tüm hesaplamaları yapar</a:t>
            </a:r>
          </a:p>
          <a:p>
            <a:pPr>
              <a:spcAft>
                <a:spcPts val="1200"/>
              </a:spcAft>
              <a:defRPr sz="2000"/>
            </a:pPr>
            <a:r>
              <a:t>    • Komutları işler</a:t>
            </a:r>
          </a:p>
          <a:p>
            <a:pPr>
              <a:spcAft>
                <a:spcPts val="1200"/>
              </a:spcAft>
              <a:defRPr sz="2000"/>
            </a:pPr>
            <a:r>
              <a:t>    • Verileri işleyip sonuç üretir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Önemli Özellikler:</a:t>
            </a:r>
          </a:p>
          <a:p>
            <a:pPr>
              <a:spcAft>
                <a:spcPts val="1200"/>
              </a:spcAft>
              <a:defRPr sz="2000"/>
            </a:pPr>
            <a:r>
              <a:t>    • GHz (Gigahertz) - Hız birimi</a:t>
            </a:r>
          </a:p>
          <a:p>
            <a:pPr>
              <a:spcAft>
                <a:spcPts val="1200"/>
              </a:spcAft>
              <a:defRPr sz="2000"/>
            </a:pPr>
            <a:r>
              <a:t>    • Çekirdek sayısı (2, 4, 8 çekirdek...)</a:t>
            </a:r>
          </a:p>
          <a:p>
            <a:pPr>
              <a:spcAft>
                <a:spcPts val="1200"/>
              </a:spcAft>
              <a:defRPr sz="2000"/>
            </a:pPr>
            <a:r>
              <a:t>    • Önbellek (Cache)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📌 Popüler Markalar:</a:t>
            </a:r>
          </a:p>
          <a:p>
            <a:pPr>
              <a:spcAft>
                <a:spcPts val="1200"/>
              </a:spcAft>
              <a:defRPr sz="2000"/>
            </a:pPr>
            <a:r>
              <a:t>Intel (i3, i5, i7, i9) ve AMD (Ryzen)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Analoji: İşlemci = İnsan beyni</a:t>
            </a:r>
          </a:p>
          <a:p>
            <a:pPr>
              <a:spcAft>
                <a:spcPts val="1200"/>
              </a:spcAft>
              <a:defRPr sz="2000"/>
            </a:pPr>
            <a:r>
              <a:t>Ne kadar hızlı düşünürsen, işleri o kadar çabuk bitirirsin!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🎯 RAM - Geçici Hafıza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RAM = Random Access Memory (Rastgele Erişimli Bellek)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Görevleri:</a:t>
            </a:r>
          </a:p>
          <a:p>
            <a:pPr>
              <a:spcAft>
                <a:spcPts val="1200"/>
              </a:spcAft>
              <a:defRPr sz="2000"/>
            </a:pPr>
            <a:r>
              <a:t>    • Açık programların verilerini tutar</a:t>
            </a:r>
          </a:p>
          <a:p>
            <a:pPr>
              <a:spcAft>
                <a:spcPts val="1200"/>
              </a:spcAft>
              <a:defRPr sz="2000"/>
            </a:pPr>
            <a:r>
              <a:t>    • Geçici çalışma alanı sağlar</a:t>
            </a:r>
          </a:p>
          <a:p>
            <a:pPr>
              <a:spcAft>
                <a:spcPts val="1200"/>
              </a:spcAft>
              <a:defRPr sz="2000"/>
            </a:pPr>
            <a:r>
              <a:t>    • İşlemciye hızlı veri erişimi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⚠️ Önemli Özelliği:</a:t>
            </a:r>
          </a:p>
          <a:p>
            <a:pPr>
              <a:spcAft>
                <a:spcPts val="1200"/>
              </a:spcAft>
              <a:defRPr sz="2000"/>
            </a:pPr>
            <a:r>
              <a:t>Bilgisayar kapatıldığında içindeki</a:t>
            </a:r>
          </a:p>
          <a:p>
            <a:pPr>
              <a:spcAft>
                <a:spcPts val="1200"/>
              </a:spcAft>
              <a:defRPr sz="2000"/>
            </a:pPr>
            <a:r>
              <a:t>TÜM VERİLER SİLİNİR!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📊 Kapasiteler:</a:t>
            </a:r>
          </a:p>
          <a:p>
            <a:pPr>
              <a:spcAft>
                <a:spcPts val="1200"/>
              </a:spcAft>
              <a:defRPr sz="2000"/>
            </a:pPr>
            <a:r>
              <a:t>    • 4 GB - Temel kullanım</a:t>
            </a:r>
          </a:p>
          <a:p>
            <a:pPr>
              <a:spcAft>
                <a:spcPts val="1200"/>
              </a:spcAft>
              <a:defRPr sz="2000"/>
            </a:pPr>
            <a:r>
              <a:t>    • 8 GB - Günlük kullanım</a:t>
            </a:r>
          </a:p>
          <a:p>
            <a:pPr>
              <a:spcAft>
                <a:spcPts val="1200"/>
              </a:spcAft>
              <a:defRPr sz="2000"/>
            </a:pPr>
            <a:r>
              <a:t>    • 16 GB+ - Oyun/Tasarım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Analoji: RAM = Çalışma masası</a:t>
            </a:r>
          </a:p>
          <a:p>
            <a:pPr>
              <a:spcAft>
                <a:spcPts val="1200"/>
              </a:spcAft>
              <a:defRPr sz="2000"/>
            </a:pPr>
            <a:r>
              <a:t>Masası büyük olan daha çok iş yapabilir!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💾 Kalıcı Hafıza - Hard Disk &amp; SSD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✅ Hard Disk (HDD):</a:t>
            </a:r>
          </a:p>
          <a:p>
            <a:pPr>
              <a:spcAft>
                <a:spcPts val="1200"/>
              </a:spcAft>
              <a:defRPr sz="2000"/>
            </a:pPr>
            <a:r>
              <a:t>    • Dönen diskler üzerinde veri saklar</a:t>
            </a:r>
          </a:p>
          <a:p>
            <a:pPr>
              <a:spcAft>
                <a:spcPts val="1200"/>
              </a:spcAft>
              <a:defRPr sz="2000"/>
            </a:pPr>
            <a:r>
              <a:t>    • Daha ucuz, daha büyük kapasiteler</a:t>
            </a:r>
          </a:p>
          <a:p>
            <a:pPr>
              <a:spcAft>
                <a:spcPts val="1200"/>
              </a:spcAft>
              <a:defRPr sz="2000"/>
            </a:pPr>
            <a:r>
              <a:t>    • Daha yavaş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SSD (Solid State Drive):</a:t>
            </a:r>
          </a:p>
          <a:p>
            <a:pPr>
              <a:spcAft>
                <a:spcPts val="1200"/>
              </a:spcAft>
              <a:defRPr sz="2000"/>
            </a:pPr>
            <a:r>
              <a:t>    • Elektronik çipler üzerinde veri saklar</a:t>
            </a:r>
          </a:p>
          <a:p>
            <a:pPr>
              <a:spcAft>
                <a:spcPts val="1200"/>
              </a:spcAft>
              <a:defRPr sz="2000"/>
            </a:pPr>
            <a:r>
              <a:t>    • Çok daha hızlı</a:t>
            </a:r>
          </a:p>
          <a:p>
            <a:pPr>
              <a:spcAft>
                <a:spcPts val="1200"/>
              </a:spcAft>
              <a:defRPr sz="2000"/>
            </a:pPr>
            <a:r>
              <a:t>    • Daha pahalı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📊 Kapasiteler:</a:t>
            </a:r>
          </a:p>
          <a:p>
            <a:pPr>
              <a:spcAft>
                <a:spcPts val="1200"/>
              </a:spcAft>
              <a:defRPr sz="2000"/>
            </a:pPr>
            <a:r>
              <a:t>    • 256 GB - 500 GB - 1 TB - 2 TB...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⚠️ Önemli:</a:t>
            </a:r>
          </a:p>
          <a:p>
            <a:pPr>
              <a:spcAft>
                <a:spcPts val="1200"/>
              </a:spcAft>
              <a:defRPr sz="2000"/>
            </a:pPr>
            <a:r>
              <a:t>Bilgisayar kapatılsa bile veriler KALICI olarak durur!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Fark: RAM geçici, HDD/SSD kalıcı!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🔌 Anakart - Ana Kart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Motherboard = Tüm parçaları birleştiren ana devre kartı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Bağlanan Parçalar:</a:t>
            </a:r>
          </a:p>
          <a:p>
            <a:pPr>
              <a:spcAft>
                <a:spcPts val="1200"/>
              </a:spcAft>
              <a:defRPr sz="2000"/>
            </a:pPr>
            <a:r>
              <a:t>    • İşlemci (CPU)</a:t>
            </a:r>
          </a:p>
          <a:p>
            <a:pPr>
              <a:spcAft>
                <a:spcPts val="1200"/>
              </a:spcAft>
              <a:defRPr sz="2000"/>
            </a:pPr>
            <a:r>
              <a:t>    • RAM</a:t>
            </a:r>
          </a:p>
          <a:p>
            <a:pPr>
              <a:spcAft>
                <a:spcPts val="1200"/>
              </a:spcAft>
              <a:defRPr sz="2000"/>
            </a:pPr>
            <a:r>
              <a:t>    • Ekran kartı</a:t>
            </a:r>
          </a:p>
          <a:p>
            <a:pPr>
              <a:spcAft>
                <a:spcPts val="1200"/>
              </a:spcAft>
              <a:defRPr sz="2000"/>
            </a:pPr>
            <a:r>
              <a:t>    • Hard disk/SSD</a:t>
            </a:r>
          </a:p>
          <a:p>
            <a:pPr>
              <a:spcAft>
                <a:spcPts val="1200"/>
              </a:spcAft>
              <a:defRPr sz="2000"/>
            </a:pPr>
            <a:r>
              <a:t>    • Güç kaynağı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Üzerindeki Bağlantılar:</a:t>
            </a:r>
          </a:p>
          <a:p>
            <a:pPr>
              <a:spcAft>
                <a:spcPts val="1200"/>
              </a:spcAft>
              <a:defRPr sz="2000"/>
            </a:pPr>
            <a:r>
              <a:t>    • USB portları</a:t>
            </a:r>
          </a:p>
          <a:p>
            <a:pPr>
              <a:spcAft>
                <a:spcPts val="1200"/>
              </a:spcAft>
              <a:defRPr sz="2000"/>
            </a:pPr>
            <a:r>
              <a:t>    • Ses girişi/çıkışı</a:t>
            </a:r>
          </a:p>
          <a:p>
            <a:pPr>
              <a:spcAft>
                <a:spcPts val="1200"/>
              </a:spcAft>
              <a:defRPr sz="2000"/>
            </a:pPr>
            <a:r>
              <a:t>    • Ethernet (İnternet kablosu)</a:t>
            </a:r>
          </a:p>
          <a:p>
            <a:pPr>
              <a:spcAft>
                <a:spcPts val="1200"/>
              </a:spcAft>
              <a:defRPr sz="2000"/>
            </a:pPr>
            <a:r>
              <a:t>    • HDMI/DisplayPort (Ekran)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Analoji: Anakart = Şehir yolları</a:t>
            </a:r>
          </a:p>
          <a:p>
            <a:pPr>
              <a:spcAft>
                <a:spcPts val="1200"/>
              </a:spcAft>
              <a:defRPr sz="2000"/>
            </a:pPr>
            <a:r>
              <a:t>Tüm mahalleleri (parçaları) birbirine bağlar!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⌨️ Giriş ve Çıkış Birimleri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📥 GİRİŞ BİRİMLERİ (Input):</a:t>
            </a:r>
          </a:p>
          <a:p>
            <a:pPr>
              <a:spcAft>
                <a:spcPts val="1200"/>
              </a:spcAft>
              <a:defRPr sz="2000"/>
            </a:pPr>
            <a:r>
              <a:t>    • Klavye - Metin girişi</a:t>
            </a:r>
          </a:p>
          <a:p>
            <a:pPr>
              <a:spcAft>
                <a:spcPts val="1200"/>
              </a:spcAft>
              <a:defRPr sz="2000"/>
            </a:pPr>
            <a:r>
              <a:t>    • Mouse - İşaretleme ve tıklama</a:t>
            </a:r>
          </a:p>
          <a:p>
            <a:pPr>
              <a:spcAft>
                <a:spcPts val="1200"/>
              </a:spcAft>
              <a:defRPr sz="2000"/>
            </a:pPr>
            <a:r>
              <a:t>    • Mikrofon - Ses girişi</a:t>
            </a:r>
          </a:p>
          <a:p>
            <a:pPr>
              <a:spcAft>
                <a:spcPts val="1200"/>
              </a:spcAft>
              <a:defRPr sz="2000"/>
            </a:pPr>
            <a:r>
              <a:t>    • Webcam - Görüntü girişi</a:t>
            </a:r>
          </a:p>
          <a:p>
            <a:pPr>
              <a:spcAft>
                <a:spcPts val="1200"/>
              </a:spcAft>
              <a:defRPr sz="2000"/>
            </a:pPr>
            <a:r>
              <a:t>    • Tarayıcı (Scanner) - Belge/fotoğraf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📤 ÇIKIŞ BİRİMLERİ (Output):</a:t>
            </a:r>
          </a:p>
          <a:p>
            <a:pPr>
              <a:spcAft>
                <a:spcPts val="1200"/>
              </a:spcAft>
              <a:defRPr sz="2000"/>
            </a:pPr>
            <a:r>
              <a:t>    • Ekran (Monitor) - Görüntü çıkışı</a:t>
            </a:r>
          </a:p>
          <a:p>
            <a:pPr>
              <a:spcAft>
                <a:spcPts val="1200"/>
              </a:spcAft>
              <a:defRPr sz="2000"/>
            </a:pPr>
            <a:r>
              <a:t>    • Hoparlör - Ses çıkışı</a:t>
            </a:r>
          </a:p>
          <a:p>
            <a:pPr>
              <a:spcAft>
                <a:spcPts val="1200"/>
              </a:spcAft>
              <a:defRPr sz="2000"/>
            </a:pPr>
            <a:r>
              <a:t>    • Yazıcı (Printer) - Kağıt çıktısı</a:t>
            </a:r>
          </a:p>
          <a:p>
            <a:pPr>
              <a:spcAft>
                <a:spcPts val="1200"/>
              </a:spcAft>
              <a:defRPr sz="2000"/>
            </a:pPr>
            <a:r>
              <a:t>    • Projektör - Büyük ekran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🔄 HER İKİSİ:</a:t>
            </a:r>
          </a:p>
          <a:p>
            <a:pPr>
              <a:spcAft>
                <a:spcPts val="1200"/>
              </a:spcAft>
              <a:defRPr sz="2000"/>
            </a:pPr>
            <a:r>
              <a:t>    • Dokunmatik ekran</a:t>
            </a:r>
          </a:p>
          <a:p>
            <a:pPr>
              <a:spcAft>
                <a:spcPts val="1200"/>
              </a:spcAft>
              <a:defRPr sz="2000"/>
            </a:pPr>
            <a:r>
              <a:t>    • Akıllı telefon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⚙️ İşletim Sistemi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Operating System (OS) = Bilgisayarı yöneten ana yazılım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Temel Görevleri:</a:t>
            </a:r>
          </a:p>
          <a:p>
            <a:pPr>
              <a:spcAft>
                <a:spcPts val="1200"/>
              </a:spcAft>
              <a:defRPr sz="2000"/>
            </a:pPr>
            <a:r>
              <a:t>    • Donanımı yönetir</a:t>
            </a:r>
          </a:p>
          <a:p>
            <a:pPr>
              <a:spcAft>
                <a:spcPts val="1200"/>
              </a:spcAft>
              <a:defRPr sz="2000"/>
            </a:pPr>
            <a:r>
              <a:t>    • Programları çalıştırır</a:t>
            </a:r>
          </a:p>
          <a:p>
            <a:pPr>
              <a:spcAft>
                <a:spcPts val="1200"/>
              </a:spcAft>
              <a:defRPr sz="2000"/>
            </a:pPr>
            <a:r>
              <a:t>    • Dosyaları organize eder</a:t>
            </a:r>
          </a:p>
          <a:p>
            <a:pPr>
              <a:spcAft>
                <a:spcPts val="1200"/>
              </a:spcAft>
              <a:defRPr sz="2000"/>
            </a:pPr>
            <a:r>
              <a:t>    • Kullanıcı ile iletişim sağlar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Önemli:</a:t>
            </a:r>
          </a:p>
          <a:p>
            <a:pPr>
              <a:spcAft>
                <a:spcPts val="1200"/>
              </a:spcAft>
              <a:defRPr sz="2000"/>
            </a:pPr>
            <a:r>
              <a:t>İşletim sistemi olmadan bilgisayar ÇALIŞAMAZ!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Popüler İşletim Sistemleri:</a:t>
            </a:r>
          </a:p>
          <a:p>
            <a:pPr>
              <a:spcAft>
                <a:spcPts val="1200"/>
              </a:spcAft>
              <a:defRPr sz="2000"/>
            </a:pPr>
            <a:r>
              <a:t>    • Windows (En yaygın)</a:t>
            </a:r>
          </a:p>
          <a:p>
            <a:pPr>
              <a:spcAft>
                <a:spcPts val="1200"/>
              </a:spcAft>
              <a:defRPr sz="2000"/>
            </a:pPr>
            <a:r>
              <a:t>    • macOS (Apple bilgisayarlar)</a:t>
            </a:r>
          </a:p>
          <a:p>
            <a:pPr>
              <a:spcAft>
                <a:spcPts val="1200"/>
              </a:spcAft>
              <a:defRPr sz="2000"/>
            </a:pPr>
            <a:r>
              <a:t>    • Linux (Açık kaynak, ücretsiz)</a:t>
            </a:r>
          </a:p>
          <a:p>
            <a:pPr>
              <a:spcAft>
                <a:spcPts val="1200"/>
              </a:spcAft>
              <a:defRPr sz="2000"/>
            </a:pPr>
            <a:r>
              <a:t>    • Android/iOS (Mobil cihazlar)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🪟 Windows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Microsoft tarafından geliştirilmiş en popüler OS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Önemli Özellikler:</a:t>
            </a:r>
          </a:p>
          <a:p>
            <a:pPr>
              <a:spcAft>
                <a:spcPts val="1200"/>
              </a:spcAft>
              <a:defRPr sz="2000"/>
            </a:pPr>
            <a:r>
              <a:t>    • Kullanıcı dostu arayüz</a:t>
            </a:r>
          </a:p>
          <a:p>
            <a:pPr>
              <a:spcAft>
                <a:spcPts val="1200"/>
              </a:spcAft>
              <a:defRPr sz="2000"/>
            </a:pPr>
            <a:r>
              <a:t>    • Başlat menüsü</a:t>
            </a:r>
          </a:p>
          <a:p>
            <a:pPr>
              <a:spcAft>
                <a:spcPts val="1200"/>
              </a:spcAft>
              <a:defRPr sz="2000"/>
            </a:pPr>
            <a:r>
              <a:t>    • Görev çubuğu</a:t>
            </a:r>
          </a:p>
          <a:p>
            <a:pPr>
              <a:spcAft>
                <a:spcPts val="1200"/>
              </a:spcAft>
              <a:defRPr sz="2000"/>
            </a:pPr>
            <a:r>
              <a:t>    • Masaüstü (Desktop)</a:t>
            </a:r>
          </a:p>
          <a:p>
            <a:pPr>
              <a:spcAft>
                <a:spcPts val="1200"/>
              </a:spcAft>
              <a:defRPr sz="2000"/>
            </a:pPr>
            <a:r>
              <a:t>    • Dosya Gezgini (File Explorer)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Sürümler:</a:t>
            </a:r>
          </a:p>
          <a:p>
            <a:pPr>
              <a:spcAft>
                <a:spcPts val="1200"/>
              </a:spcAft>
              <a:defRPr sz="2000"/>
            </a:pPr>
            <a:r>
              <a:t>    • Windows 10</a:t>
            </a:r>
          </a:p>
          <a:p>
            <a:pPr>
              <a:spcAft>
                <a:spcPts val="1200"/>
              </a:spcAft>
              <a:defRPr sz="2000"/>
            </a:pPr>
            <a:r>
              <a:t>    • Windows 11 (En yeni)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Temel Kısayollar:</a:t>
            </a:r>
          </a:p>
          <a:p>
            <a:pPr>
              <a:spcAft>
                <a:spcPts val="1200"/>
              </a:spcAft>
              <a:defRPr sz="2000"/>
            </a:pPr>
            <a:r>
              <a:t>    • Windows tuşu - Başlat menüsü</a:t>
            </a:r>
          </a:p>
          <a:p>
            <a:pPr>
              <a:spcAft>
                <a:spcPts val="1200"/>
              </a:spcAft>
              <a:defRPr sz="2000"/>
            </a:pPr>
            <a:r>
              <a:t>    • Windows + E - Dosya Gezgini</a:t>
            </a:r>
          </a:p>
          <a:p>
            <a:pPr>
              <a:spcAft>
                <a:spcPts val="1200"/>
              </a:spcAft>
              <a:defRPr sz="2000"/>
            </a:pPr>
            <a:r>
              <a:t>    • Alt + Tab - Pencereler arası geçiş</a:t>
            </a:r>
          </a:p>
          <a:p>
            <a:pPr>
              <a:spcAft>
                <a:spcPts val="1200"/>
              </a:spcAft>
              <a:defRPr sz="2000"/>
            </a:pPr>
            <a:r>
              <a:t>    • Ctrl + Alt + Delete - Görev yöneticisi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📁 Dosya ve Klasör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📄 DOSYA (File):</a:t>
            </a:r>
          </a:p>
          <a:p>
            <a:pPr>
              <a:spcAft>
                <a:spcPts val="1200"/>
              </a:spcAft>
              <a:defRPr sz="2000"/>
            </a:pPr>
            <a:r>
              <a:t>    • Bilgisayarda saklanan her türlü bilgi</a:t>
            </a:r>
          </a:p>
          <a:p>
            <a:pPr>
              <a:spcAft>
                <a:spcPts val="1200"/>
              </a:spcAft>
              <a:defRPr sz="2000"/>
            </a:pPr>
            <a:r>
              <a:t>    • Örnekler: Resim, video, müzik, belge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📁 KLASÖR (Folder):</a:t>
            </a:r>
          </a:p>
          <a:p>
            <a:pPr>
              <a:spcAft>
                <a:spcPts val="1200"/>
              </a:spcAft>
              <a:defRPr sz="2000"/>
            </a:pPr>
            <a:r>
              <a:t>    • Dosyaları düzenli tutmak için sanal çekmece</a:t>
            </a:r>
          </a:p>
          <a:p>
            <a:pPr>
              <a:spcAft>
                <a:spcPts val="1200"/>
              </a:spcAft>
              <a:defRPr sz="2000"/>
            </a:pPr>
            <a:r>
              <a:t>    • İçinde dosya ve alt klasörler olabilir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Dosya Uzantıları:</a:t>
            </a:r>
          </a:p>
          <a:p>
            <a:pPr>
              <a:spcAft>
                <a:spcPts val="1200"/>
              </a:spcAft>
              <a:defRPr sz="2000"/>
            </a:pPr>
            <a:r>
              <a:t>    • .docx - Word belgesi</a:t>
            </a:r>
          </a:p>
          <a:p>
            <a:pPr>
              <a:spcAft>
                <a:spcPts val="1200"/>
              </a:spcAft>
              <a:defRPr sz="2000"/>
            </a:pPr>
            <a:r>
              <a:t>    • .xlsx - Excel tablosu</a:t>
            </a:r>
          </a:p>
          <a:p>
            <a:pPr>
              <a:spcAft>
                <a:spcPts val="1200"/>
              </a:spcAft>
              <a:defRPr sz="2000"/>
            </a:pPr>
            <a:r>
              <a:t>    • .pptx - PowerPoint sunumu</a:t>
            </a:r>
          </a:p>
          <a:p>
            <a:pPr>
              <a:spcAft>
                <a:spcPts val="1200"/>
              </a:spcAft>
              <a:defRPr sz="2000"/>
            </a:pPr>
            <a:r>
              <a:t>    • .jpg, .png - Resim</a:t>
            </a:r>
          </a:p>
          <a:p>
            <a:pPr>
              <a:spcAft>
                <a:spcPts val="1200"/>
              </a:spcAft>
              <a:defRPr sz="2000"/>
            </a:pPr>
            <a:r>
              <a:t>    • .mp4, .avi - Video</a:t>
            </a:r>
          </a:p>
          <a:p>
            <a:pPr>
              <a:spcAft>
                <a:spcPts val="1200"/>
              </a:spcAft>
              <a:defRPr sz="2000"/>
            </a:pPr>
            <a:r>
              <a:t>    • .mp3 - Müzik</a:t>
            </a:r>
          </a:p>
          <a:p>
            <a:pPr>
              <a:spcAft>
                <a:spcPts val="1200"/>
              </a:spcAft>
              <a:defRPr sz="2000"/>
            </a:pPr>
            <a:r>
              <a:t>    • .pdf - PDF belgesi</a:t>
            </a:r>
          </a:p>
          <a:p>
            <a:pPr>
              <a:spcAft>
                <a:spcPts val="1200"/>
              </a:spcAft>
              <a:defRPr sz="2000"/>
            </a:pPr>
            <a:r>
              <a:t>    • .exe - Program dosyası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🛠️ Dosya İşlemleri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✅ Temel İşlemler: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📂 OLUŞTURMA:</a:t>
            </a:r>
          </a:p>
          <a:p>
            <a:pPr>
              <a:spcAft>
                <a:spcPts val="1200"/>
              </a:spcAft>
              <a:defRPr sz="2000"/>
            </a:pPr>
            <a:r>
              <a:t>    • Sağ tık → Yeni → Klasör/Dosya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✏️ YENİDEN ADLANDIRMA:</a:t>
            </a:r>
          </a:p>
          <a:p>
            <a:pPr>
              <a:spcAft>
                <a:spcPts val="1200"/>
              </a:spcAft>
              <a:defRPr sz="2000"/>
            </a:pPr>
            <a:r>
              <a:t>    • Sağ tık → Yeniden Adlandır (F2)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📋 KOPYALAMA:</a:t>
            </a:r>
          </a:p>
          <a:p>
            <a:pPr>
              <a:spcAft>
                <a:spcPts val="1200"/>
              </a:spcAft>
              <a:defRPr sz="2000"/>
            </a:pPr>
            <a:r>
              <a:t>    • Ctrl + C (Kopyala) → Ctrl + V (Yapıştır)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✂️ KESME/TAŞIMA:</a:t>
            </a:r>
          </a:p>
          <a:p>
            <a:pPr>
              <a:spcAft>
                <a:spcPts val="1200"/>
              </a:spcAft>
              <a:defRPr sz="2000"/>
            </a:pPr>
            <a:r>
              <a:t>    • Ctrl + X (Kes) → Ctrl + V (Yapıştır)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🗑️ SİLME:</a:t>
            </a:r>
          </a:p>
          <a:p>
            <a:pPr>
              <a:spcAft>
                <a:spcPts val="1200"/>
              </a:spcAft>
              <a:defRPr sz="2000"/>
            </a:pPr>
            <a:r>
              <a:t>    • Delete tuşu → Geri Dönüşüm Kutusu</a:t>
            </a:r>
          </a:p>
          <a:p>
            <a:pPr>
              <a:spcAft>
                <a:spcPts val="1200"/>
              </a:spcAft>
              <a:defRPr sz="2000"/>
            </a:pPr>
            <a:r>
              <a:t>    • Shift + Delete → Kalıcı silme!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🔍 ARAMA:</a:t>
            </a:r>
          </a:p>
          <a:p>
            <a:pPr>
              <a:spcAft>
                <a:spcPts val="1200"/>
              </a:spcAft>
              <a:defRPr sz="2000"/>
            </a:pPr>
            <a:r>
              <a:t>    • Dosya Gezgini'nde arama kutusu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💡 İyi Dosya Düzenleme İpuçları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✅ Anlamlı İsimler Kullanın:</a:t>
            </a:r>
          </a:p>
          <a:p>
            <a:pPr>
              <a:spcAft>
                <a:spcPts val="1200"/>
              </a:spcAft>
              <a:defRPr sz="2000"/>
            </a:pPr>
            <a:r>
              <a:t>    ❌ Yanlış: Belge1.docx, 12345.jpg</a:t>
            </a:r>
          </a:p>
          <a:p>
            <a:pPr>
              <a:spcAft>
                <a:spcPts val="1200"/>
              </a:spcAft>
              <a:defRPr sz="2000"/>
            </a:pPr>
            <a:r>
              <a:t>    ✅ Doğru: Matematik_Odevi.docx, Aile_Tatili_2025.jpg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Klasör Yapısı Oluşturun:</a:t>
            </a:r>
          </a:p>
          <a:p>
            <a:pPr>
              <a:spcAft>
                <a:spcPts val="1200"/>
              </a:spcAft>
              <a:defRPr sz="2000"/>
            </a:pPr>
            <a:r>
              <a:t>    📁 Belgeler</a:t>
            </a:r>
          </a:p>
          <a:p>
            <a:pPr>
              <a:spcAft>
                <a:spcPts val="1200"/>
              </a:spcAft>
              <a:defRPr sz="2000"/>
            </a:pPr>
            <a:r>
              <a:t>        📁 Okulİşleri</a:t>
            </a:r>
          </a:p>
          <a:p>
            <a:pPr>
              <a:spcAft>
                <a:spcPts val="1200"/>
              </a:spcAft>
              <a:defRPr sz="2000"/>
            </a:pPr>
            <a:r>
              <a:t>            📁 Matematik</a:t>
            </a:r>
          </a:p>
          <a:p>
            <a:pPr>
              <a:spcAft>
                <a:spcPts val="1200"/>
              </a:spcAft>
              <a:defRPr sz="2000"/>
            </a:pPr>
            <a:r>
              <a:t>            📁 Türkçe</a:t>
            </a:r>
          </a:p>
          <a:p>
            <a:pPr>
              <a:spcAft>
                <a:spcPts val="1200"/>
              </a:spcAft>
              <a:defRPr sz="2000"/>
            </a:pPr>
            <a:r>
              <a:t>        📁 Kişisel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Düzenli Yedekleme:</a:t>
            </a:r>
          </a:p>
          <a:p>
            <a:pPr>
              <a:spcAft>
                <a:spcPts val="1200"/>
              </a:spcAft>
              <a:defRPr sz="2000"/>
            </a:pPr>
            <a:r>
              <a:t>    • Önemli dosyaları USB veya buluta yedekleyin</a:t>
            </a:r>
          </a:p>
          <a:p>
            <a:pPr>
              <a:spcAft>
                <a:spcPts val="1200"/>
              </a:spcAft>
              <a:defRPr sz="2000"/>
            </a:pPr>
            <a:r>
              <a:t>    • Haftalık yedekleme alışkanlığı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Gereksizleri Silin:</a:t>
            </a:r>
          </a:p>
          <a:p>
            <a:pPr>
              <a:spcAft>
                <a:spcPts val="1200"/>
              </a:spcAft>
              <a:defRPr sz="2000"/>
            </a:pPr>
            <a:r>
              <a:t>    • İndirilenler klasörünü temizleyin</a:t>
            </a:r>
          </a:p>
          <a:p>
            <a:pPr>
              <a:spcAft>
                <a:spcPts val="1200"/>
              </a:spcAft>
              <a:defRPr sz="2000"/>
            </a:pPr>
            <a:r>
              <a:t>    • Eski dosyaları arşivleyin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Bu ünitede öğrendiklerimiz: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✅ Bilişim teknolojilerinin sınıflandırılması</a:t>
            </a:r>
          </a:p>
          <a:p>
            <a:pPr>
              <a:spcAft>
                <a:spcPts val="1200"/>
              </a:spcAft>
              <a:defRPr sz="2000"/>
            </a:pPr>
            <a:r>
              <a:t>✅ Bilgisayar bileşenleri:</a:t>
            </a:r>
          </a:p>
          <a:p>
            <a:pPr>
              <a:spcAft>
                <a:spcPts val="1200"/>
              </a:spcAft>
              <a:defRPr sz="2000"/>
            </a:pPr>
            <a:r>
              <a:t>    • İşlemci (CPU) - Beyin</a:t>
            </a:r>
          </a:p>
          <a:p>
            <a:pPr>
              <a:spcAft>
                <a:spcPts val="1200"/>
              </a:spcAft>
              <a:defRPr sz="2000"/>
            </a:pPr>
            <a:r>
              <a:t>    • RAM - Geçici hafıza</a:t>
            </a:r>
          </a:p>
          <a:p>
            <a:pPr>
              <a:spcAft>
                <a:spcPts val="1200"/>
              </a:spcAft>
              <a:defRPr sz="2000"/>
            </a:pPr>
            <a:r>
              <a:t>    • Hard Disk/SSD - Kalıcı hafıza</a:t>
            </a:r>
          </a:p>
          <a:p>
            <a:pPr>
              <a:spcAft>
                <a:spcPts val="1200"/>
              </a:spcAft>
              <a:defRPr sz="2000"/>
            </a:pPr>
            <a:r>
              <a:t>    • Anakart - Bağlantı merkezi</a:t>
            </a:r>
          </a:p>
          <a:p>
            <a:pPr>
              <a:spcAft>
                <a:spcPts val="1200"/>
              </a:spcAft>
              <a:defRPr sz="2000"/>
            </a:pPr>
            <a:r>
              <a:t>✅ İşletim sistemleri (Windows, Linux, macOS)</a:t>
            </a:r>
          </a:p>
          <a:p>
            <a:pPr>
              <a:spcAft>
                <a:spcPts val="1200"/>
              </a:spcAft>
              <a:defRPr sz="2000"/>
            </a:pPr>
            <a:r>
              <a:t>✅ Dosya ve klasör yönetimi</a:t>
            </a:r>
          </a:p>
          <a:p>
            <a:pPr>
              <a:spcAft>
                <a:spcPts val="1200"/>
              </a:spcAft>
              <a:defRPr sz="2000"/>
            </a:pPr>
            <a:r>
              <a:t>✅ Dosya uzantıları ve türleri</a:t>
            </a:r>
          </a:p>
          <a:p>
            <a:pPr>
              <a:spcAft>
                <a:spcPts val="1200"/>
              </a:spcAft>
              <a:defRPr sz="2000"/>
            </a:pPr>
            <a:r>
              <a:t>✅ İyi düzenleme alışkanlıkları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Unutmayın:</a:t>
            </a:r>
          </a:p>
          <a:p>
            <a:pPr>
              <a:spcAft>
                <a:spcPts val="1200"/>
              </a:spcAft>
              <a:defRPr sz="2000"/>
            </a:pPr>
            <a:r>
              <a:t>Teknoloji hayatımızı kolaylaştırır,</a:t>
            </a:r>
          </a:p>
          <a:p>
            <a:pPr>
              <a:spcAft>
                <a:spcPts val="1200"/>
              </a:spcAft>
              <a:defRPr sz="2000"/>
            </a:pPr>
            <a:r>
              <a:t>ama sorumlu kullanılmalıdır!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🎬 Kaynaklar ve Video Önerileri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📺 İzlemeniz Gereken Videolar:</a:t>
            </a:r>
          </a:p>
          <a:p>
            <a:pPr>
              <a:spcAft>
                <a:spcPts val="1200"/>
              </a:spcAft>
              <a:defRPr sz="2000"/>
            </a:pPr>
            <a:r>
              <a:t>    • 'Bilgisayar Nasıl Çalışır?' (YouTube)</a:t>
            </a:r>
          </a:p>
          <a:p>
            <a:pPr>
              <a:spcAft>
                <a:spcPts val="1200"/>
              </a:spcAft>
              <a:defRPr sz="2000"/>
            </a:pPr>
            <a:r>
              <a:t>    • 'CPU Animasyonu' (YouTube)</a:t>
            </a:r>
          </a:p>
          <a:p>
            <a:pPr>
              <a:spcAft>
                <a:spcPts val="1200"/>
              </a:spcAft>
              <a:defRPr sz="2000"/>
            </a:pPr>
            <a:r>
              <a:t>    • 'HDD vs SSD Karşılaştırması' (YouTube)</a:t>
            </a:r>
          </a:p>
          <a:p>
            <a:pPr>
              <a:spcAft>
                <a:spcPts val="1200"/>
              </a:spcAft>
              <a:defRPr sz="2000"/>
            </a:pPr>
            <a:r>
              <a:t>    • 'İşletim Sistemleri Nedir?' (YouTube)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🌐 Faydalı Web Siteleri:</a:t>
            </a:r>
          </a:p>
          <a:p>
            <a:pPr>
              <a:spcAft>
                <a:spcPts val="1200"/>
              </a:spcAft>
              <a:defRPr sz="2000"/>
            </a:pPr>
            <a:r>
              <a:t>    • code.org - Programlama öğren</a:t>
            </a:r>
          </a:p>
          <a:p>
            <a:pPr>
              <a:spcAft>
                <a:spcPts val="1200"/>
              </a:spcAft>
              <a:defRPr sz="2000"/>
            </a:pPr>
            <a:r>
              <a:t>    • scratch.mit.edu - Blok programlama</a:t>
            </a:r>
          </a:p>
          <a:p>
            <a:pPr>
              <a:spcAft>
                <a:spcPts val="1200"/>
              </a:spcAft>
              <a:defRPr sz="2000"/>
            </a:pPr>
            <a:r>
              <a:t>    • khanacademy.org/tr - Ücretsiz eğitim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📚 Okuma Kaynakları:</a:t>
            </a:r>
          </a:p>
          <a:p>
            <a:pPr>
              <a:spcAft>
                <a:spcPts val="1200"/>
              </a:spcAft>
              <a:defRPr sz="2000"/>
            </a:pPr>
            <a:r>
              <a:t>    • MEB Ders Kitabı</a:t>
            </a:r>
          </a:p>
          <a:p>
            <a:pPr>
              <a:spcAft>
                <a:spcPts val="1200"/>
              </a:spcAft>
              <a:defRPr sz="2000"/>
            </a:pPr>
            <a:r>
              <a:t>    • EBA (Eğitim Bilişim Ağı)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❓ Sorularınız için:</a:t>
            </a:r>
          </a:p>
          <a:p>
            <a:pPr>
              <a:spcAft>
                <a:spcPts val="1200"/>
              </a:spcAft>
              <a:defRPr sz="2000"/>
            </a:pPr>
            <a:r>
              <a:t>    • Öğretmeninizle iletişime geçin!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Teşekkürler!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Bir sonraki derste görüşmek üzere!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