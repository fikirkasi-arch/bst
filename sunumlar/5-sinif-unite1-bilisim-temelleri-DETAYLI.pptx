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ünite 9 hafta sürecek ve bilişim teknolojilerinin temellerini kapsar.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önerisi: 'Bilişim Teknolojileri Nedir?' - YouTube'da aratın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Her kategori için örnek resimler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Donanım ve yazılım karşılaştırma görselleri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'CPU Nasıl Çalışır?' animasyonu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RAM kartı fotoğrafı ve çalışma masası analojisi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'HDD vs SSD Karşılaştırması'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Anakart fotoğrafı ve etiketli diyagram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'İşletim Sistemleri Tanıtımı'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Öğrencilere kısayolları denetin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Farklı dosya türleri ve ikonları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Öğrencilerle birlikte bu işlemleri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📱 BİLİŞİM TEMELLERİ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5. Sınıf - Ünite 1</a:t>
            </a:r>
          </a:p>
          <a:p>
            <a:r>
              <a:t>9 Haftalık Kapsamlı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📋 Ünite İçeriği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🖥️ 1. Bilişim Teknolojilerinin Hayatımızdaki Yeri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Bilişim Teknolojilerinin Sınıflandırılması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Etkileri ve Dijital Sağlık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💻 2. Bilgisayar Sistemleri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Donanım Bileşenleri (CPU, RAM, Hard Disk, Anakart)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Giriş ve Çıkış Birimleri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⚙️ 3. İşletim Sistemleri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Windows, Linux, macOS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Temel Görevler ve Kullanım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📁 4. Dosya ve Klasör Yönetimi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Dosya Uzantıları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Düzenleme ve Yönetim İşlemleri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🌐 Bilişim Teknolojileri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✅ Tanım:</a:t>
            </a:r>
          </a:p>
          <a:p>
            <a:pPr>
              <a:spcAft>
                <a:spcPts val="1200"/>
              </a:spcAft>
              <a:defRPr sz="2000"/>
            </a:pPr>
            <a:r>
              <a:t>Bilgi ve iletişim teknolojilerinin tümünü kapsayan alan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✅ Temel Bileşenler:</a:t>
            </a:r>
          </a:p>
          <a:p>
            <a:pPr>
              <a:spcAft>
                <a:spcPts val="1200"/>
              </a:spcAft>
              <a:defRPr sz="2000"/>
            </a:pPr>
            <a:r>
              <a:t>    • Donanım (Hardware)</a:t>
            </a:r>
          </a:p>
          <a:p>
            <a:pPr>
              <a:spcAft>
                <a:spcPts val="1200"/>
              </a:spcAft>
              <a:defRPr sz="2000"/>
            </a:pPr>
            <a:r>
              <a:t>    • Yazılım (Software)</a:t>
            </a:r>
          </a:p>
          <a:p>
            <a:pPr>
              <a:spcAft>
                <a:spcPts val="1200"/>
              </a:spcAft>
              <a:defRPr sz="2000"/>
            </a:pPr>
            <a:r>
              <a:t>    • Ağlar (Networks)</a:t>
            </a:r>
          </a:p>
          <a:p>
            <a:pPr>
              <a:spcAft>
                <a:spcPts val="1200"/>
              </a:spcAft>
              <a:defRPr sz="2000"/>
            </a:pPr>
            <a:r>
              <a:t>    • Veriler (Data)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✅ Kullanım Alanları:</a:t>
            </a:r>
          </a:p>
          <a:p>
            <a:pPr>
              <a:spcAft>
                <a:spcPts val="1200"/>
              </a:spcAft>
              <a:defRPr sz="2000"/>
            </a:pPr>
            <a:r>
              <a:t>    • Eğitim</a:t>
            </a:r>
          </a:p>
          <a:p>
            <a:pPr>
              <a:spcAft>
                <a:spcPts val="1200"/>
              </a:spcAft>
              <a:defRPr sz="2000"/>
            </a:pPr>
            <a:r>
              <a:t>    • Sağlık</a:t>
            </a:r>
          </a:p>
          <a:p>
            <a:pPr>
              <a:spcAft>
                <a:spcPts val="1200"/>
              </a:spcAft>
              <a:defRPr sz="2000"/>
            </a:pPr>
            <a:r>
              <a:t>    • İletişim</a:t>
            </a:r>
          </a:p>
          <a:p>
            <a:pPr>
              <a:spcAft>
                <a:spcPts val="1200"/>
              </a:spcAft>
              <a:defRPr sz="2000"/>
            </a:pPr>
            <a:r>
              <a:t>    • Eğlence</a:t>
            </a:r>
          </a:p>
          <a:p>
            <a:pPr>
              <a:spcAft>
                <a:spcPts val="1200"/>
              </a:spcAft>
              <a:defRPr sz="2000"/>
            </a:pPr>
            <a:r>
              <a:t>    • İş dünyası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📊 Bilişim Teknolojilerinin Sınıflandırılması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1️⃣ Donanım Teknolojileri</a:t>
            </a:r>
          </a:p>
          <a:p>
            <a:pPr>
              <a:spcAft>
                <a:spcPts val="1200"/>
              </a:spcAft>
              <a:defRPr sz="2000"/>
            </a:pPr>
            <a:r>
              <a:t>    • Bilgisayarlar, tabletler, akıllı telefonlar</a:t>
            </a:r>
          </a:p>
          <a:p>
            <a:pPr>
              <a:spcAft>
                <a:spcPts val="1200"/>
              </a:spcAft>
              <a:defRPr sz="2000"/>
            </a:pPr>
            <a:r>
              <a:t>    • Sunucular, ağ cihazları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Yazılım Teknolojileri</a:t>
            </a:r>
          </a:p>
          <a:p>
            <a:pPr>
              <a:spcAft>
                <a:spcPts val="1200"/>
              </a:spcAft>
              <a:defRPr sz="2000"/>
            </a:pPr>
            <a:r>
              <a:t>    • İşletim sistemleri</a:t>
            </a:r>
          </a:p>
          <a:p>
            <a:pPr>
              <a:spcAft>
                <a:spcPts val="1200"/>
              </a:spcAft>
              <a:defRPr sz="2000"/>
            </a:pPr>
            <a:r>
              <a:t>    • Uygulama programları</a:t>
            </a:r>
          </a:p>
          <a:p>
            <a:pPr>
              <a:spcAft>
                <a:spcPts val="1200"/>
              </a:spcAft>
              <a:defRPr sz="2000"/>
            </a:pPr>
            <a:r>
              <a:t>    • Web tarayıcıları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İletişim Teknolojileri</a:t>
            </a:r>
          </a:p>
          <a:p>
            <a:pPr>
              <a:spcAft>
                <a:spcPts val="1200"/>
              </a:spcAft>
              <a:defRPr sz="2000"/>
            </a:pPr>
            <a:r>
              <a:t>    • İnternet</a:t>
            </a:r>
          </a:p>
          <a:p>
            <a:pPr>
              <a:spcAft>
                <a:spcPts val="1200"/>
              </a:spcAft>
              <a:defRPr sz="2000"/>
            </a:pPr>
            <a:r>
              <a:t>    • E-posta</a:t>
            </a:r>
          </a:p>
          <a:p>
            <a:pPr>
              <a:spcAft>
                <a:spcPts val="1200"/>
              </a:spcAft>
              <a:defRPr sz="2000"/>
            </a:pPr>
            <a:r>
              <a:t>    • Video konferans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Veri Yönetimi</a:t>
            </a:r>
          </a:p>
          <a:p>
            <a:pPr>
              <a:spcAft>
                <a:spcPts val="1200"/>
              </a:spcAft>
              <a:defRPr sz="2000"/>
            </a:pPr>
            <a:r>
              <a:t>    • Veritabanları</a:t>
            </a:r>
          </a:p>
          <a:p>
            <a:pPr>
              <a:spcAft>
                <a:spcPts val="1200"/>
              </a:spcAft>
              <a:defRPr sz="2000"/>
            </a:pPr>
            <a:r>
              <a:t>    • Bulut depolama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🌟 Bilişim Teknolojilerinin Hayatımıza Etkileri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✅ Olumlu Etkiler:</a:t>
            </a:r>
          </a:p>
          <a:p>
            <a:pPr>
              <a:spcAft>
                <a:spcPts val="1200"/>
              </a:spcAft>
              <a:defRPr sz="2000"/>
            </a:pPr>
            <a:r>
              <a:t>    • Hızlı bilgiye erişim</a:t>
            </a:r>
          </a:p>
          <a:p>
            <a:pPr>
              <a:spcAft>
                <a:spcPts val="1200"/>
              </a:spcAft>
              <a:defRPr sz="2000"/>
            </a:pPr>
            <a:r>
              <a:t>    • Uzaktan çalışma/eğitim imkanı</a:t>
            </a:r>
          </a:p>
          <a:p>
            <a:pPr>
              <a:spcAft>
                <a:spcPts val="1200"/>
              </a:spcAft>
              <a:defRPr sz="2000"/>
            </a:pPr>
            <a:r>
              <a:t>    • Sosyal bağlantılar</a:t>
            </a:r>
          </a:p>
          <a:p>
            <a:pPr>
              <a:spcAft>
                <a:spcPts val="1200"/>
              </a:spcAft>
              <a:defRPr sz="2000"/>
            </a:pPr>
            <a:r>
              <a:t>    • Eğlence ve hobi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⚠️ Olumsuz Etkiler:</a:t>
            </a:r>
          </a:p>
          <a:p>
            <a:pPr>
              <a:spcAft>
                <a:spcPts val="1200"/>
              </a:spcAft>
              <a:defRPr sz="2000"/>
            </a:pPr>
            <a:r>
              <a:t>    • Ekran bağımlılığı</a:t>
            </a:r>
          </a:p>
          <a:p>
            <a:pPr>
              <a:spcAft>
                <a:spcPts val="1200"/>
              </a:spcAft>
              <a:defRPr sz="2000"/>
            </a:pPr>
            <a:r>
              <a:t>    • Göz ve sırt problemleri</a:t>
            </a:r>
          </a:p>
          <a:p>
            <a:pPr>
              <a:spcAft>
                <a:spcPts val="1200"/>
              </a:spcAft>
              <a:defRPr sz="2000"/>
            </a:pPr>
            <a:r>
              <a:t>    • Siber zorbalık riski</a:t>
            </a:r>
          </a:p>
          <a:p>
            <a:pPr>
              <a:spcAft>
                <a:spcPts val="1200"/>
              </a:spcAft>
              <a:defRPr sz="2000"/>
            </a:pPr>
            <a:r>
              <a:t>    • Gizlilik endişeleri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💡 Dijital Sağlık:</a:t>
            </a:r>
          </a:p>
          <a:p>
            <a:pPr>
              <a:spcAft>
                <a:spcPts val="1200"/>
              </a:spcAft>
              <a:defRPr sz="2000"/>
            </a:pPr>
            <a:r>
              <a:t>    • 20-20-20 kuralı (20 dk çalış, 20 sn ara, 20 feet uzak)</a:t>
            </a:r>
          </a:p>
          <a:p>
            <a:pPr>
              <a:spcAft>
                <a:spcPts val="1200"/>
              </a:spcAft>
              <a:defRPr sz="2000"/>
            </a:pPr>
            <a:r>
              <a:t>    • Doğru oturuş pozisyonu</a:t>
            </a:r>
          </a:p>
          <a:p>
            <a:pPr>
              <a:spcAft>
                <a:spcPts val="1200"/>
              </a:spcAft>
              <a:defRPr sz="2000"/>
            </a:pPr>
            <a:r>
              <a:t>    • Düzenli molalar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🖥️ Bilgisayar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Bir bilgisayar 2 ana bölümden oluşur: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DONANIM (Hardware)</a:t>
            </a:r>
          </a:p>
          <a:p>
            <a:pPr>
              <a:spcAft>
                <a:spcPts val="1200"/>
              </a:spcAft>
              <a:defRPr sz="2000"/>
            </a:pPr>
            <a:r>
              <a:t>    • Elle tutulabilen, fiziksel parçalar</a:t>
            </a:r>
          </a:p>
          <a:p>
            <a:pPr>
              <a:spcAft>
                <a:spcPts val="1200"/>
              </a:spcAft>
              <a:defRPr sz="2000"/>
            </a:pPr>
            <a:r>
              <a:t>    • Örnek: Klavye, mouse, ekran, kasa içi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YAZILIM (Software)</a:t>
            </a:r>
          </a:p>
          <a:p>
            <a:pPr>
              <a:spcAft>
                <a:spcPts val="1200"/>
              </a:spcAft>
              <a:defRPr sz="2000"/>
            </a:pPr>
            <a:r>
              <a:t>    • Programlar ve uygulamalar</a:t>
            </a:r>
          </a:p>
          <a:p>
            <a:pPr>
              <a:spcAft>
                <a:spcPts val="1200"/>
              </a:spcAft>
              <a:defRPr sz="2000"/>
            </a:pPr>
            <a:r>
              <a:t>    • Örnek: Windows, Word, oyunlar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💡 Önemli:</a:t>
            </a:r>
          </a:p>
          <a:p>
            <a:pPr>
              <a:spcAft>
                <a:spcPts val="1200"/>
              </a:spcAft>
              <a:defRPr sz="2000"/>
            </a:pPr>
            <a:r>
              <a:t>Donanım ve yazılım birlikte çalışarak</a:t>
            </a:r>
          </a:p>
          <a:p>
            <a:pPr>
              <a:spcAft>
                <a:spcPts val="1200"/>
              </a:spcAft>
              <a:defRPr sz="2000"/>
            </a:pPr>
            <a:r>
              <a:t>bilgisayarın görevlerini yerine getirir!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🧠 İşlemci - Bilgisayarın Beyni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CPU = Central Processing Unit (Merkezi İşlem Birimi)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Görevleri: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Tüm hesaplamaları yapar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Komutları işler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Verileri işleyip sonuç üretir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Önemli Özellikler: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GHz (Gigahertz) - Hız birimi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Çekirdek sayısı (2, 4, 8 çekirdek...)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Önbellek (Cache)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📌 Popüler Markalar: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Intel (i3, i5, i7, i9) ve AMD (Ryzen)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💡 Analoji: İşlemci = İnsan beyni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Ne kadar hızlı düşünürsen, işleri o kadar çabuk bitirirsin!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🎯 RAM - Geçici Hafıza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RAM = Random Access Memory (Rastgele Erişimli Bellek)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Görevleri: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Açık programların verilerini tutar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Geçici çalışma alanı sağlar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İşlemciye hızlı veri erişimi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⚠️ Önemli Özelliği: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Bilgisayar kapatıldığında içindeki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TÜM VERİLER SİLİNİR!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📊 Kapasiteler: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4 GB - Temel kullanım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8 GB - Günlük kullanım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16 GB+ - Oyun/Tasarım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💡 Analoji: RAM = Çalışma masası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Masası büyük olan daha çok iş yapabilir!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💾 Kalıcı Hafıza - Hard Disk &amp; SSD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✅ Hard Disk (HDD):</a:t>
            </a:r>
          </a:p>
          <a:p>
            <a:pPr>
              <a:spcAft>
                <a:spcPts val="1200"/>
              </a:spcAft>
              <a:defRPr sz="2000"/>
            </a:pPr>
            <a:r>
              <a:t>    • Dönen diskler üzerinde veri saklar</a:t>
            </a:r>
          </a:p>
          <a:p>
            <a:pPr>
              <a:spcAft>
                <a:spcPts val="1200"/>
              </a:spcAft>
              <a:defRPr sz="2000"/>
            </a:pPr>
            <a:r>
              <a:t>    • Daha ucuz, daha büyük kapasiteler</a:t>
            </a:r>
          </a:p>
          <a:p>
            <a:pPr>
              <a:spcAft>
                <a:spcPts val="1200"/>
              </a:spcAft>
              <a:defRPr sz="2000"/>
            </a:pPr>
            <a:r>
              <a:t>    • Daha yavaş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✅ SSD (Solid State Drive):</a:t>
            </a:r>
          </a:p>
          <a:p>
            <a:pPr>
              <a:spcAft>
                <a:spcPts val="1200"/>
              </a:spcAft>
              <a:defRPr sz="2000"/>
            </a:pPr>
            <a:r>
              <a:t>    • Elektronik çipler üzerinde veri saklar</a:t>
            </a:r>
          </a:p>
          <a:p>
            <a:pPr>
              <a:spcAft>
                <a:spcPts val="1200"/>
              </a:spcAft>
              <a:defRPr sz="2000"/>
            </a:pPr>
            <a:r>
              <a:t>    • Çok daha hızlı</a:t>
            </a:r>
          </a:p>
          <a:p>
            <a:pPr>
              <a:spcAft>
                <a:spcPts val="1200"/>
              </a:spcAft>
              <a:defRPr sz="2000"/>
            </a:pPr>
            <a:r>
              <a:t>    • Daha pahalı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Kapasiteler:</a:t>
            </a:r>
          </a:p>
          <a:p>
            <a:pPr>
              <a:spcAft>
                <a:spcPts val="1200"/>
              </a:spcAft>
              <a:defRPr sz="2000"/>
            </a:pPr>
            <a:r>
              <a:t>    • 256 GB - 500 GB - 1 TB - 2 TB...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⚠️ Önemli:</a:t>
            </a:r>
          </a:p>
          <a:p>
            <a:pPr>
              <a:spcAft>
                <a:spcPts val="1200"/>
              </a:spcAft>
              <a:defRPr sz="2000"/>
            </a:pPr>
            <a:r>
              <a:t>Bilgisayar kapatılsa bile veriler KALICI olarak durur!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💡 Fark: RAM geçici, HDD/SSD kalıcı!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🔌 Anakart - Ana Kart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Motherboard = Tüm parçaları birleştiren ana devre kartı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✅ Bağlanan Parçalar:</a:t>
            </a:r>
          </a:p>
          <a:p>
            <a:pPr>
              <a:spcAft>
                <a:spcPts val="1200"/>
              </a:spcAft>
              <a:defRPr sz="2000"/>
            </a:pPr>
            <a:r>
              <a:t>    • İşlemci (CPU)</a:t>
            </a:r>
          </a:p>
          <a:p>
            <a:pPr>
              <a:spcAft>
                <a:spcPts val="1200"/>
              </a:spcAft>
              <a:defRPr sz="2000"/>
            </a:pPr>
            <a:r>
              <a:t>    • RAM</a:t>
            </a:r>
          </a:p>
          <a:p>
            <a:pPr>
              <a:spcAft>
                <a:spcPts val="1200"/>
              </a:spcAft>
              <a:defRPr sz="2000"/>
            </a:pPr>
            <a:r>
              <a:t>    • Ekran kartı</a:t>
            </a:r>
          </a:p>
          <a:p>
            <a:pPr>
              <a:spcAft>
                <a:spcPts val="1200"/>
              </a:spcAft>
              <a:defRPr sz="2000"/>
            </a:pPr>
            <a:r>
              <a:t>    • Hard disk/SSD</a:t>
            </a:r>
          </a:p>
          <a:p>
            <a:pPr>
              <a:spcAft>
                <a:spcPts val="1200"/>
              </a:spcAft>
              <a:defRPr sz="2000"/>
            </a:pPr>
            <a:r>
              <a:t>    • Güç kaynağı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✅ Üzerindeki Bağlantılar:</a:t>
            </a:r>
          </a:p>
          <a:p>
            <a:pPr>
              <a:spcAft>
                <a:spcPts val="1200"/>
              </a:spcAft>
              <a:defRPr sz="2000"/>
            </a:pPr>
            <a:r>
              <a:t>    • USB portları</a:t>
            </a:r>
          </a:p>
          <a:p>
            <a:pPr>
              <a:spcAft>
                <a:spcPts val="1200"/>
              </a:spcAft>
              <a:defRPr sz="2000"/>
            </a:pPr>
            <a:r>
              <a:t>    • Ses girişi/çıkışı</a:t>
            </a:r>
          </a:p>
          <a:p>
            <a:pPr>
              <a:spcAft>
                <a:spcPts val="1200"/>
              </a:spcAft>
              <a:defRPr sz="2000"/>
            </a:pPr>
            <a:r>
              <a:t>    • Ethernet (İnternet kablosu)</a:t>
            </a:r>
          </a:p>
          <a:p>
            <a:pPr>
              <a:spcAft>
                <a:spcPts val="1200"/>
              </a:spcAft>
              <a:defRPr sz="2000"/>
            </a:pPr>
            <a:r>
              <a:t>    • HDMI/DisplayPort (Ekran)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💡 Analoji: Anakart = Şehir yolları</a:t>
            </a:r>
          </a:p>
          <a:p>
            <a:pPr>
              <a:spcAft>
                <a:spcPts val="1200"/>
              </a:spcAft>
              <a:defRPr sz="2000"/>
            </a:pPr>
            <a:r>
              <a:t>Tüm mahalleleri (parçaları) birbirine bağlar!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⌨️ Giriş ve Çıkış Birimleri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📥 GİRİŞ BİRİMLERİ (Input):</a:t>
            </a:r>
          </a:p>
          <a:p>
            <a:pPr>
              <a:spcAft>
                <a:spcPts val="1200"/>
              </a:spcAft>
              <a:defRPr sz="2000"/>
            </a:pPr>
            <a:r>
              <a:t>    • Klavye - Metin girişi</a:t>
            </a:r>
          </a:p>
          <a:p>
            <a:pPr>
              <a:spcAft>
                <a:spcPts val="1200"/>
              </a:spcAft>
              <a:defRPr sz="2000"/>
            </a:pPr>
            <a:r>
              <a:t>    • Mouse - İşaretleme ve tıklama</a:t>
            </a:r>
          </a:p>
          <a:p>
            <a:pPr>
              <a:spcAft>
                <a:spcPts val="1200"/>
              </a:spcAft>
              <a:defRPr sz="2000"/>
            </a:pPr>
            <a:r>
              <a:t>    • Mikrofon - Ses girişi</a:t>
            </a:r>
          </a:p>
          <a:p>
            <a:pPr>
              <a:spcAft>
                <a:spcPts val="1200"/>
              </a:spcAft>
              <a:defRPr sz="2000"/>
            </a:pPr>
            <a:r>
              <a:t>    • Webcam - Görüntü girişi</a:t>
            </a:r>
          </a:p>
          <a:p>
            <a:pPr>
              <a:spcAft>
                <a:spcPts val="1200"/>
              </a:spcAft>
              <a:defRPr sz="2000"/>
            </a:pPr>
            <a:r>
              <a:t>    • Tarayıcı (Scanner) - Belge/fotoğraf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📤 ÇIKIŞ BİRİMLERİ (Output):</a:t>
            </a:r>
          </a:p>
          <a:p>
            <a:pPr>
              <a:spcAft>
                <a:spcPts val="1200"/>
              </a:spcAft>
              <a:defRPr sz="2000"/>
            </a:pPr>
            <a:r>
              <a:t>    • Ekran (Monitor) - Görüntü çıkışı</a:t>
            </a:r>
          </a:p>
          <a:p>
            <a:pPr>
              <a:spcAft>
                <a:spcPts val="1200"/>
              </a:spcAft>
              <a:defRPr sz="2000"/>
            </a:pPr>
            <a:r>
              <a:t>    • Hoparlör - Ses çıkışı</a:t>
            </a:r>
          </a:p>
          <a:p>
            <a:pPr>
              <a:spcAft>
                <a:spcPts val="1200"/>
              </a:spcAft>
              <a:defRPr sz="2000"/>
            </a:pPr>
            <a:r>
              <a:t>    • Yazıcı (Printer) - Kağıt çıktısı</a:t>
            </a:r>
          </a:p>
          <a:p>
            <a:pPr>
              <a:spcAft>
                <a:spcPts val="1200"/>
              </a:spcAft>
              <a:defRPr sz="2000"/>
            </a:pPr>
            <a:r>
              <a:t>    • Projektör - Büyük ekran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🔄 HER İKİSİ:</a:t>
            </a:r>
          </a:p>
          <a:p>
            <a:pPr>
              <a:spcAft>
                <a:spcPts val="1200"/>
              </a:spcAft>
              <a:defRPr sz="2000"/>
            </a:pPr>
            <a:r>
              <a:t>    • Dokunmatik ekran</a:t>
            </a:r>
          </a:p>
          <a:p>
            <a:pPr>
              <a:spcAft>
                <a:spcPts val="1200"/>
              </a:spcAft>
              <a:defRPr sz="2000"/>
            </a:pPr>
            <a:r>
              <a:t>    • Akıllı telefon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⚙️ İşletim Sistemi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Operating System (OS) = Bilgisayarı yöneten ana yazılım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✅ Temel Görevleri:</a:t>
            </a:r>
          </a:p>
          <a:p>
            <a:pPr>
              <a:spcAft>
                <a:spcPts val="1200"/>
              </a:spcAft>
              <a:defRPr sz="2000"/>
            </a:pPr>
            <a:r>
              <a:t>    • Donanımı yönetir</a:t>
            </a:r>
          </a:p>
          <a:p>
            <a:pPr>
              <a:spcAft>
                <a:spcPts val="1200"/>
              </a:spcAft>
              <a:defRPr sz="2000"/>
            </a:pPr>
            <a:r>
              <a:t>    • Programları çalıştırır</a:t>
            </a:r>
          </a:p>
          <a:p>
            <a:pPr>
              <a:spcAft>
                <a:spcPts val="1200"/>
              </a:spcAft>
              <a:defRPr sz="2000"/>
            </a:pPr>
            <a:r>
              <a:t>    • Dosyaları organize eder</a:t>
            </a:r>
          </a:p>
          <a:p>
            <a:pPr>
              <a:spcAft>
                <a:spcPts val="1200"/>
              </a:spcAft>
              <a:defRPr sz="2000"/>
            </a:pPr>
            <a:r>
              <a:t>    • Kullanıcı ile iletişim sağlar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💡 Önemli:</a:t>
            </a:r>
          </a:p>
          <a:p>
            <a:pPr>
              <a:spcAft>
                <a:spcPts val="1200"/>
              </a:spcAft>
              <a:defRPr sz="2000"/>
            </a:pPr>
            <a:r>
              <a:t>İşletim sistemi olmadan bilgisayar ÇALIŞAMAZ!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✅ Popüler İşletim Sistemleri:</a:t>
            </a:r>
          </a:p>
          <a:p>
            <a:pPr>
              <a:spcAft>
                <a:spcPts val="1200"/>
              </a:spcAft>
              <a:defRPr sz="2000"/>
            </a:pPr>
            <a:r>
              <a:t>    • Windows (En yaygın)</a:t>
            </a:r>
          </a:p>
          <a:p>
            <a:pPr>
              <a:spcAft>
                <a:spcPts val="1200"/>
              </a:spcAft>
              <a:defRPr sz="2000"/>
            </a:pPr>
            <a:r>
              <a:t>    • macOS (Apple bilgisayarlar)</a:t>
            </a:r>
          </a:p>
          <a:p>
            <a:pPr>
              <a:spcAft>
                <a:spcPts val="1200"/>
              </a:spcAft>
              <a:defRPr sz="2000"/>
            </a:pPr>
            <a:r>
              <a:t>    • Linux (Açık kaynak, ücretsiz)</a:t>
            </a:r>
          </a:p>
          <a:p>
            <a:pPr>
              <a:spcAft>
                <a:spcPts val="1200"/>
              </a:spcAft>
              <a:defRPr sz="2000"/>
            </a:pPr>
            <a:r>
              <a:t>    • Android/iOS (Mobil cihazlar)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🪟 Windows İşletim Sistemi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Microsoft tarafından geliştirilmiş en popüler OS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Önemli Özellikler: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Kullanıcı dostu arayüz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Başlat menüsü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Görev çubuğu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Masaüstü (Desktop)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Dosya Gezgini (File Explorer)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Sürümler: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Windows 10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Windows 11 (En yeni)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Temel Kısayollar: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Windows tuşu - Başlat menüsü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Windows + E - Dosya Gezgini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Alt + Tab - Pencereler arası geçiş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Ctrl + Alt + Delete - Görev yöneticisi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📁 Dosya ve Klasör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📄 DOSYA (File):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Bilgisayarda saklanan her türlü bilgi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Örnekler: Resim, video, müzik, belge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📁 KLASÖR (Folder):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Dosyaları düzenli tutmak için sanal çekmece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İçinde dosya ve alt klasörler olabilir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Dosya Uzantıları: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.docx - Word belgesi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.xlsx - Excel tablosu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.pptx - PowerPoint sunumu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.jpg, .png - Resim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.mp4, .avi - Video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.mp3 - Müzik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.pdf - PDF belgesi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.exe - Program dosyası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🛠️ Dosya İşlemleri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✅ Temel İşlemler: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📂 OLUŞTURMA:</a:t>
            </a:r>
          </a:p>
          <a:p>
            <a:pPr>
              <a:spcAft>
                <a:spcPts val="1200"/>
              </a:spcAft>
              <a:defRPr sz="2000"/>
            </a:pPr>
            <a:r>
              <a:t>    • Sağ tık → Yeni → Klasör/Dosya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✏️ YENİDEN ADLANDIRMA:</a:t>
            </a:r>
          </a:p>
          <a:p>
            <a:pPr>
              <a:spcAft>
                <a:spcPts val="1200"/>
              </a:spcAft>
              <a:defRPr sz="2000"/>
            </a:pPr>
            <a:r>
              <a:t>    • Sağ tık → Yeniden Adlandır (F2)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📋 KOPYALAMA:</a:t>
            </a:r>
          </a:p>
          <a:p>
            <a:pPr>
              <a:spcAft>
                <a:spcPts val="1200"/>
              </a:spcAft>
              <a:defRPr sz="2000"/>
            </a:pPr>
            <a:r>
              <a:t>    • Ctrl + C (Kopyala) → Ctrl + V (Yapıştır)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✂️ KESME/TAŞIMA:</a:t>
            </a:r>
          </a:p>
          <a:p>
            <a:pPr>
              <a:spcAft>
                <a:spcPts val="1200"/>
              </a:spcAft>
              <a:defRPr sz="2000"/>
            </a:pPr>
            <a:r>
              <a:t>    • Ctrl + X (Kes) → Ctrl + V (Yapıştır)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🗑️ SİLME:</a:t>
            </a:r>
          </a:p>
          <a:p>
            <a:pPr>
              <a:spcAft>
                <a:spcPts val="1200"/>
              </a:spcAft>
              <a:defRPr sz="2000"/>
            </a:pPr>
            <a:r>
              <a:t>    • Delete tuşu → Geri Dönüşüm Kutusu</a:t>
            </a:r>
          </a:p>
          <a:p>
            <a:pPr>
              <a:spcAft>
                <a:spcPts val="1200"/>
              </a:spcAft>
              <a:defRPr sz="2000"/>
            </a:pPr>
            <a:r>
              <a:t>    • Shift + Delete → Kalıcı silme!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🔍 ARAMA:</a:t>
            </a:r>
          </a:p>
          <a:p>
            <a:pPr>
              <a:spcAft>
                <a:spcPts val="1200"/>
              </a:spcAft>
              <a:defRPr sz="2000"/>
            </a:pPr>
            <a:r>
              <a:t>    • Dosya Gezgini'nde arama kutusu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💡 İyi Dosya Düzenleme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✅ Anlamlı İsimler Kullanın: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❌ Yanlış: Belge1.docx, 12345.jpg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✅ Doğru: Matematik_Odevi.docx, Aile_Tatili_2025.jpg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Klasör Yapısı Oluşturun: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📁 Belgeler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    📁 Okulİşleri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        📁 Matematik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        📁 Türkçe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    📁 Kişisel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Düzenli Yedekleme: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Önemli dosyaları USB veya buluta yedekleyin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Haftalık yedekleme alışkanlığı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Gereksizleri Silin: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İndirilenler klasörünü temizleyin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Eski dosyaları arşivleyin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Bu ünitede öğrendiklerimiz: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✅ Bilişim teknolojilerinin sınıflandırılması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✅ Bilgisayar bileşenleri: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İşlemci (CPU) - Beyin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RAM - Geçici hafıza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Hard Disk/SSD - Kalıcı hafıza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Anakart - Bağlantı merkezi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✅ İşletim sistemleri (Windows, Linux, macOS)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✅ Dosya ve klasör yönetimi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✅ Dosya uzantıları ve türleri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✅ İyi düzenleme alışkanlıkları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💡 Unutmayın: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Teknoloji hayatımızı kolaylaştırır,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ama sorumlu kullanılmalıdır!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🎬 Kaynaklar ve Video Önerileri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📺 İzlemeniz Gereken Videolar: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'Bilgisayar Nasıl Çalışır?' (YouTube)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'CPU Animasyonu' (YouTube)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'HDD vs SSD Karşılaştırması' (YouTube)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'İşletim Sistemleri Nedir?' (YouTube)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🌐 Faydalı Web Siteleri: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code.org - Programlama öğren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scratch.mit.edu - Blok programlama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khanacademy.org/tr - Ücretsiz eğitim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📚 Okuma Kaynakları: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MEB Ders Kitabı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EBA (Eğitim Bilişim Ağı)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❓ Sorularınız için: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    • Öğretmeninizle iletişime geçin!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Teşekkürler!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Bir sonraki derste görüşmek üzere!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