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389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388" r:id="rId41"/>
    <p:sldId id="387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86" r:id="rId61"/>
    <p:sldId id="385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84" r:id="rId77"/>
    <p:sldId id="383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82" r:id="rId95"/>
    <p:sldId id="38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81" r:id="rId1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59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2094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 ünite 9 hafta sürecek ve bilişim teknolojilerinin temellerini kapsar.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 önerisi: 'Bilişim Teknolojileri Nedir?' - YouTube'da aratın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Görseller: Her kategori için örnek resimler ekleyin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Görseller: Donanım ve yazılım karşılaştırma görselleri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'CPU Nasıl Çalışır?' animasyonu izletin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Görseller: RAM kartı fotoğrafı ve çalışma masası analojisi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'HDD vs SSD Karşılaştırması' izletin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Görseller: Anakart fotoğrafı ve etiketli diyagram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'İşletim Sistemleri Tanıtımı'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Uygulama: Öğrencilere kısayolları denetin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Görseller: Farklı dosya türleri ve ikonları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Uygulama: Öğrencilerle birlikte bu işlemleri yapın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28904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'Dijital Ürün Tasarımına Giriş' - Öğrencilere günlük hayatta kullandıkları uygulamaların nasıl tasarlandığını anlatan video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51869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kendi hayatlarından proje örnekleri buldurtun. Sınıfta tartışın.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474544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'Proje Yönetimi Nedir?' animasyonlu anlatım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606406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Popüler dijital ürün logoları gösterin (Instagram, YouTube, Minecraft vb.)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494698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'Bir Mobil Uygulama Nasıl Tasarlanır?' - Tasarım sürecini adım adım gösteren video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02421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Öğrencileri 4-5 kişilik gruplara ayırın. Her grup kendi yaşadığı bir problemi belirlesin ve tahtaya yazsın.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6842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Her grup, belirlediği problem için 5 farklı çözüm fikri geliştirsin. En yaratıcı fikri seçin.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722528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İyi ve kötü tasarım örnekleri gösterin (karmaşık vs. sade arayüz örnekleri)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71909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Her grup, fikirlerinden birini kağıt prototip olarak çizsin (ana ekran, oyun ekranı vb.)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8773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'Kullanıcı Testi Nasıl Yapılır?' - Gerçek bir test seansı kaydı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297599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Kullandığınız uygulamalar güncelleme alır. Bu güncellemeler neden yapılır? Geri bildirimlerinizin etkisi var mı?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80936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App Store ve Google Play Store ekran görüntüleri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52985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 kendi gruplarının projesini bu formatta özetlesin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665558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Trello Kanban panosu örneği gösterin. Öğrencilere kağıtta Kanban tahtası çizdirebilirsiniz.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88648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Sınıfı 4-5 kişilik gruplara ayırın. Her grupta roller dağıtın. Mini bir proje planı yapın.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57881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'Instagram'ın Hikayesi' veya 'Minecraft'ı Markus Persson Nasıl Yarattı?' kısa belgesel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508567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Materyal: Kağıtlar, renkli kalemler, makas dağıtın. Grupları oluşturun ve çalışmalarını başlatın.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60959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Quiz: Ünite sonu quiz yapın. Öğrencilerin öğrendiklerini pekiştirin.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771873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Not: Belirtilen video linklerini önceden izleyin ve sınıfa uygun olanları seçin.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9183982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869389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537713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'İnternet Nasıl Çalışır?' animasyonlu video ile başlayın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9775441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Birbirine bağlı bilgisayarlar diyagramı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5947848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Sınıfın bilgisayar ağını çizdirebilirsiniz. Hangi cihazlar bağlı?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835245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'İnternet Kablolarının Dünya Haritası' - Deniz altı internet kablolarını gösteren video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992250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İnternet bağlantısı akış diyagramı çizin veya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512906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kendi IP adreslerini öğretmenin gözetiminde buldurtun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231135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DNS (Domain Name System) nasıl çalışır diyagramı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3058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tarayıcıyı açtırın, bölümlerini gösterin, favorilere site eklemeyi öğretin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37717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Google'da pratik aramalar yaptırın. Tırnak ve eksi işaretini deneyin.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016404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Öğrencilere bir konu verin, güvenilir kaynak bulmalarını isteyin ve neden güvenilir olduğunu açıklasınlar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4495850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e-posta yazma pratiği yaptırın. Öğretmene e-posta göndertebilirsiniz.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503729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Hangi iletişim aracını ne zaman kullanırız? Resmi e-posta mı, WhatsApp mı?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6907745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'İnternet Güvenliği için 10 Altın Kural' - Çocuklar için hazırlanmış güvenlik videosu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964606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Siber zorbalık gördüğünüzde ne yaparsınız? Rol yapma aktivitesi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734059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bir sunum hazırlatın ve kaynak göstermeyi öğretin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21325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bir hafta boyunca internet kullanım sürelerini kaydetmelerini isteyin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68052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Quiz: Ünite sonu quiz yapın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1436882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Not: Belirtilen videoları önceden izleyin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4966901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5062040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976517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'Dijital Vatandaşlık Nedir?' ile başlayın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5427202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Dijital dünyada gördüğünüz etik dışı davranışlar neler? Örnekler verin.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8358496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kendi dijital ayak izlerini düşündürün. Ne paylaştılar?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661843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gizlilik ayarlarını kontrol ettirin (ebeveyn gözetiminde)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7863292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güçlü şifre oluşturma yarışması düzenleyin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7371636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Şifre yöneticisi (password manager) nedir, nasıl kullanılır?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728155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'Phishing Saldırısı Nasıl Anlaşılır?' - Örnek senaryolar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51825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Farklı zararlı yazılım türlerinin ikonları ve etkileri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7599996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Windows Defender nasıl açılır ve tarama yapılır?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822591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Rol yapma aktivitesi: Sosyal mühendislik senaryoları canlandırın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311553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Sınıfta 'Dijital Vatandaşlık Sertifikası' tasarlayın ve imzalatın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698058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Bir hesapta 2FA nasıl açılır?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195330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Quiz yapın ve öğrendiklerini pekiştirin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887303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Tüm kaynakları önceden inceleyin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8129478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456940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359821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'Yapay Zeka Nedir?' - Çocuklar için animasyonlu anlatım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6181279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Robot ve yapay zeka arasındaki fark nedir? Robot fiziksel, AI yazılımdır.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059746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'Yapay Zekanın Tarihi' - Kısa animasyon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1420083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'öğrenme' sürecini düşündürün. Nasıl bisiklete binmeyi öğrendiler?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8513545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Basit bir yapay sinir ağı diyagramı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12924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Sınıfta sesli asistan kullanımı gösterin (uygunsa)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171737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'Görüntü Tanıma Nasıl Çalışır?' - Animasyon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323078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Öneri sistemleri sizi nasıl etkiliyor? Fark ettiniz mi?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5036380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 hangi oyunlarda AI fark ettiler? Paylaşsınlar.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628166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Bir AI görsel üretici aracı gösterin (öğretmen gözetiminde)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4214699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Yapay zeka daha çok iyi mi kötü mü? Faydaları ve zararları nedir?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3531391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 hangi mesleği yapmak ister? AI nasıl etkileyecek?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126466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Google Teachable Machine ile sınıfta mini proje yapın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7428986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'Geleceğin Dünyası ve AI' - Bilim kurgu ama gerçekçi tahminler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1472540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Quiz yapın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70134619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Tüm kaynakları önceden deneyin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765353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236937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864320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'Scratch ile Tanışalım' - Giriş videosu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414206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scratch.mit.edu sitesine girin, anasayfayı tanıtın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678855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Scratch'i açın, her bölümü gösterin. Öğrencilere hesap açtırın.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0575977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Her blok kategorisinden birkaç tane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5517517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Sprite ekleme, silme, düzenleme işlemlerini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209282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kare çizdirin. Sonra üçgen çizmeyi deneyin.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9439536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Konuşma balonu, kostüm değiştirme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0196435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Ses ekleme ve çalma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569448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Ok tuşları ile kedi hareket ettirin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756141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Farklı şekiller çizdirin (üçgen, beşgen, altıgen)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4524399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'Kenara çarparsa sek' programı yazın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301862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'Puan' değişkeni oluşturun, tıklayınca artsın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69308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Örnek: Basit bir quiz yapın, sorular listede saklansın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3304400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Basit hesap makinesi yapın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545195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Sprite'a dokunulunca ses çıkarsın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7890616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'Yıldız çiz' fonksiyonu oluşturun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799637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Proje: Öğrenciler kendi labirentlerini tasarlasın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1011654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Proje: Öğrenciler oyunu geliştirsin (tuğlalar, seviyeler)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8836512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Proje: Öğrenciler tema değiştirsin (uzay, deniz altı, vs.)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5117542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Proje: Öğrencilere yardım edin, birlikte kodlayın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6631707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Proje: Damga, şekil çizme ekleyin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093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Proje: 10 soruluk bilgi yarışması yapın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7090787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Her projeye uygun müzik ve ses ekleyin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6633028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Öğrencilerin projelerini Scratch'te paylaşın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5038863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 öğrenci kendi projesini planlasın, onaylayın, sonra kodlamaya başlasın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7692420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Quiz yapın ve tüm üniteyi değerlendirin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181807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Tüm kaynakları önceden inceleyin ve öğrencilere yol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69216956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862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 dirty="0"/>
              <a:t>📱 BİLİŞİM TEMELLERİ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200">
                <a:solidFill>
                  <a:srgbClr val="FFFFFF"/>
                </a:solidFill>
              </a:defRPr>
            </a:pPr>
            <a:r>
              <a:rPr dirty="0"/>
              <a:t>5. </a:t>
            </a:r>
            <a:r>
              <a:rPr dirty="0" err="1"/>
              <a:t>Sınıf</a:t>
            </a:r>
            <a:r>
              <a:rPr dirty="0"/>
              <a:t> - </a:t>
            </a:r>
            <a:r>
              <a:rPr dirty="0" err="1"/>
              <a:t>Ünite</a:t>
            </a:r>
            <a:r>
              <a:rPr dirty="0"/>
              <a:t> 1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</a:pPr>
            <a:r>
              <a:rPr dirty="0"/>
              <a:t>9 </a:t>
            </a:r>
            <a:r>
              <a:rPr dirty="0" err="1"/>
              <a:t>Haftalık</a:t>
            </a:r>
            <a:r>
              <a:rPr dirty="0"/>
              <a:t> </a:t>
            </a:r>
            <a:r>
              <a:rPr dirty="0" err="1"/>
              <a:t>Kapsamlı</a:t>
            </a:r>
            <a:r>
              <a:rPr dirty="0"/>
              <a:t>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📋 Ünite İçeriği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🖥️ 1. Bilişim Teknolojilerinin Hayatımızdaki Yeri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Bilişim Teknolojilerinin Sınıflandırılması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Etkileri ve Dijital Sağlık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💻 2. Bilgisayar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Donanım Bileşenleri (CPU, RAM, Hard Disk, Anakart)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Giriş ve Çıkış Birimleri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⚙️ 3. İşletim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Windows, Linux, macOS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Temel Görevler ve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📁 4. Dosya ve Klasör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 Uzantıları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Düzenleme ve Yönetim İşlemleri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🌐 Bilişim Teknolojileri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Bilgi ve iletişim teknolojilerinin tümünü kapsayan alan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6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Temel Bileşenler: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Donanım (Hardware)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Yazılım (Software)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Ağlar (Networks)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Veriler (Data)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6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Kullanım Alanları: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Eğitim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Sağlık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İletişim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Eğlence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İş dünyası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📊 Bilişim Teknolojilerinin Sınıflandırılması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Donanım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Bilgisayarlar, tabletler, akıllı telefonlar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Sunucular, ağ cihazları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Yazılım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İşletim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Uygulama programları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Web tarayıcıları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3️⃣ İletişim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İnternet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E-posta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Video konferans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4️⃣ Veri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Veritabanları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Bulut depolama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🌟 Bilişim Teknolojilerinin Hayatımıza Etkileri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Olumlu Etkiler: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Hızlı bilgiye erişim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Uzaktan çalışma/eğitim imkanı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Sosyal bağlantılar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Eğlence ve hobi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⚠️ Olumsuz Etkiler: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bağımlılığı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Göz ve sırt problemleri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Siber zorbalık riski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Gizlilik endişeleri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Dijital Sağlık: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20-20-20 kuralı (20 dk çalış, 20 sn ara, 20 feet uzak)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Doğru oturuş pozisyonu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Düzenli molalar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🖥️ Bilgisayar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Bir bilgisayar 2 ana bölümden oluşur: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DONANIM (Hardware)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Elle tutulabilen, fiziksel parçalar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Örnek: Klavye, mouse, ekran, kasa içi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YAZILIM (Software)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Programlar ve uygulamalar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Örnek: Windows, Word,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Donanım ve yazılım birlikte çalışarak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bilgisayarın görevlerini yerine getirir!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🧠 İşlemci - Bilgisayarın Beyni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CPU = Central Processing Unit (Merkezi İşlem Birimi)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Tüm hesaplamaları yapar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Komutları işler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Verileri işleyip sonuç üretir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GHz (Gigahertz) - Hız birimi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Çekirdek sayısı (2, 4, 8 çekirdek...)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Önbellek (Cache)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📌 Popüler Markalar: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Intel (i3, i5, i7, i9) ve AMD (Ryzen)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Analoji: İşlemci = İnsan beyni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Ne kadar hızlı düşünürsen, işleri o kadar çabuk bitirirsin!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🎯 RAM - Geçici Hafıza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RAM = Random Access Memory (Rastgele Erişimli Bellek)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Açık programların verilerini tutar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Geçici çalışma alanı sağlar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İşlemciye hızlı veri erişimi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⚠️ Önemli Özelliği: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Bilgisayar kapatıldığında içindeki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TÜM VERİLER SİLİNİR!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Kapasiteler: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4 GB - Temel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8 GB - Günlük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16 GB+ - Oyun/Tasarım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Analoji: RAM = Çalışma masası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Masası büyük olan daha çok iş yapabilir!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💾 Kalıcı Hafıza - Hard Disk &amp; SSD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Hard Disk (HDD):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Dönen diskler üzerinde veri saklar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ucuz, daha büyük kapasiteler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yavaş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SSD (Solid State Drive):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Elektronik çipler üzerinde veri saklar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Çok daha hızlı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pahalı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📊 Kapasiteler: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256 GB - 500 GB - 1 TB - 2 TB...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⚠️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Bilgisayar kapatılsa bile veriler KALICI olarak durur!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Fark: RAM geçici, HDD/SSD kalıcı!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🔌 Anakart - Ana Kart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Motherboard = Tüm parçaları birleştiren ana devre kartı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Bağlanan Parçalar: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İşlemci (CPU)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RAM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kartı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Hard disk/SSD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Güç kaynağı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Üzerindeki Bağlantılar: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USB portları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Ses girişi/çıkışı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Ethernet (İnternet kablosu)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HDMI/DisplayPort (Ekran)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Analoji: Anakart = Şehir yolları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Tüm mahalleleri (parçaları) birbirine bağlar!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⌨️ Giriş ve Çıkış Birimleri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📥 GİRİŞ BİRİMLERİ (Input):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Klavye - Metin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Mouse - İşaretleme ve tıklama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Mikrofon - Ses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Webcam - Görüntü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Tarayıcı (Scanner) - Belge/fotoğraf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📤 ÇIKIŞ BİRİMLERİ (Output):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(Monitor) - Görüntü 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Hoparlör - Ses 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Yazıcı (Printer) - Kağıt çıktısı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Projektör - Büyük ekran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🔄 HER İKİSİ: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Dokunmatik ekran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Akıllı telefon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⚙️ İşletim Sistemi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Operating System (OS) = Bilgisayarı yöneten ana yazılım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Temel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Donanımı yönetir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Programları çalıştırır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Dosyaları organize eder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Kullanıcı ile iletişim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İşletim sistemi olmadan bilgisayar ÇALIŞAMAZ!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Popüler İşletim Sistemleri: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Windows (En yaygın)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macOS (Apple bilgisayarlar)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Linux (Açık kaynak, ücretsiz)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Android/iOS (Mobil cihazlar)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🪟 Windows İşletim Sistemi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Microsoft tarafından geliştirilmiş en popüler OS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Kullanıcı dostu arayüz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Başlat menüsü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Görev çubuğu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Masaüstü (Desktop)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 Gezgini (File Explorer)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Sürümler: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10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11 (En yeni)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Temel Kısayollar: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tuşu - Başlat menüsü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+ E - Dosya Gezgini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Alt + Tab - Pencereler arası geçiş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Ctrl + Alt + Delete - Görev yöneticisi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📁 Dosya ve Klasör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📄 DOSYA (File):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Bilgisayarda saklanan her türlü bilgi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Örnekler: Resim, video, müzik, belge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📁 KLASÖR (Folder):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Dosyaları düzenli tutmak için sanal çekmece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İçinde dosya ve alt klasörler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Uzantıları: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.docx - Word belgesi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.xlsx - Excel tablosu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.pptx - PowerPoint sunumu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.jpg, .png - Resim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.mp4, .avi - Video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.mp3 - Müzik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.pdf - PDF belgesi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.exe - Program dosyası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🛠️ Dosya İşlemleri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Temel İşlemler: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📂 OLUŞTURMA: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Sağ tık → Yeni → Klasör/Dosya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✏️ YENİDEN ADLANDIRMA: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Sağ tık → Yeniden Adlandır (F2)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📋 KOPYALAMA: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Ctrl + C (Kopyala)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✂️ KESME/TAŞIMA: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Ctrl + X (Kes)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🗑️ SİLME: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Delete tuşu → Geri Dönüşüm Kutusu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Shift + Delete → Kalıcı silme!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🔍 ARAMA: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Dosya Gezgini'nde arama kutusu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💡 İyi Dosya Düzenleme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Anlamlı İsimler Kullanın: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❌ Yanlış: Belge1.docx, 12345.jpg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✅ Doğru: Matematik_Odevi.docx, Aile_Tatili_2025.jpg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Klasör Yapısı Oluşturun: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📁 Belgeler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📁 Okulİşleri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    📁 Matematik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    📁 Türkçe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📁 Kişisel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Düzenli Yedekleme: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Önemli dosyaları USB veya buluta yedekleyin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Haftalık yedekleme alışkanlığı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Gereksizleri Silin: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İndirilenler klasörünü temizleyin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Eski dosyaları arşivleyin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öğrendiklerimiz: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Bilişim teknolojilerinin sınıflandırılması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Bilgisayar bileşenleri: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İşlemci (CPU) - Beyin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RAM - Geçici hafıza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Hard Disk/SSD - Kalıcı hafıza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Anakart - Bağlantı merkezi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İşletim sistemleri (Windows, Linux, macOS)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ve klasör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uzantıları ve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İyi düzenleme alışkanlıkları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Unutmayın: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Teknoloji hayatımızı kolaylaştırır,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ama sorumlu kullanılmalıdır!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t>🎬 Kaynaklar ve Video Önerileri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📺 İzlemeniz Gereken Videolar: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'Bilgisayar Nasıl Çalışır?'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'CPU Animasyonu'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'HDD vs SSD Karşılaştırması'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'İşletim Sistemleri Nedir?'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🌐 Faydalı Web Siteleri: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code.org - Programlama öğren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scratch.mit.edu - Blok programlama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khanacademy.org/tr - Ücretsiz eğitim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Okuma Kaynakları: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MEB Ders Kitabı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EBA (Eğitim Bilişim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❓ Sorularınız için: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Öğretmeninizle iletişime geçin!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t>Teşekkürler!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200">
                <a:solidFill>
                  <a:srgbClr val="FFFFFF"/>
                </a:solidFill>
              </a:defRPr>
            </a:pPr>
            <a:r>
              <a:t>Bir sonraki derste görüşmek üzere!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Dijital Ürün Tasarımı ve Proje Yönetimi</a:t>
            </a:r>
          </a:p>
        </p:txBody>
      </p:sp>
    </p:spTree>
    <p:extLst>
      <p:ext uri="{BB962C8B-B14F-4D97-AF65-F5344CB8AC3E}">
        <p14:creationId xmlns:p14="http://schemas.microsoft.com/office/powerpoint/2010/main" val="860433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Proje Kavramı ve Proje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Dijital Ürün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Dijital Ürün Tasarımı Süreci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İhtiyaç Analizi ve Problem Tanımlama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Çözüm Önerileri Geliştirme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Prototip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Test Etme ve Geri Bildirim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Dijital Ürün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6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Kendi dijital ürününüzü tasarlayabilmek!</a:t>
            </a:r>
          </a:p>
        </p:txBody>
      </p:sp>
    </p:spTree>
    <p:extLst>
      <p:ext uri="{BB962C8B-B14F-4D97-AF65-F5344CB8AC3E}">
        <p14:creationId xmlns:p14="http://schemas.microsoft.com/office/powerpoint/2010/main" val="3765534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📋 Proje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Proje = Belirli bir hedefe ulaşmak için yapılan planlı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Projenin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Başlangıç ve bitiş tarihi vardır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Belirli bir amacı vardır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Kaynaklar kullanır (zaman, para, insan)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Özgün bir ürün veya hizmet ortaya çıkarır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Doğum günü partisi organizasyonu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Okul sergisi hazırlığı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Bahçeye çiçek dikme projesi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Mobil uygulama geliştirme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Her proje benzersizdir ve bir kez yapılır!</a:t>
            </a:r>
          </a:p>
        </p:txBody>
      </p:sp>
    </p:spTree>
    <p:extLst>
      <p:ext uri="{BB962C8B-B14F-4D97-AF65-F5344CB8AC3E}">
        <p14:creationId xmlns:p14="http://schemas.microsoft.com/office/powerpoint/2010/main" val="18552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🗂️ Proje Yönetimi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Proje yönetimi = Projeyi başarıyla tamamlamak için yapılan planlama ve organizasyon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Proje Yönetiminin Aşamaları: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PLANLAMA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Ne yapacağız?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Nasıl yapacağız?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Ne zaman bitireceğiz?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UYGULAMA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Planı hayata geçirme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Görevleri yerine getirme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3️⃣ İZLEME VE KONTROL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İşler plana uygun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Sorunlar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4️⃣ TAMAMLAMA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Projeyi bitirme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Sonuçları değerlendirme</a:t>
            </a:r>
          </a:p>
        </p:txBody>
      </p:sp>
    </p:spTree>
    <p:extLst>
      <p:ext uri="{BB962C8B-B14F-4D97-AF65-F5344CB8AC3E}">
        <p14:creationId xmlns:p14="http://schemas.microsoft.com/office/powerpoint/2010/main" val="12515427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💻 Dijital Ürün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Dijital ürün = Bilgisayar, telefon veya tablet gibi cihazlarda kullanılan ürünler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Ürün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📱 Mobil Uygulamalar: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WhatsApp, Instagram, TikTok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Oyun uygulamaları (Subway Surfers, Roblox)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Eğitim uygulamaları (Morpa Kampüs, EBA)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🌐 Web Siteleri: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YouTube, Google, Wikipedia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🎮 Dijital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Minecraft, Fortnite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E-kitaplar, Podcast'ler, Dijital Sanat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Fiziksel olmayan, elektronik cihazlarda çalışan her şey!</a:t>
            </a:r>
          </a:p>
        </p:txBody>
      </p:sp>
    </p:spTree>
    <p:extLst>
      <p:ext uri="{BB962C8B-B14F-4D97-AF65-F5344CB8AC3E}">
        <p14:creationId xmlns:p14="http://schemas.microsoft.com/office/powerpoint/2010/main" val="40436716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🎨 Dijital Ürün Tasarım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Bir dijital ürün nasıl tasarlanır?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Tasarım Süreci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İHTİYAÇ ANALİZİ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FIKIR GELIŞTIRME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Çözüm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3️⃣ TASARIM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Ürünün görünümünü planlama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4️⃣ PROTOTİP OLUŞTURMA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İlk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5️⃣ TEST ETME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Kullanıcılarla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6️⃣ GERİ BİLDİRİM VE İYİLEŞTİRME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Eksikleri düzeltme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7️⃣ YAYINLAMA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Ürünü kullanıma sunma</a:t>
            </a:r>
          </a:p>
        </p:txBody>
      </p:sp>
    </p:spTree>
    <p:extLst>
      <p:ext uri="{BB962C8B-B14F-4D97-AF65-F5344CB8AC3E}">
        <p14:creationId xmlns:p14="http://schemas.microsoft.com/office/powerpoint/2010/main" val="391377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🔍 Adım 1: İhtiyaç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En önemli adım: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İhtiyaç Analizi Soruları: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İnsanların hangi sorunu var?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 sorunu kim yaşıyor?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Sorun ne kadar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Mevcut çözümler var mı? Yeterli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 Problemler: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Öğrenciler matematik çalışırken zorlanıyor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Çocuklar İngilizce kelime ezberlemekte sıkılıyor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Küçük kardeşim zamanını planlamayı bilmiyor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Arkadaşlar hangi oyunu oynayacağına karar veremiyor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İyi bir problem tanımı = Başarılı ürünün yarısı!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Etkinlik: Sınıfta karşılaştığınız 3 problemi listeleyin</a:t>
            </a:r>
          </a:p>
        </p:txBody>
      </p:sp>
    </p:spTree>
    <p:extLst>
      <p:ext uri="{BB962C8B-B14F-4D97-AF65-F5344CB8AC3E}">
        <p14:creationId xmlns:p14="http://schemas.microsoft.com/office/powerpoint/2010/main" val="904301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💡 Adım 2: Çözüm Fikirleri Geliştirme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Problem belirlendi, şimdi çözüm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Fikir Geliştirme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🧠 Beyin Fırtınası (Brainstorming):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Tüm fikirleri söyleyin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Eleştirmeyin, not alın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Çılgın fikirler de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🗣️ Kullanıcı Görüşleri: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Problemi yaşayan kişilerle konuşun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 isterler? Ne işe yarar?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Mevcut Ürünleri İnceleme: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ürünler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Onların eksiği ne?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Nasıl daha iyi yapabiliriz?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Problem: İngilizce kelime ezberleme sıkıcı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Çözüm Fikirleri: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Oyunlaştırılmış kelime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Hikayelerle kelime öğrenme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Günlük kelime yarışması</a:t>
            </a:r>
          </a:p>
        </p:txBody>
      </p:sp>
    </p:spTree>
    <p:extLst>
      <p:ext uri="{BB962C8B-B14F-4D97-AF65-F5344CB8AC3E}">
        <p14:creationId xmlns:p14="http://schemas.microsoft.com/office/powerpoint/2010/main" val="1998528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🎨 Adım 3: Tasarım ve Kullanıcı Deneyimi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Ürünümüz nasıl görünmeli? Nasıl kullanılmalı?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İyi Tasarımın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👁️ Görsel Tasarım: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 uyumlu olmalı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Yazılar okunabilir olmalı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Görseller çekici olmalı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🖱️ Kullanılabilirlik: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Kolay anlaşılır olmalı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Hızlı öğrenilmeli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Az tıklama ile işlem yapılmalı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♿ Erişilebilirlik: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Herkes kullanabilmeli (engelliler dahil)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Farklı cihazlarda çalışmalı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Tasarım Araçları: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Kağıt-kalem (eskiz)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Canva, Figma (dijital tasarım)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PowerPoint (prototip)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Kullanıcı deneyimi = Kullanıcının ürünü kullanırken hissettiği şey</a:t>
            </a:r>
          </a:p>
        </p:txBody>
      </p:sp>
    </p:spTree>
    <p:extLst>
      <p:ext uri="{BB962C8B-B14F-4D97-AF65-F5344CB8AC3E}">
        <p14:creationId xmlns:p14="http://schemas.microsoft.com/office/powerpoint/2010/main" val="28973229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🛠️ Adım 4: Prototip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Prototip = Ürünün ilk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Prototip Çeşitleri: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📄 Kağıt Prototip (Düşük Kalite):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Kağıda çizilmiş ekranlar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Hızlı ve ucuz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İlk fikirleri test etmek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💻 Dijital Prototip (Yüksek Kalite):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Bilgisayarda tasarlanan mockup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Daha gerçekçi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PowerPoint, Canva, Figma ile yapılabilir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Prototipte Olması Gerekenler: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Ana ekranlar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Temel özellikler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Navigasyon (geçiş)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Prototip mükemmel olmak zorunda değil!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Amaç: Fikri görmek ve test etmek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Etkinlik: Kağıda mobil uygulama ekranı çizin</a:t>
            </a:r>
          </a:p>
        </p:txBody>
      </p:sp>
    </p:spTree>
    <p:extLst>
      <p:ext uri="{BB962C8B-B14F-4D97-AF65-F5344CB8AC3E}">
        <p14:creationId xmlns:p14="http://schemas.microsoft.com/office/powerpoint/2010/main" val="25596272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🧪 Adım 5: Test Etme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Prototip hazır! Şimdi test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Test Etme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👥 Kullanıcı Testleri: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Hedef kitleye prototipi gösterin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Onları kullanırken izleyin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Nerede zorlanıyorlar?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❓ Sorular Sorun: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Ürün anlaşılıyor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Kullanmak kolay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ne var?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Beğendikleri özellikler?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Gözlem Yapın: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 butona tıkladılar?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Nerede kafa karıştı?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 kadar sürede öğrendiler?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Test Sonuçları: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Not alın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Ortak sorunları belirleyin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Önceliklendirin (en önemliler önce)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Test etmeden yayınlamayın!</a:t>
            </a:r>
          </a:p>
        </p:txBody>
      </p:sp>
    </p:spTree>
    <p:extLst>
      <p:ext uri="{BB962C8B-B14F-4D97-AF65-F5344CB8AC3E}">
        <p14:creationId xmlns:p14="http://schemas.microsoft.com/office/powerpoint/2010/main" val="25425566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🔄 Adım 6: Geri Bildirim ve İyileştirme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Test sonuçlarına göre ürünü iyileştirin!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İyileştirme Süreci: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Geri Bildirimleri Topla: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Kullanıcıların yorumları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Test sırasındaki gözlemler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Sorunlar ve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Önceliklendirme: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Hangileri acil?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Hangileri önemli ama acil değil?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Hangileri ileride yapılabilir?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Değişiklikleri Uygula: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Tasarımı düzelt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özellikleri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Hataları düzelt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Tekrar Test 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İyileştirmeler işe yaradı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Bu döngü defalarca tekrarlanabilir!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Tasarım → Test → İyileştir → Tekrar Test</a:t>
            </a:r>
          </a:p>
        </p:txBody>
      </p:sp>
    </p:spTree>
    <p:extLst>
      <p:ext uri="{BB962C8B-B14F-4D97-AF65-F5344CB8AC3E}">
        <p14:creationId xmlns:p14="http://schemas.microsoft.com/office/powerpoint/2010/main" val="3509224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🚀 Adım 7: Yayınlama ve Dağıtım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Ürün hazır! Kullanıcılara nasıl ulaştırırız?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Yayınlama Platformları: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Mobil Uygulamalar: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Play Store (Android)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App Store (iOS - iPhone/iPad)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Web Uygulamaları: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sunucusuna yükleme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 (alan adı) satın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Steam, Epic Games Store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Scratch Community (basit oyunlar)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Yayınlama Öncesi Kontroller: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Tüm özellikler çalışıyor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Hatalar düzeltildi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Güvenlik kontrolleri yapıldı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Kullanım kılavuzu hazır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İlk kullanıcılara özel tanıtım yapın (lansман)!</a:t>
            </a:r>
          </a:p>
        </p:txBody>
      </p:sp>
    </p:spTree>
    <p:extLst>
      <p:ext uri="{BB962C8B-B14F-4D97-AF65-F5344CB8AC3E}">
        <p14:creationId xmlns:p14="http://schemas.microsoft.com/office/powerpoint/2010/main" val="2030237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🎮 Örnek Proje: Eğlenceli Kelime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ürün tasarım sürecini örnek ile görelim: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Problem: İngilizce kelime ezberleme sıkıcı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Çözüm Fikri: Oyunlaştırılmış kelime öğrenme uygulaması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Tasarım: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Ana ekran: Seviye seçimi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Oyun ekranı: Kelime kartları, zamanlayıcı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Renkli ve çocuk dostu 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Günlük 10 yeni kelime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Eşleştirme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Puan sistemi ve rozetler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Arkadaşlarla yarışma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Test: 20 öğrenci ile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6️⃣ Geri Bildirim: 'Kelimeler çok zor' → Seviye sistemi eklendi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7️⃣ Yayınlama: Scratch'te paylaşıldı</a:t>
            </a:r>
          </a:p>
        </p:txBody>
      </p:sp>
    </p:spTree>
    <p:extLst>
      <p:ext uri="{BB962C8B-B14F-4D97-AF65-F5344CB8AC3E}">
        <p14:creationId xmlns:p14="http://schemas.microsoft.com/office/powerpoint/2010/main" val="31881243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🗓️ Proje Planlama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Projenizi organize etmek için araçlar: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Görev Listesi (To-Do List):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Yapılacaklar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Tamamlananları işaretleme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Google Keep, Microsoft To Do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📅 Takvim ve Zaman Çizelgesi: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görev ne zaman yapılacak?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Tarih belirleme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Google Takvim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Gantt Şeması: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Görevlerin zaman çizelgesi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 görev ne zaman başlıyor/bitiyor?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Kanban Tahtası: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Yapılacak / Yapılıyor / Tamamlandı sütunları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Görevleri kartlar ile gösterme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Trello, Padlet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Basit bir kağıt kalem de yeterli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Önemli olan: Düzenli ve planlı çalışmak</a:t>
            </a:r>
          </a:p>
        </p:txBody>
      </p:sp>
    </p:spTree>
    <p:extLst>
      <p:ext uri="{BB962C8B-B14F-4D97-AF65-F5344CB8AC3E}">
        <p14:creationId xmlns:p14="http://schemas.microsoft.com/office/powerpoint/2010/main" val="808745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👥 Takım Çalışması ve 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Büyük projeler tek başına yapılmaz!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 Takımındaki Roller: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Proje Yöneticisi: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Planlamayı yapar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Görevleri dağıtır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İlerlemeyi takip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🎨 Tasarımcı: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Görsel tasarımı yapar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Kullanıcı arayüzünü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💻 Geliştirici (Programcı):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Kodu yazar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Uygulamayı geliştirir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🧪 Test Uzmanı: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Testleri yapar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Hataları bulur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📝 İçerik Üreticisi: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Metinleri yazar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Görselleri hazırlar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Küçük projelerde bir kişi birden fazla rol alabilir!</a:t>
            </a:r>
          </a:p>
        </p:txBody>
      </p:sp>
    </p:spTree>
    <p:extLst>
      <p:ext uri="{BB962C8B-B14F-4D97-AF65-F5344CB8AC3E}">
        <p14:creationId xmlns:p14="http://schemas.microsoft.com/office/powerpoint/2010/main" val="19924902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🏆 Başarılı Dijital Ürün Örnekleri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Dünyaca ünlü dijital ürünler nasıl başladı?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Instagram: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Fotoğraf paylaşım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Fotoğrafları güzel göstermek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2010'da başladı, şimdi milyarlarca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Minecraft: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Tek kişinin hobi projesi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Yaratıcı bir oyun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Dünyanın en çok satan oyunu oldu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Duolingo: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Ücretsiz dil öğrenme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Eğlenceli dil eğitimi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500 milyondan fazla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🐦 Twitter (X):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Kısa mesajlaşma platformu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Hızlı fikir paylaşımı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Hepsi küçük fikirlerle başladı ve kullanıcı ihtiyacını çözdü!</a:t>
            </a:r>
          </a:p>
        </p:txBody>
      </p:sp>
    </p:spTree>
    <p:extLst>
      <p:ext uri="{BB962C8B-B14F-4D97-AF65-F5344CB8AC3E}">
        <p14:creationId xmlns:p14="http://schemas.microsoft.com/office/powerpoint/2010/main" val="6305638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🚀 Kendi Dijital Ürününüzü Tasarlayın!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Şimdi öğrendiklerinizi uygulama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Proje Görevi: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Grup olarak basit bir dijital ürün tasarlayın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Adımlar: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1️⃣ Bir problem belirleyin (sınıfınızda, okulunuzda)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2️⃣ Çözüm fikirleri geliştirin (beyin fırtınası)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3️⃣ En iyi fikri seçin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4️⃣ Kağıt prototip çizin (en az 3 ekran)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5️⃣ Başka bir grupla test edin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6️⃣ Geri bildirime göre iyileştirin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7️⃣ Sınıfa sunun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Proje Önerileri: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Eğitici oyun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Ödev takip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Kitap öneri platformu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Okul aktivite takvimi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⏰ Süre: 2-3 hafta</a:t>
            </a:r>
          </a:p>
        </p:txBody>
      </p:sp>
    </p:spTree>
    <p:extLst>
      <p:ext uri="{BB962C8B-B14F-4D97-AF65-F5344CB8AC3E}">
        <p14:creationId xmlns:p14="http://schemas.microsoft.com/office/powerpoint/2010/main" val="25134643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 ve Proje Yönetimi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ürün nedir, örnekleri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ürün tasarım süreci: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İhtiyaç analizi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Fikir geliştirme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Tasarım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Prototip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Test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Geri bildirim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Yayınlama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Kullanıcı deneyimi ve kullanılabilirlik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 planlama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Takım çalışması ve roller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Her büyük dijital ürün küçük bir fikirle başlar.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Siz de kendi dijital ürününüzü tasarlayabilirsiniz!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küçük bir dijital ürün tasarımcısısınız!</a:t>
            </a:r>
          </a:p>
        </p:txBody>
      </p:sp>
    </p:spTree>
    <p:extLst>
      <p:ext uri="{BB962C8B-B14F-4D97-AF65-F5344CB8AC3E}">
        <p14:creationId xmlns:p14="http://schemas.microsoft.com/office/powerpoint/2010/main" val="15565535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'Proje Yönetimi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'Bir Mobil Uygulama Nasıl Yapılır?' - Scratch Türkiye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'Kullanıcı Deneyimi (UX) Nedir?' - YouTube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'Instagram'ın Hikayesi' - Belgesel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Scratch.mit.edu - Basit oyunlar tasarlayın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Canva.com - Tasarım yapın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Trello.com - Proje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Deneyebileceğiniz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Kağıt prototip çizme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Sevdiğiniz uygulamaları analiz edin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Mini bir Scratch projesi yapın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Meraklı sorularınızı sorun!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Her soru yeni bir öğrenme fırsatıdır.</a:t>
            </a:r>
          </a:p>
        </p:txBody>
      </p:sp>
    </p:spTree>
    <p:extLst>
      <p:ext uri="{BB962C8B-B14F-4D97-AF65-F5344CB8AC3E}">
        <p14:creationId xmlns:p14="http://schemas.microsoft.com/office/powerpoint/2010/main" val="2573010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Ünite 2'yi Tamamladınız - Dijital Ürün Tasarımcısı Oldunuz!</a:t>
            </a:r>
          </a:p>
        </p:txBody>
      </p:sp>
    </p:spTree>
    <p:extLst>
      <p:ext uri="{BB962C8B-B14F-4D97-AF65-F5344CB8AC3E}">
        <p14:creationId xmlns:p14="http://schemas.microsoft.com/office/powerpoint/2010/main" val="20787539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Ağlar ve İletişim</a:t>
            </a:r>
          </a:p>
        </p:txBody>
      </p:sp>
    </p:spTree>
    <p:extLst>
      <p:ext uri="{BB962C8B-B14F-4D97-AF65-F5344CB8AC3E}">
        <p14:creationId xmlns:p14="http://schemas.microsoft.com/office/powerpoint/2010/main" val="18562306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Bilgisayar Ağları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Ağ Türleri (LAN, WAN, İnternet)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İnternet Nasıl Çalışır?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IP Adresi ve Domain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İnternet Tarayıcıları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Arama Motorları ve Etkili Arama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E-posta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Çevrimiçi İletişim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İnternet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İnterneti ve ağları güvenle kullanabilmek!</a:t>
            </a:r>
          </a:p>
        </p:txBody>
      </p:sp>
    </p:spTree>
    <p:extLst>
      <p:ext uri="{BB962C8B-B14F-4D97-AF65-F5344CB8AC3E}">
        <p14:creationId xmlns:p14="http://schemas.microsoft.com/office/powerpoint/2010/main" val="1746262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🌐 Bilgisayar Ağı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Bilgisayar ağı = Birbirine bağlı bilgisayar ve cihazlar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Ağın Amacı: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 paylaşımı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Kaynak paylaşımı (yazıcı, dosya)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İletişim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Oyun oynama (çok oyunculu)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Evdeki Wi-Fi ağı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Okulun bilgisayar laboratuvarı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İnternet kafeler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oyunlar (Roblox, Fortnite)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Ağ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Dosyaları paylaşırsın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Mesajlaşırsın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 oynarsın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Video izlersin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⚡ Ağ olmadan internet de olmaz!</a:t>
            </a:r>
          </a:p>
        </p:txBody>
      </p:sp>
    </p:spTree>
    <p:extLst>
      <p:ext uri="{BB962C8B-B14F-4D97-AF65-F5344CB8AC3E}">
        <p14:creationId xmlns:p14="http://schemas.microsoft.com/office/powerpoint/2010/main" val="32620970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🏠 LAN - Yerel Alan Ağı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LAN = Local Area Network (Yerel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Küçük bir alanda çalışır (ev, okul, ofis)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Hızlı veri transferi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Kablo veya Wi-Fi ile bağlantı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LAN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🏠 Evdeki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Modem/Router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Telefon, tablet, bilgisayar, TV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Hepsi aynı Wi-Fi'ye bağlı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🏫 Okuldaki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Bilgisayar laboratuvarı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Tüm bilgisayarlar birbirine bağlı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Öğretmen dosya paylaşabilir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💼 İş yerindeki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Ofisteki tüm bilgisayarlar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Ortak yazıcı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LAN = Küçük ama hızlı ağ</a:t>
            </a:r>
          </a:p>
        </p:txBody>
      </p:sp>
    </p:spTree>
    <p:extLst>
      <p:ext uri="{BB962C8B-B14F-4D97-AF65-F5344CB8AC3E}">
        <p14:creationId xmlns:p14="http://schemas.microsoft.com/office/powerpoint/2010/main" val="11257140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🌍 WAN ve İnternet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WAN = Wide Area Network (Geniş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WAN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Çok geniş alanda çalışır (şehirler, ülkeler)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LAN'ları birbirine bağlar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 en büyük WAN'dır!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İnternet: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Dünyadaki tüm ağların birbirine bağlanması!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İnternet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Türkiye'den Amerika'ya mesaj göndeririz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Dünyanın her yerinden video izleriz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Online oyun oynarız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Alışveriş yaparız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Fark: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LAN = Evin içindeki ağ (WiFi)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WAN = Tüm dünya (İnternet)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İnternet = Ağların ağı!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Milyarlarca cihaz birbiriyle bağlı</a:t>
            </a:r>
          </a:p>
        </p:txBody>
      </p:sp>
    </p:spTree>
    <p:extLst>
      <p:ext uri="{BB962C8B-B14F-4D97-AF65-F5344CB8AC3E}">
        <p14:creationId xmlns:p14="http://schemas.microsoft.com/office/powerpoint/2010/main" val="28664270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⚙️ İnternet Nasıl Çalışır?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İnternet'e bağlanmak için neler gerekir?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İnternet Bağlantısı İçin Gerekenler: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İnternet Servis Sağlayıcı (ISP):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Türk Telekom, Superonline, Vodafone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İnterneti eve getirir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Modem/Router: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 sinyalini dağıtır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Wi-Fi oluşturur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Cihazınız: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Bilgisayar, telefon, tablet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Bağlantı Şekilleri: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Kablo (Ethernet)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Wi-Fi (Kablosuz)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Mobil veri (4.5G, 5G)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 Paketi Yolculuğu: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Bilgisayarınız → Modem → ISP → İnternet → Sunucu → Geri Dönüş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Saniyede milyonlarca veri paketi gidip geliyor!</a:t>
            </a:r>
          </a:p>
        </p:txBody>
      </p:sp>
    </p:spTree>
    <p:extLst>
      <p:ext uri="{BB962C8B-B14F-4D97-AF65-F5344CB8AC3E}">
        <p14:creationId xmlns:p14="http://schemas.microsoft.com/office/powerpoint/2010/main" val="39430220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🔢 IP Adresi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IP = Internet Protocol (İnternet Protokolü)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IP Adresi: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İnternetteki her cihazın benzersiz kimlik numarası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4 sayı grubundan oluşur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192.168.1.1 veya 172.16.254.1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cihazın IP'si farklıdır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IP Adresi Neden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doğru cihaza ulaşır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 sistemi gibi çalışır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Analoji: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IP Adresi = Ev adresiniz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Posta göndermek için adres gerekir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İnternet'te veri göndermek için IP gerekir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Kendi IP'nizi Öğrenme: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Google'da 'IP adresim nedir?' yazın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Komut İstemi: 'ipconfig' komutu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İki tür IP var: IPv4 ve IPv6 (daha yeni)</a:t>
            </a:r>
          </a:p>
        </p:txBody>
      </p:sp>
    </p:spTree>
    <p:extLst>
      <p:ext uri="{BB962C8B-B14F-4D97-AF65-F5344CB8AC3E}">
        <p14:creationId xmlns:p14="http://schemas.microsoft.com/office/powerpoint/2010/main" val="24770363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🌐 Domain (Alan Adı)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Domain = Web sitesinin kolay hatırlanan ismi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www.youtube.com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Domain vs IP: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IP: 172.217.16.142 (zor hatırlanır)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Domain: google.com (kolay hatırlanır)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Analoji: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IP Adresi = Telefon numarası (555-123-4567)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 = Kişi adı (Ahmet)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Hangi kolayca hatırlarsın?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Domain Yapısı: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www.meb.gov.tr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meb = site adı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gov = hükümet sitesi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 = Türkiye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Domain Uzantıları: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.com = ticari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.org = organizasyon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.edu = eğitim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.gov = hükümet</a:t>
            </a:r>
          </a:p>
        </p:txBody>
      </p:sp>
    </p:spTree>
    <p:extLst>
      <p:ext uri="{BB962C8B-B14F-4D97-AF65-F5344CB8AC3E}">
        <p14:creationId xmlns:p14="http://schemas.microsoft.com/office/powerpoint/2010/main" val="9861986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🌐 İnternet Tarayıcıları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Tarayıcı = İnternet'te gezinmek için kullanılan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Tarayıcılar: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Chrome 🔵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Microsoft Edge 🔷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Mozilla Firefox 🦊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Safari 🧭 (Apple cihazlar)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Opera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Tarayıcılar Ne İşe Yarar?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sitelerini açar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Videoları oynatır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 indirir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Favorilere site ekler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Gezinme geçmişini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Tarayıcı Bölümleri: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 çubuğu (URL yazılır)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Geri/İleri butonları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Yenile butonu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Sekmeler (Tab)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Favoriler/Yer 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Güvenli tarayıcı kullanın, güncellemeleri yapın!</a:t>
            </a:r>
          </a:p>
        </p:txBody>
      </p:sp>
    </p:spTree>
    <p:extLst>
      <p:ext uri="{BB962C8B-B14F-4D97-AF65-F5344CB8AC3E}">
        <p14:creationId xmlns:p14="http://schemas.microsoft.com/office/powerpoint/2010/main" val="10654729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🔍 Arama Motorları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Arama motoru = İnternet'te bilgi bulan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Arama Motorları: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🔍 (En popüler)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Bing (Microsoft)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Yandex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DuckDuckGo (Gizlilik odaklı)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Arama Motoru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Milyarlarca web sayfasını tarar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İçerikleri indexler (kataloglar)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yaptığında en uygun sonuçları gösterir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Etkili Arama İpuçları: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Doğru Kelimeler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Kısa ve net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'Ankara'nın başkenti' yerine 'Ankara başkent'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Tırnak İşareti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"Atatürk'ün hayatı" → Tam cümleyi arar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Eksi İşareti: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Elma -telefon → Elma kelimesini arar, telefon kelimesini hariç tutar</a:t>
            </a:r>
          </a:p>
        </p:txBody>
      </p:sp>
    </p:spTree>
    <p:extLst>
      <p:ext uri="{BB962C8B-B14F-4D97-AF65-F5344CB8AC3E}">
        <p14:creationId xmlns:p14="http://schemas.microsoft.com/office/powerpoint/2010/main" val="5513661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✅ Güvenilir Kaynak Nasıl Bulunur?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İnternet'te her şey doğru değildir!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Güvenilir Kaynak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🔒 Güvenilir Domain: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.edu (eğitim kurumları)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.gov (hükümet siteleri)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.org (organizasyonlar)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📝 Yazar Bilgisi: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Kim yazmış?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Uzman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📅 Güncel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Ne zaman yazılmış?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Eski bilgiler yanlış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Kaynak Göstermiş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Bilgilerin kaynağı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Karşılaştır: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Birden fazla kaynağa bak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Aynı bilgiyi veren birkaç site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⚠️ Dikkat: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Wikipedia iyi başlangıç ama tek kaynak olmamalı!</a:t>
            </a:r>
          </a:p>
        </p:txBody>
      </p:sp>
    </p:spTree>
    <p:extLst>
      <p:ext uri="{BB962C8B-B14F-4D97-AF65-F5344CB8AC3E}">
        <p14:creationId xmlns:p14="http://schemas.microsoft.com/office/powerpoint/2010/main" val="4081782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📧 E-posta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E-posta = Elektronik Posta (Email)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E-posta Sağlayıcıları: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 (Google)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Outlook (Microsoft)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Yandex Mail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E-posta Adresi Yapısı: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kullaniciadi@gmail.com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kullaniciadi = Sizin seçtiğiniz isim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@ = 'at' işareti (zorunlu)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gmail.com = E-posta sağlayıcı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E-posta Gönderme: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Alıcı: Kime gönderilecek?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Konu: Ne hakkında?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Mesaj: İçerik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Ek: Dosya eklenebilir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E-posta Etiği: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Kibarca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Konuyu belirt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İmza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Spam yapma (gereksiz mail gönderme)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CC ve BCC: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CC = Carbon Copy (Kopya gönder)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BCC = Blind Carbon Copy (Gizli kopya)</a:t>
            </a:r>
          </a:p>
        </p:txBody>
      </p:sp>
    </p:spTree>
    <p:extLst>
      <p:ext uri="{BB962C8B-B14F-4D97-AF65-F5344CB8AC3E}">
        <p14:creationId xmlns:p14="http://schemas.microsoft.com/office/powerpoint/2010/main" val="6734821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💬 Çevrimiçi İletişim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 üzerinden iletişim kurma yolları: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Anlık Mesajlaşma: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WhatsApp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Telegram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Messenger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🎥 Görüntülü Görüşme: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Zoom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Google Meet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Microsoft Teams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Skype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📱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Instagram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Twitter (X)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TikTok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(13 yaş sınırı var!)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🎮 Oyun İçi Sohbet: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Roblox, Minecraft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Çevrimiçi İletişim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Kişisel bilgi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Tanımadığın kişilerle konuşma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Siber zorbalık yapma</a:t>
            </a:r>
          </a:p>
        </p:txBody>
      </p:sp>
    </p:spTree>
    <p:extLst>
      <p:ext uri="{BB962C8B-B14F-4D97-AF65-F5344CB8AC3E}">
        <p14:creationId xmlns:p14="http://schemas.microsoft.com/office/powerpoint/2010/main" val="28779694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🔒 İnternet Güvenliği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İnternet'i güvenle kullanmak çok önemli!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Güvenlik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🔐 Güçlü Şifre: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az 8 karakter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Büyük harf, küçük harf, rakam, sembol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 kullanma!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🙈 Kişisel Bilgileri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Adres, telefon, okul bilgilerini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 paylaşırken dikkatli ol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👤 Tanımadığın Kişilerle: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Buluşma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 verme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Ebeveynlerine haber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🔗 Şüpheli Linkler: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Bilmediğin linklere tıklama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eklerini açmadan önce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💰 Online Alışveriş: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 siteler (https://)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 izni al</a:t>
            </a:r>
          </a:p>
        </p:txBody>
      </p:sp>
    </p:spTree>
    <p:extLst>
      <p:ext uri="{BB962C8B-B14F-4D97-AF65-F5344CB8AC3E}">
        <p14:creationId xmlns:p14="http://schemas.microsoft.com/office/powerpoint/2010/main" val="9049245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🚫 Siber Zorbalık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Siber zorbalık = İnternet üzerinden yapılan zorbalık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Siber Zorbalık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Sosyal medyada kötü yorum yapma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Utandırıcı fotoğraf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Tehdit mesajları gönderme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 taklit edip kötü davranma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Kasıtlı olarak dışlama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❌ Siber Zorbalığa Hayır!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Siber Zorbalığa Uğrarsan: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Cevap verme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Kanıt sakla (ekran görüntüsü)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Engelle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Ebeveynlerine veya öğretmenine söyle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Gerekirse şikayet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Sen de Yapmamak İçin: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Kızdığında mesaj atma, bekle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 hakkında kötü şey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Empati yap: Karşındaki nasıl hisseder?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⚡ İnternet'te de gerçek hayat gibi davran!</a:t>
            </a:r>
          </a:p>
        </p:txBody>
      </p:sp>
    </p:spTree>
    <p:extLst>
      <p:ext uri="{BB962C8B-B14F-4D97-AF65-F5344CB8AC3E}">
        <p14:creationId xmlns:p14="http://schemas.microsoft.com/office/powerpoint/2010/main" val="14024649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©️ İnternet'te Telif Hakları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İnternet'teki her şey ücretsiz kullanılabilir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❌ HAYIR! Telif hakları internette de geçerli.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Telif Hakkı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Bir eserin yaratıcısının hakkı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Müzik, video, fotoğraf, yazı, yazılım...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📌 İnternet'te Telif İhlalleri: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Başkasının fotoğrafını izinsiz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Müziği indirip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Filmleri korsan izleme/indirme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Başkasının yazısını kopyalayıp kendi adına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Doğru Kullanım: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Kaynak göster (nereden aldığını yaz)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Serbest lisanslı içerikler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İzin 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🔍 Serbest İçerik Kaynakları: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Creative Commons lisanslı görseller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Pixabay, Unsplash (ücretsiz fotoğraflar)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İnternet'ten aldıysan kaynağını göster!</a:t>
            </a:r>
          </a:p>
        </p:txBody>
      </p:sp>
    </p:spTree>
    <p:extLst>
      <p:ext uri="{BB962C8B-B14F-4D97-AF65-F5344CB8AC3E}">
        <p14:creationId xmlns:p14="http://schemas.microsoft.com/office/powerpoint/2010/main" val="4398237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⏰ Dengeli İnternet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 faydalıdır ama dengeli kullanılmalı!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Sağlıklı İnternet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Süre Sınırı: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5. sınıf için önerilen: Günde 1-2 saat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Sık sık mola ver (20-20-20 kuralı)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🛌 Uyku Öncelikli: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Yatmadan önce ekran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Telefon/tableti yatak odasında bırakma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👨‍👩‍👧 Aile Zamanı: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Yemekte telefon yok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Aile ile vakit geçir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🏃 Fiziksel Aktivite: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Dışarı çık, spor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Arkadaşlarla yüz yüze oyna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Ödev ve Okul: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Önce ödevler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Eğitsel içerikler 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20-20-20 Kuralı: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Her 20 dakikada, 20 saniye, 20 feet (6 metre) uzağa bak</a:t>
            </a:r>
          </a:p>
        </p:txBody>
      </p:sp>
    </p:spTree>
    <p:extLst>
      <p:ext uri="{BB962C8B-B14F-4D97-AF65-F5344CB8AC3E}">
        <p14:creationId xmlns:p14="http://schemas.microsoft.com/office/powerpoint/2010/main" val="35727359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Bilgisayar ağları (LAN, WAN)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nasıl çalışır?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IP adresi ve Domain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tarayıcıları ve arama motorları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Etkili arama teknikleri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Güvenilir kaynak bulma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E-posta kullanımı ve etiği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Çevrimiçi iletişim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güvenliği kuralları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Siber zorbalık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Telif hakları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Dengeli internet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 harika bir araç ama güvenli ve dengeli kullanmalısın!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bilinçli bir dijital vatandaşsın!</a:t>
            </a:r>
          </a:p>
        </p:txBody>
      </p:sp>
    </p:spTree>
    <p:extLst>
      <p:ext uri="{BB962C8B-B14F-4D97-AF65-F5344CB8AC3E}">
        <p14:creationId xmlns:p14="http://schemas.microsoft.com/office/powerpoint/2010/main" val="1485410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 Nasıl Çalışır?'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'IP Adresi Nedir?' - Animasyonlu anlatım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'Güvenli İnternet Kullanımı' - MEB videoları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Zorbalığa Hayır' - Kısa film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https://internetguvenlik.org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Eğitici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 Güvenliği Kahramanları'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Yapılacak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oluşturma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motoru kullanım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yazma pratiği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Güvenli internette buluşalım!</a:t>
            </a:r>
          </a:p>
        </p:txBody>
      </p:sp>
    </p:spTree>
    <p:extLst>
      <p:ext uri="{BB962C8B-B14F-4D97-AF65-F5344CB8AC3E}">
        <p14:creationId xmlns:p14="http://schemas.microsoft.com/office/powerpoint/2010/main" val="18137688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Ünite 3'ü Tamamladınız - Artık İnternet Uzmanısınız!</a:t>
            </a:r>
          </a:p>
        </p:txBody>
      </p:sp>
    </p:spTree>
    <p:extLst>
      <p:ext uri="{BB962C8B-B14F-4D97-AF65-F5344CB8AC3E}">
        <p14:creationId xmlns:p14="http://schemas.microsoft.com/office/powerpoint/2010/main" val="17945856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Etik ve Güvenlik</a:t>
            </a:r>
          </a:p>
        </p:txBody>
      </p:sp>
    </p:spTree>
    <p:extLst>
      <p:ext uri="{BB962C8B-B14F-4D97-AF65-F5344CB8AC3E}">
        <p14:creationId xmlns:p14="http://schemas.microsoft.com/office/powerpoint/2010/main" val="2084788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Dijital Etik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Dijital Ayak İzi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Gizlilik ve Mahremiyet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Kişisel Veri Güvenliği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Güçlü Şifre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Siber Güvenlik Tehditleri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Phishing (Oltalama) Saldırıları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Zararlı Yazılımlar (Virüs, Malware)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Sosyal Mühendislik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Güvenli Dijital Vatandaşlık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2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Dijital dünyada etik ve güvenli davranmak!</a:t>
            </a:r>
          </a:p>
        </p:txBody>
      </p:sp>
    </p:spTree>
    <p:extLst>
      <p:ext uri="{BB962C8B-B14F-4D97-AF65-F5344CB8AC3E}">
        <p14:creationId xmlns:p14="http://schemas.microsoft.com/office/powerpoint/2010/main" val="8319777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⚖️ Dijital Etik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Etik = Doğru ve yanlış davranışlar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Etik = Dijital dünyada doğru davranışlar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Dijital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🤝 Saygı: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Başkalarına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Kötü yorum yapma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Nefret söylemi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Dürüstlük: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Yalan bilgi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Başkasının eserini çalma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Kaynak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Başkasının özel bilgilerini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İzinsiz fotoğraf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Paylaştıklarından sorumlusun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'İnternet'te dedim' mazeret değil!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Gerçek hayatta nasıl davranıyorsan, dijital dünyada da öyle davran!</a:t>
            </a:r>
          </a:p>
        </p:txBody>
      </p:sp>
    </p:spTree>
    <p:extLst>
      <p:ext uri="{BB962C8B-B14F-4D97-AF65-F5344CB8AC3E}">
        <p14:creationId xmlns:p14="http://schemas.microsoft.com/office/powerpoint/2010/main" val="2156834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👣 Dijital Ayak İzi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ayak izi = İnternet'te bıraktığın izler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Dijital Ayak İzi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Sosyal medya paylaşımları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Yorum yaptığın siteler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Beğendiğin videolar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geçmişin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Online oyunlardaki mesajların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İki Tür Dijital Ayak İzi: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Aktif (Bilinçli):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Sen paylaşıyorsun (fotoğraf, yorum)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Pasif (Otomatik):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siteleri kaydediyor (çerezler, 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Tehlikeler: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ayak izin silinmez!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Gelecekte sana zarar verebilir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Üniversite, iş başvurusu yapınca bakabilirler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Paylaşmadan önce düşün: 'Bunu 10 yıl sonra görmek ister miyim?'</a:t>
            </a:r>
          </a:p>
        </p:txBody>
      </p:sp>
    </p:spTree>
    <p:extLst>
      <p:ext uri="{BB962C8B-B14F-4D97-AF65-F5344CB8AC3E}">
        <p14:creationId xmlns:p14="http://schemas.microsoft.com/office/powerpoint/2010/main" val="27970687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🔐 Gizlilik ve Mahremiyet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Gizlilik = Kişisel bilgilerini koruma hakkın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Kişisel Bilgiler (ASLA Paylaşma!):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Tam adın, soyadın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 numaran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Okul 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Fotoğraflarında konum bilgisi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Gizlilik Ayarları: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Hesabını 'gizli'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arkadaşların görsün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Konum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Telefon/Tablet: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Kilit ekranı koy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Parmak izi/yüz tanıma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Unutma: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 sana özeldir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 sormaya hakkı yoktur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'Bilmiyorum' deme hakkın var</a:t>
            </a:r>
          </a:p>
        </p:txBody>
      </p:sp>
    </p:spTree>
    <p:extLst>
      <p:ext uri="{BB962C8B-B14F-4D97-AF65-F5344CB8AC3E}">
        <p14:creationId xmlns:p14="http://schemas.microsoft.com/office/powerpoint/2010/main" val="5390861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🔑 Güçlü Şifre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Şifre = Dijital kapının anahtarı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Güçlü Şifre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📏 Uzunluk: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En az 8 karakter (12+ daha iyi)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🔤 Çeşitlilik: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Büyük harf: A, B, C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Küçük harf: a, b, c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Rakam: 1, 2, 3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Sembol: !, @, #, $, %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Örnek Güçlü Şifre: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K1rm1z1Elma!2024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Ben5Y@s1ndayim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❌ Zayıf Şifre Örnekleri (KULLANMA!):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12345678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adınsoyadın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dogumtarihin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sifre123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Şifre Oluşturma Yöntemi: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Cümle yap → İlk harflerini al → Rakam/sembol ekle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'Benim 2 tane kedim var' → B2tkv! → B2tkv!2024</a:t>
            </a:r>
          </a:p>
        </p:txBody>
      </p:sp>
    </p:spTree>
    <p:extLst>
      <p:ext uri="{BB962C8B-B14F-4D97-AF65-F5344CB8AC3E}">
        <p14:creationId xmlns:p14="http://schemas.microsoft.com/office/powerpoint/2010/main" val="41847182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🔐 Şifre Güvenliği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Güçlü şifre oluşturdun, şimdi onu koru!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Şifre Güvenliği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ASLA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Arkadaşınla bile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Öğretmen asla şifreni sormaz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Telefonda/mesajda şifre gönderme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Farklı Şifreler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hesap için farklı şifre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 şifre çalınırsa diğerleri güvende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Şifreyi Kaydet: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Unutacaksan güvenli yere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Ebeveynin bilsin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Düzenli Değiştir: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3-6 ayda bir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Şüphe Duyarsan: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Hemen değiştir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Hesabını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Şifre = Ev anahtarın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Kimseye vermezsin, değil mi?</a:t>
            </a:r>
          </a:p>
        </p:txBody>
      </p:sp>
    </p:spTree>
    <p:extLst>
      <p:ext uri="{BB962C8B-B14F-4D97-AF65-F5344CB8AC3E}">
        <p14:creationId xmlns:p14="http://schemas.microsoft.com/office/powerpoint/2010/main" val="32758610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🎣 Phishing (Oltalama) Saldırıları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Phishing = Dijital dolandırıcılık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Seni kandırıp bilgilerini çalmaya çalışırlar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Phishing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📧 E-posta Phishing: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'Hesabın kapatılacak, şifreni gir!' mesajları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'Hediye kazandın!' yalanları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💬 SMS Phishing (Smishing):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'Banka hesabın kilitlendi' SMS'i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📱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Sahte hesaplar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'Arkadaşından mesaj' gibi görünme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📌 Phishing Nasıl Anlaşılır?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Acele ettiriyor ('Hemen tıkla!')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Kişisel bilgi istiyor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E-posta adresi garip (goog1e.com gibi)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Yazım hataları çok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Link tıklandığında farklı site açılıyor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Şüphe duyarsan: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Tıklama!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Ebeveynine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Direkt sil</a:t>
            </a:r>
          </a:p>
        </p:txBody>
      </p:sp>
    </p:spTree>
    <p:extLst>
      <p:ext uri="{BB962C8B-B14F-4D97-AF65-F5344CB8AC3E}">
        <p14:creationId xmlns:p14="http://schemas.microsoft.com/office/powerpoint/2010/main" val="360754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🦠 Zararlı Yazılımlar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Zararlı yazılım = Bilgisayara/telefona zarar veren programlar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Zararlı Yazılım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🦠 Virüs: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Kendini kopyalar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Dosyalara bulaşır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Sistem yavaşlar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🐴 Truva Atı (Trojan):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Masum görünür (oyun, program)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Aslında zararlı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Fidye Yazılımı (Ransomware):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Dosyalarını kilitler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Para ister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🕵️ Casus Yazılım (Spyware):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Yaptıklarını izler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 çalar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Bulaşma Yolları: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Bilinmeyen sitelerdeki indirmeler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ekleri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Korsan programlar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USB bellekler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Korunma: Antivirüs programı kullan!</a:t>
            </a:r>
          </a:p>
        </p:txBody>
      </p:sp>
    </p:spTree>
    <p:extLst>
      <p:ext uri="{BB962C8B-B14F-4D97-AF65-F5344CB8AC3E}">
        <p14:creationId xmlns:p14="http://schemas.microsoft.com/office/powerpoint/2010/main" val="10870162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🛡️ Zararlı Yazılımlardan Korunma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Nasıl korunuruz?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Korunma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🛡️ Antivirüs Programı: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Windows Defender (yerleşik)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Avast, AVG, Kaspersky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Düzenli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Güncellemeleri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İşletim sistemini güncelle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Programları güncelle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Güvenlik yamaları önemli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⬇️ Dikkatli İndir: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güvenilir sitelerden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Korsan program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İndirmeden önce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📎 E-posta 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Tanımadığın kişiden ek açma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Şüpheli ekleri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💾 Yedekleme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Önemli dosyaları yedekle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Cloud (bulut) veya USB'ye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En iyi koruma = Dikkatli olmak!</a:t>
            </a:r>
          </a:p>
        </p:txBody>
      </p:sp>
    </p:spTree>
    <p:extLst>
      <p:ext uri="{BB962C8B-B14F-4D97-AF65-F5344CB8AC3E}">
        <p14:creationId xmlns:p14="http://schemas.microsoft.com/office/powerpoint/2010/main" val="18864473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🎭 Sosyal Mühendislik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Sosyal mühendislik = İnsanları kandırma sanatı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Teknik değil, psikolojik saldırı!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Sosyal Mühendislik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📞 Telefon Dolandırıcılığı: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'Bankadan arıyorum' yalanı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'Kart bilgilerinizi söyleyin'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🎁 Sahte Hediye: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'Bedava telefon kazandın!'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'Bu anketi doldur, ödül kazan'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👤 Kimliğe Bürünme: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Arkadaşın gibi davranma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'Ben öğretmenim, şifreni ver'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😱 Korku: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'Hesabın kapatılacak!'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'Virüs var, hemen tıkla!'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Korunma: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Acele kararlar alma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Doğrula (arayıp sor)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Şüphe duy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'Hayır' deme hakkın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İyi niyetli görünen kötü niyetli olabilir!</a:t>
            </a:r>
          </a:p>
        </p:txBody>
      </p:sp>
    </p:spTree>
    <p:extLst>
      <p:ext uri="{BB962C8B-B14F-4D97-AF65-F5344CB8AC3E}">
        <p14:creationId xmlns:p14="http://schemas.microsoft.com/office/powerpoint/2010/main" val="62638389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🌟 Güvenli Dijital Vatandaş Ol!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vatandaşlık = Dijital dünyada sorumlu davranmak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Güvenli Dijital Vatandaş: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🤝 Saygılı: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Başkalarına saygı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Zorbalık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Dürüst: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Telif haklarına uy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 bilgi paylaş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Güvenli: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bilgilerini koru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Bilinçli: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Eleştirel düşün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Doğrula, araştır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Paylaştıklarından sorumlu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Dengeli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Dijital Vatandaşlık Yemini: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'Ben dijital dünyada saygılı, dürüst, güvenli,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bilinçli ve sorumlu davranacağıma söz veriyorum!'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İmzala ve uygula!</a:t>
            </a:r>
          </a:p>
        </p:txBody>
      </p:sp>
    </p:spTree>
    <p:extLst>
      <p:ext uri="{BB962C8B-B14F-4D97-AF65-F5344CB8AC3E}">
        <p14:creationId xmlns:p14="http://schemas.microsoft.com/office/powerpoint/2010/main" val="11084559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📱 İki Faktörlü Doğrulama (2FA)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2FA = İki kademeli güvenlik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Adım 1: Şifre gir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Adım 2: Kod gir (SMS veya uygulama)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Gmail'e giriş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Şifreni gir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Telefonuna kod gelir (örn: 123456)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Kodu gir → Giriş başarılı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Neden Kullanmalısın?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Şifren çalınsa bile girişi engelliyor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Çok daha güvenli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Bildirim alırsın (biri girmeye çalışırsa)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2FA Nereden Açılır?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hesabı → Güvenlik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Instagram → Ayarlar → Güvenlik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Çoğu uygulamada 'Güvenlik' bölümünde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Mutlaka 2FA'yı aç!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Şifren = Kilit, 2FA = Alarm sistemi</a:t>
            </a:r>
          </a:p>
        </p:txBody>
      </p:sp>
    </p:spTree>
    <p:extLst>
      <p:ext uri="{BB962C8B-B14F-4D97-AF65-F5344CB8AC3E}">
        <p14:creationId xmlns:p14="http://schemas.microsoft.com/office/powerpoint/2010/main" val="26913037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etik ve dijital ayak izi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Gizlilik ve mahremiyet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Kişisel veri güvenliği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Güçlü şifre oluşturma ve koruma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Phishing (oltalama) saldırıları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Zararlı yazılımlar ve korunma yöntemleri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Sosyal mühendislik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Güvenli dijital vatandaşlık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İki faktörlü doğrulama (2FA)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Dijital dünyada da gerçek hayat gibi etik,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güvenli ve sorumlu davranmalısın!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güvenli bir dijital vatandaşsın!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🔐 Kendini ve başkalarını koru!</a:t>
            </a:r>
          </a:p>
        </p:txBody>
      </p:sp>
    </p:spTree>
    <p:extLst>
      <p:ext uri="{BB962C8B-B14F-4D97-AF65-F5344CB8AC3E}">
        <p14:creationId xmlns:p14="http://schemas.microsoft.com/office/powerpoint/2010/main" val="15936466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'Dijital Vatandaşlık' - MEB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'Güçlü Şifre Nasıl Oluşturulur?'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'Phishing Saldırıları' - Animasyon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Güvenlik İpuçları'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https://internetguvenlik.org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https://guvenliinternet.meb.gov.tr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Güvenlik Kahramanları'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'Şifre Gücü Test Oyunu'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Phishing e-postası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vatandaşlık posteri hazırlama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Güvenli dijital dünyada buluşalım!</a:t>
            </a:r>
          </a:p>
        </p:txBody>
      </p:sp>
    </p:spTree>
    <p:extLst>
      <p:ext uri="{BB962C8B-B14F-4D97-AF65-F5344CB8AC3E}">
        <p14:creationId xmlns:p14="http://schemas.microsoft.com/office/powerpoint/2010/main" val="1660660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Ünite 4'ü Tamamladınız - Güvenli Dijital Vatandaşsınız!</a:t>
            </a:r>
          </a:p>
        </p:txBody>
      </p:sp>
    </p:spTree>
    <p:extLst>
      <p:ext uri="{BB962C8B-B14F-4D97-AF65-F5344CB8AC3E}">
        <p14:creationId xmlns:p14="http://schemas.microsoft.com/office/powerpoint/2010/main" val="4063775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Yapay Zeka</a:t>
            </a:r>
          </a:p>
        </p:txBody>
      </p:sp>
    </p:spTree>
    <p:extLst>
      <p:ext uri="{BB962C8B-B14F-4D97-AF65-F5344CB8AC3E}">
        <p14:creationId xmlns:p14="http://schemas.microsoft.com/office/powerpoint/2010/main" val="382899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Yapay Zeka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Yapay Zekanın Tarihçesi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Makine Öğrenmesi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Derin Öğrenme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Yapay Zeka Günlük Hayatta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Sesli Asistanlar (Siri, Alexa, Google Asistan)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Görüntü Tanıma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Öneri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Oyunlarda Yapay Zeka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Yapay Zekanın Etik Sorunları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11. Geleceğin Meslekleri ve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Yapay zekayı anlamak ve kullanmak!</a:t>
            </a:r>
          </a:p>
        </p:txBody>
      </p:sp>
    </p:spTree>
    <p:extLst>
      <p:ext uri="{BB962C8B-B14F-4D97-AF65-F5344CB8AC3E}">
        <p14:creationId xmlns:p14="http://schemas.microsoft.com/office/powerpoint/2010/main" val="298719717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🤖 Yapay Zeka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Yapay Zeka (AI - Artificial Intelligence)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= Makinelerin insan gibi düşünmesi ve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Yapay Zekanın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Öğrenir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Problem çözer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Karar verir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İnsan Zekası vs Yapay Zeka: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🧠 İnsan Zekası: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Duygular hisseder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Yaratıcı düşünür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Sosyal etkileşim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Genel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🤖 Yapay Zeka: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Duyguları yoktur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Veri analiz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Belirli görevlerde uzman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Dar (spesifik)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Yapay zeka insan zekasını taklit etmeye çalışır ama aynısı değildir!</a:t>
            </a:r>
          </a:p>
        </p:txBody>
      </p:sp>
    </p:spTree>
    <p:extLst>
      <p:ext uri="{BB962C8B-B14F-4D97-AF65-F5344CB8AC3E}">
        <p14:creationId xmlns:p14="http://schemas.microsoft.com/office/powerpoint/2010/main" val="408935759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📜 Yapay Zekanın Tarihçesi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Yapay zeka fikri çok eski!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Önemli Tarihler: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1950 📝 Alan Turing: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'Makineler düşünebilir mi?' sorusu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Turing Testi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1956 🎯 'Yapay Zeka' terimi: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Dartmouth Konferansı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İlk AI programları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1997 ♟️ Deep Blue: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IBM'in satranç bilgisayarı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2011 🎤 Siri: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İlk popüler sesli asistan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2016 🎮 AlphaGo: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Go oyununda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2022 🎨 ChatGPT, DALL-E: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 ve görsel üreten AI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Yapay zeka son 10 yılda çok hızlı gelişti!</a:t>
            </a:r>
          </a:p>
        </p:txBody>
      </p:sp>
    </p:spTree>
    <p:extLst>
      <p:ext uri="{BB962C8B-B14F-4D97-AF65-F5344CB8AC3E}">
        <p14:creationId xmlns:p14="http://schemas.microsoft.com/office/powerpoint/2010/main" val="7480238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📊 Makine Öğrenmesi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Makine Öğrenmesi = Makinelerin deneyimlerden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Veri Topla: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Binlerce örnek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Öğren: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Örneklerdeki kalıpları bul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Tahmin 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Yeni örneklerde karar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 Kedi-Köpek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Binlerce kedi ve köpek fotoğrafı göster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AI kalıpları öğrenir: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Kulak şekli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Burun yapısı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Vücut ölçüleri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Yeni fotoğraf göster → AI tanır: 'Bu bir kedi!'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Ne kadar çok veri, o kadar iyi öğrenir!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Analoji: Sen de böyle öğrenirsin!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Bir kez elma gördün → Hepsini tanırsın</a:t>
            </a:r>
          </a:p>
        </p:txBody>
      </p:sp>
    </p:spTree>
    <p:extLst>
      <p:ext uri="{BB962C8B-B14F-4D97-AF65-F5344CB8AC3E}">
        <p14:creationId xmlns:p14="http://schemas.microsoft.com/office/powerpoint/2010/main" val="344213739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🧠 Derin Öğrenme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Derin Öğrenme = Makine öğrenmesinin ileri seviyesi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sinir ağları kullanır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Sinir Ağı: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İnsan beynini taklit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🧠 İnsan Beyni: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Milyarlarca sinir hücresi (nöron)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Birbirine bağlı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 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Yapay Sinir Ağı: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nöronlar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Katmanlar halinde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Karmaşık kalıpları öğrenir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Derin Öğrenme Kullanım Alanları: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 tanıma (telefon kilidi)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 tanıma (Siri)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Otomatik çeviri (Google Translate)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Görüntü oluşturma (AI sanat)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'Derin' kelimesi: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Çok katmanlı yapay sinir ağlarından gelir</a:t>
            </a:r>
          </a:p>
        </p:txBody>
      </p:sp>
    </p:spTree>
    <p:extLst>
      <p:ext uri="{BB962C8B-B14F-4D97-AF65-F5344CB8AC3E}">
        <p14:creationId xmlns:p14="http://schemas.microsoft.com/office/powerpoint/2010/main" val="389470295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🎤 Sesli Asistanlar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Sesli asistan = Sesinizi anlayan ve yanıt veren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Sesli Asistanlar: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Siri (Apple) 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Asistan (Google) 🔍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Alexa (Amazon) 🔊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Cortana (Microsoft) 💻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Ne Yapabilirler?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cevapla ('Hava nasıl?')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Alarm kur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Müzik çal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Hesaplama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Akıllı ev kontrolü (ışıklar, klima)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⚙️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Ses Tanıma: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Sesini metne çevirir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Doğal Dil İşleme: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Cümleyi anlar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İşlem: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Cevap bulur veya görev yapar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Yanıt: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Sesli veya ekranda gösterir</a:t>
            </a:r>
          </a:p>
        </p:txBody>
      </p:sp>
    </p:spTree>
    <p:extLst>
      <p:ext uri="{BB962C8B-B14F-4D97-AF65-F5344CB8AC3E}">
        <p14:creationId xmlns:p14="http://schemas.microsoft.com/office/powerpoint/2010/main" val="118904309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👁️ Görüntü Tanıma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Görüntü tanıma = AI'nın fotoğraflarda/videolarda nesneleri görmesi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Günlük Hayatta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Telefon Kilit Açma: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 tanıma (Face ID)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Parmak 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📷 Fotoğraf Düzenleme: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Photos: 'kedi' ara → tüm kedi fotoğrafları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Instagram filtreleri (yüzü bulur)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Yayaları tanır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işaretlerini okur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🏥 Tıp: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X-ray'de hastalık tespiti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Güvenlik: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Havalimanlarında yüz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Milyonlarca fotoğraf ile eğitilir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Pikselleri analiz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Kalıpları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Nesneyi tanır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AI artık bazı şeyleri insandan daha iyi görüyor!</a:t>
            </a:r>
          </a:p>
        </p:txBody>
      </p:sp>
    </p:spTree>
    <p:extLst>
      <p:ext uri="{BB962C8B-B14F-4D97-AF65-F5344CB8AC3E}">
        <p14:creationId xmlns:p14="http://schemas.microsoft.com/office/powerpoint/2010/main" val="3418753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🎬 Öneri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Öneri sistemi = Senin için kişiselleştirilmiş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Nerede Kullanılıyor?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📺 YouTube: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'Sana özel videolar'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İzlediklerine göre öneri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🎵 Spotify: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'Keşfet' çalma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Dinlediğin müziğe benzer şarkılar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🛒 Amazon/Trendyol: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'Bunları da beğenebilirsin'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Netflix: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Film/dizi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Instagram/TikTok: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'Keşfet' sayfası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⚙️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İzlediklerini, beğendiklerini kaydeder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kullanıcıları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Onların beğendiklerini sana önerir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Hem yararlı hem tehlikeli: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İstediğin içeriği bulursun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'Filtre balonu' - Sadece benzer şeyler görürsün</a:t>
            </a:r>
          </a:p>
        </p:txBody>
      </p:sp>
    </p:spTree>
    <p:extLst>
      <p:ext uri="{BB962C8B-B14F-4D97-AF65-F5344CB8AC3E}">
        <p14:creationId xmlns:p14="http://schemas.microsoft.com/office/powerpoint/2010/main" val="315920941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🎮 Oyunlarda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Oyunlarda AI = Rakip karakterlerin zeki davranması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Oyun AI'sı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NPC (Non-Player Character):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Düşmanlar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Takım arkadaşları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Köylüler, karakterler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AI Ne Yapar?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Seni takip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Stratejik kararlar verir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Engelleri aşar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Zorluğa göre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Popüler Örnekler: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♟️ Satranç/Dama: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Birkaç hamle önceden düşünür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🧟 Minecraft Mob'ları: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Zombie seni bulur ve kovalar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Creeper yaklaşır ve patlar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🏎️ Yarış Oyunları: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Rakip arabalar akıllıca yarışır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Oyun AI'sı ne kadar iyi olursa, oyun o kadar eğlenceli!</a:t>
            </a:r>
          </a:p>
        </p:txBody>
      </p:sp>
    </p:spTree>
    <p:extLst>
      <p:ext uri="{BB962C8B-B14F-4D97-AF65-F5344CB8AC3E}">
        <p14:creationId xmlns:p14="http://schemas.microsoft.com/office/powerpoint/2010/main" val="24778094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🎨 Yaratıcı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AI artık sadece hesap yapmıyor, sanat da üretiyor!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Yaratıcı AI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🎨 Görsel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DALL-E, Midjourney, Stable Diffusion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Metin yazarsın → Resim oluşturur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'Uzayda yüzen kedi' → AI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✍️ Metin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ChatGPT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Hikaye yazar, şiir oluşturur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cevaplar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🎵 Müzik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besteler yapabilir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Suno, AIVA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🎬 Video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Kısa videolar oluşturabilir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Prompt (komut) yazarsın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üretir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Beğenmezsen tekrar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Etik Soru: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AI'nın ürettiği sanat, gerçek sanat mıdır?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Kim sahibidir?</a:t>
            </a:r>
          </a:p>
        </p:txBody>
      </p:sp>
    </p:spTree>
    <p:extLst>
      <p:ext uri="{BB962C8B-B14F-4D97-AF65-F5344CB8AC3E}">
        <p14:creationId xmlns:p14="http://schemas.microsoft.com/office/powerpoint/2010/main" val="34039893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⚖️ Yapay Zekanın Etik Sorunları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güçlü bir araç ama bazı sorunları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Etik Sorunlar: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🎭 Önyargı (Bias):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verilere göre öğrenir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Yanlış veri = Yanlış karar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Sadece erkek doktor fotoğrafları → 'Doktor = Erkek' düşüncesi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çok veri topluyor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 tehlikede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💼 İş Kaybı: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Bazı meslekler AI ile değiştirilebilir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Kasiyerlik, fabrika işleri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🎭 Deepfake: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Sahte video/ses oluşturma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Yalan haber yayabilir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hata yaparsa kim sorumlu?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Otonom araç kaza yaparsa?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AI'yı etik ve sorumlu kullanmalıyız!</a:t>
            </a:r>
          </a:p>
        </p:txBody>
      </p:sp>
    </p:spTree>
    <p:extLst>
      <p:ext uri="{BB962C8B-B14F-4D97-AF65-F5344CB8AC3E}">
        <p14:creationId xmlns:p14="http://schemas.microsoft.com/office/powerpoint/2010/main" val="271688752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👨‍💼 Geleceğin Meslekleri ve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Yapay zeka bazı meslekleri değiştirecek, bazılarını yaratacak!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Yok Olabilecek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Fabrika işçileri (robotlar yapacak)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Kasiyerler (otomasyon)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Veri giriş elemanları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Değişecek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Öğretmenler (AI yardımcı olacak)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Doktorlar (AI teşhis yardımcısı)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Sanatçılar (AI araçlarını kullanacak)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Yeni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AI Eğitim Uzmanı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Veri Bilimcisi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Makine Öğrenmesi Mühendisi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AI Etik Uzmanı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Robot Tasarımcısı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Gelecekte Önemli Beceriler: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Yaratıcılık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Eleştirel düşünme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Kodlama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Problem çözme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İşbirliği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🎯 AI ile rekabet etme, AI ile işbirliği yap!</a:t>
            </a:r>
          </a:p>
        </p:txBody>
      </p:sp>
    </p:spTree>
    <p:extLst>
      <p:ext uri="{BB962C8B-B14F-4D97-AF65-F5344CB8AC3E}">
        <p14:creationId xmlns:p14="http://schemas.microsoft.com/office/powerpoint/2010/main" val="25677856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🛠️ AI ile Neler Yapabilirsin?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Sen de yapay zekayı öğrenebilir ve kullanabilirsin!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Başlangıç Seviyesi: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🎨 Görsel Oluşturma: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Bing Image Creator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Craiyon (Ücretsiz)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Chatbot ile Konuşma: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ChatGPT (Ebeveyn izni ile)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sor, öğren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Scratch ile AI: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Makine öğrenmesi blokları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Basit AI projeleri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Google Teachable Machine: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 AI modelini eğit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Görüntü, ses, pozisyon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Kodlama bilmeden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Nasıl Başlarsın?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Merak et ve araştır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Basit projelerle başla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Deneme yanılma yap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Ebeveyn/öğretmen gözetiminde kullan</a:t>
            </a:r>
          </a:p>
        </p:txBody>
      </p:sp>
    </p:spTree>
    <p:extLst>
      <p:ext uri="{BB962C8B-B14F-4D97-AF65-F5344CB8AC3E}">
        <p14:creationId xmlns:p14="http://schemas.microsoft.com/office/powerpoint/2010/main" val="142207963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🌍 AI'nın Geleceği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gelecekte nasıl olacak?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Gelecekteki AI Uygulamaları: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 kendine giden arabalar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kazaları azalacak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🏥 Gelişmiş Sağlık: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Hastalık teşhisi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Kişiselleştirilmiş tedavi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🏠 Akıllı Şehirler: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yönetimi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Enerji tasarrufu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🌱 Çevre Koruma: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İklim değişikliği tahmini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Geri dönüşüm optimizasyonu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🎓 Eğitim: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Kişiselleştirilmiş öğrenme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öğretmen yardımcıları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Genel Yapay Zeka (AGI)?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alanda insan seviyesinde AI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Henüz çok uzak!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Sen bu geleceği şekillendireceksin!</a:t>
            </a:r>
          </a:p>
        </p:txBody>
      </p:sp>
    </p:spTree>
    <p:extLst>
      <p:ext uri="{BB962C8B-B14F-4D97-AF65-F5344CB8AC3E}">
        <p14:creationId xmlns:p14="http://schemas.microsoft.com/office/powerpoint/2010/main" val="3829077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 nedir, nasıl çalışır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zekanın tarihi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Makine öğrenmesi ve derin öğrenme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Sesli asistanlar ve günlük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Görüntü tanıma teknolojisi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Öneri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Oyunlarda yapay zeka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Yaratıcı AI (sanat, müzik, metin)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zekanın etik sorunları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Geleceğin meslekleri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AI ile neler yapabilirsin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geleceğin en önemli teknolojilerinden biri!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Sen de AI ile çalışmayı öğrenebilirsin.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Artık yapay zeka konusunda bilinçlisin!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Geleceği sen şekillendir!</a:t>
            </a:r>
          </a:p>
        </p:txBody>
      </p:sp>
    </p:spTree>
    <p:extLst>
      <p:ext uri="{BB962C8B-B14F-4D97-AF65-F5344CB8AC3E}">
        <p14:creationId xmlns:p14="http://schemas.microsoft.com/office/powerpoint/2010/main" val="277041049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'Yapay Zeka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'Makine Öğrenmesi Animasyon'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'AI'nın Tarihi' - Kısa belgesel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'Geleceğin Dünyası' - Bilim kurgu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https://teachablemachine.withgoogle.com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Scratch AI blokları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https://quickdraw.withgoogle.com (AI çizim oyunu)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'Quick, Draw!' - Google AI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'Akinator' - Tahmin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Teachable Machine ile el hareketi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chatbot ile röportaj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görsel oluşturma projesi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Yapay zeka ile geleceği keşfet!</a:t>
            </a:r>
          </a:p>
        </p:txBody>
      </p:sp>
    </p:spTree>
    <p:extLst>
      <p:ext uri="{BB962C8B-B14F-4D97-AF65-F5344CB8AC3E}">
        <p14:creationId xmlns:p14="http://schemas.microsoft.com/office/powerpoint/2010/main" val="4113590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Ünite 5'i Tamamladınız - Yapay Zeka Uzmanısınız!</a:t>
            </a:r>
          </a:p>
        </p:txBody>
      </p:sp>
    </p:spTree>
    <p:extLst>
      <p:ext uri="{BB962C8B-B14F-4D97-AF65-F5344CB8AC3E}">
        <p14:creationId xmlns:p14="http://schemas.microsoft.com/office/powerpoint/2010/main" val="12048677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ÜNİTE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Scratch ile Programlama</a:t>
            </a:r>
          </a:p>
        </p:txBody>
      </p:sp>
    </p:spTree>
    <p:extLst>
      <p:ext uri="{BB962C8B-B14F-4D97-AF65-F5344CB8AC3E}">
        <p14:creationId xmlns:p14="http://schemas.microsoft.com/office/powerpoint/2010/main" val="174259631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Bu ünitede neler öğreneceğiz? (14 Hafta!)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1. Scratch Nedir? Giriş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2. Scratch Arayüzü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3. Blok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4. Sprite (Karakter) ve Sahne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5. Hareket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6. Görünüm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7. Ses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8. Olaylar (Events)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9. Kontrol Yapıları (Döngüler, Koşullar)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10. Değişkenler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11. Liste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12. Operatörler (Matematik, Mantık)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13. Kendi Bloklarını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14. Oyun Tasarımı Proje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⏰ Süre: 14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Amaç: Kendi oyununu programlayabilmek!</a:t>
            </a:r>
          </a:p>
        </p:txBody>
      </p:sp>
    </p:spTree>
    <p:extLst>
      <p:ext uri="{BB962C8B-B14F-4D97-AF65-F5344CB8AC3E}">
        <p14:creationId xmlns:p14="http://schemas.microsoft.com/office/powerpoint/2010/main" val="274419111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🎨 Scratch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Scratch = Çocuklar için görsel programlama dili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Ücretsiz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yazmadan programlama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Blokları sürükle-bırak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Oyun, animasyon, hikaye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Kim Yaptı?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MIT (Massachusetts Institute of Technology)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2007'de yayınlandı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Milyonlarca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🌐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scratch.mit.edu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Tarayıcıdan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Ücretsiz hesap aç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Scratch neden harika?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Eğlenceli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Yaratıcılığı geliştirir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Programlama mantığını öğretir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yazmadan algoritma öğrenirsin!</a:t>
            </a:r>
          </a:p>
        </p:txBody>
      </p:sp>
    </p:spTree>
    <p:extLst>
      <p:ext uri="{BB962C8B-B14F-4D97-AF65-F5344CB8AC3E}">
        <p14:creationId xmlns:p14="http://schemas.microsoft.com/office/powerpoint/2010/main" val="10624920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🖥️ Scratch Arayüzü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Scratch'i açtığında karşına 4 bölüm çıkar: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1. Blok Paleti (Sol):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Hareket, Görünüm, Ses...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Tüm bloklar burada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2. Kod Alanı (Orta):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Blokları buraya sürüklersin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Programını yazarsın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3. Sahne (Sağ Üst):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Projenin çalıştığı yer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480x360 piksel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Yeşil bayrak = Başlat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Kırmızı dur = Durdur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4. Sprite Listesi (Sağ Alt):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Karakterlerin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Yeni sprite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Sahne arka planı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Her şey sürükle-bırak ile yapılır!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Hiç kod yazmana gerek yok.</a:t>
            </a:r>
          </a:p>
        </p:txBody>
      </p:sp>
    </p:spTree>
    <p:extLst>
      <p:ext uri="{BB962C8B-B14F-4D97-AF65-F5344CB8AC3E}">
        <p14:creationId xmlns:p14="http://schemas.microsoft.com/office/powerpoint/2010/main" val="8121716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🧩 Blok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Scratch'te 9 farklı blok kategorisi var: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Hareket: Sprite'ı hareket ettir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🟣 Görünüm: Gizle, göster, konuş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🟡 Ses: Müzik, ses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Olaylar: Başlangıç, tıklama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🟠 Kontrol: Döngüler, koşullar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🟢 Algılama: Dokunma, mesafe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Operatörler: Matematik, karşılaştırma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🔴 Değişkenler: Veri saklama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🟣 Kendi Bloklarım: Fonksiyonlar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Blok Şekilleri: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Yuvarlak = Değer döndürür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Altıgen = Koşul (doğru/yanlış)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Dikdörtgen = Komut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Şapka = Başlangıç bloğu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Bloklar LEGO gibi birbirine kenetlenir!</a:t>
            </a:r>
          </a:p>
        </p:txBody>
      </p:sp>
    </p:spTree>
    <p:extLst>
      <p:ext uri="{BB962C8B-B14F-4D97-AF65-F5344CB8AC3E}">
        <p14:creationId xmlns:p14="http://schemas.microsoft.com/office/powerpoint/2010/main" val="257580866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🐱 Sprite ve Sahne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 = Karakterler, nesneler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Sahne = Arka plan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Sprite kütüphanesinden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 çizdiğin sprite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Fotoğraf yükle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Sürpriz sprite (rastgele)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Konum (x, y)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Yön (derece)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Boyut (%)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Görünürlük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Sahne (Arka Plan):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Sahne'ye tıkla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 plan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seç veya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Koordinat Sistemi: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Merkez: (0, 0)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Sağ: + 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Sol: - 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Yukarı: + 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Aşağı: - 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Bir projede birden fazla sprite olabilir!</a:t>
            </a:r>
          </a:p>
        </p:txBody>
      </p:sp>
    </p:spTree>
    <p:extLst>
      <p:ext uri="{BB962C8B-B14F-4D97-AF65-F5344CB8AC3E}">
        <p14:creationId xmlns:p14="http://schemas.microsoft.com/office/powerpoint/2010/main" val="288025391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➡️ Hareket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Sprite'ları hareket ettirmek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Temel Hareket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'10 adım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İleri doğru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'Sağa/Sola dön (15 derece)':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Dönme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'x: 0 y: 0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koordinata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'Mouse işaretçisine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Fareye doğru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'1 saniyede x: 0 y: 0 kay':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Animasyonlu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'90 derece yönel':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yöne bak (0=Yukarı, 90=Sağ, 180=Aşağı, -90=Sol)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İlk Programımız: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[10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[15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Bu bir kare çizer!</a:t>
            </a:r>
          </a:p>
        </p:txBody>
      </p:sp>
    </p:spTree>
    <p:extLst>
      <p:ext uri="{BB962C8B-B14F-4D97-AF65-F5344CB8AC3E}">
        <p14:creationId xmlns:p14="http://schemas.microsoft.com/office/powerpoint/2010/main" val="207229393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👁️ Görünüm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Sprite'ın nasıl göründüğünü değiştirmek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Temel Görünüm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de 2 saniye (Merhaba!)':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Konuşma balonu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'Göster / Gizle':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Sprite'ı görünür/görünmez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'Kostümü ...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Görünümü değiştir (animasyon)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'Boyutu %100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Büyüt/küçült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'Renk efekti 25 değiştir':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Renkli efektler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'Grafik efektlerini temizle':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Efektleri sıfırla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'En öne/En arkaya gel':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Katman sıralaması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Konuşan Kedi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[Merhaba! de 2 saniye]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[Nasılsın? de 2 saniye]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Kostüm değiştirerek animasyon yapabilirsin!</a:t>
            </a:r>
          </a:p>
        </p:txBody>
      </p:sp>
    </p:spTree>
    <p:extLst>
      <p:ext uri="{BB962C8B-B14F-4D97-AF65-F5344CB8AC3E}">
        <p14:creationId xmlns:p14="http://schemas.microsoft.com/office/powerpoint/2010/main" val="18657158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🔊 Ses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Oyununa ses ekle!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sesini çal':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efekti çal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sesini çal ve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bitene kadar bekle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'Tüm sesleri durdur':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Sesleri kapat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efekti ... 25 değiştir':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efektleri (pitch, echo)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%100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seviyesi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 sesini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Dosyadan yükle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Müzikli Kedi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[Miyav sesini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[2 saniye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[Miyav sesini tekrar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Ses oyununu canlı yapar!</a:t>
            </a:r>
          </a:p>
        </p:txBody>
      </p:sp>
    </p:spTree>
    <p:extLst>
      <p:ext uri="{BB962C8B-B14F-4D97-AF65-F5344CB8AC3E}">
        <p14:creationId xmlns:p14="http://schemas.microsoft.com/office/powerpoint/2010/main" val="29142013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🎬 Olaylar (Events)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Program ne zaman başlasın? Olaylar belirler!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Olay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'Yeşil bayrak tıklandığında':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 başlangıcı (en önemli!)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'[Boşluk] tuşuna basıldığında':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'Bu sprite tıklandığında':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'Sahne ... olduğunda':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 plan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&gt; 10 olduğunda':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Mikrofon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Tuş Kontrollü Hareket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[Sağ ok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[Sol ok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[-10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Bir sprite'ta birden fazla olay olabilir!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Her olay farklı komutlar çalıştırır.</a:t>
            </a:r>
          </a:p>
        </p:txBody>
      </p:sp>
    </p:spTree>
    <p:extLst>
      <p:ext uri="{BB962C8B-B14F-4D97-AF65-F5344CB8AC3E}">
        <p14:creationId xmlns:p14="http://schemas.microsoft.com/office/powerpoint/2010/main" val="37432364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🔁 Döngüler (Loops)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Aynı işi tekrar tekrar yapmak için döngüler!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'[10] kez tekrarla':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sayıda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'Sürekli tekrarla (Forever)':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Sonsuza kadar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olana kadar tekrarla':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Koşul sağlanana kadar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1: Kare Çizme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2: Sürekli Hareket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[Kenara değdiyse, sek]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Döngüler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kısalır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Daha az blok kullanırsın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Programlama daha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⚡ Döngüsüz programlama = Çok uzun kod!</a:t>
            </a:r>
          </a:p>
        </p:txBody>
      </p:sp>
    </p:spTree>
    <p:extLst>
      <p:ext uri="{BB962C8B-B14F-4D97-AF65-F5344CB8AC3E}">
        <p14:creationId xmlns:p14="http://schemas.microsoft.com/office/powerpoint/2010/main" val="414714344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❓ Koşullar (If-Else)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Koşul = 'Eğer ... ise,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Koşul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'Eğer ... ise':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Tek koşul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'Eğer ... ise ... değilse':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İki seçenek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olana kadar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Koşul sağlanana kadar 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1: Kenara Çarparsa Dön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kenara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[180 derece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2: Fare Kontrolü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mouse işaretçisine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[Merhaba! de]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[Gizle]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3: Renk Değiştir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[Boşluk] tuşuna basılı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[Renk efekti 25 değiştir]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Koşullar oyunları akıllı yapar!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 kendi karar verebilir.</a:t>
            </a:r>
          </a:p>
        </p:txBody>
      </p:sp>
    </p:spTree>
    <p:extLst>
      <p:ext uri="{BB962C8B-B14F-4D97-AF65-F5344CB8AC3E}">
        <p14:creationId xmlns:p14="http://schemas.microsoft.com/office/powerpoint/2010/main" val="170620973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📦 Değişkenler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Değişken = Bilgi saklayan kutu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Sayı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Metin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Değeri değişebilir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'Değişken oluştur':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değişken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[0]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Başlangıç değeri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[1] arttır':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Değeri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göster/gizle':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Ekranda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Basit Puan Sistemi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[puan değişkenini 0 yap]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[Boşluk] tuşuna basılı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[puan değişkenini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Değişkenler oyunlarda çok kullanılır: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Puan, can, seviye, zaman...</a:t>
            </a:r>
          </a:p>
        </p:txBody>
      </p:sp>
    </p:spTree>
    <p:extLst>
      <p:ext uri="{BB962C8B-B14F-4D97-AF65-F5344CB8AC3E}">
        <p14:creationId xmlns:p14="http://schemas.microsoft.com/office/powerpoint/2010/main" val="144142935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📊 Liste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Liste = Birden fazla değeri saklayan değişken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Liste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Çok veri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Sıralıdır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Örnek: İsimler listesi, Puanlar listesi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Liste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'Liste oluştur':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'[Ahmet]'i [isimler]'e 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eleman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'[isimler]'in [1] elemanı':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Elemana eriş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'[isimler]'in uzunluğu':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Kaç eleman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 içinde [Ahmet] var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Rastgele İsim Seç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[isimler listesini oluştur]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[Ahmet'i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[Mehmet'i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[Ayşe'yi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[Rastgele 1 ile liste uzunluğu arasında sayı seç]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[O sıradaki ismi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Liste = Çok veri için kullanılır</a:t>
            </a:r>
          </a:p>
        </p:txBody>
      </p:sp>
    </p:spTree>
    <p:extLst>
      <p:ext uri="{BB962C8B-B14F-4D97-AF65-F5344CB8AC3E}">
        <p14:creationId xmlns:p14="http://schemas.microsoft.com/office/powerpoint/2010/main" val="276291235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➕ Operatörler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Operatörler = Matematik ve mantık işlemleri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Matematik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+ [ ] (Toplama)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- [ ] (Çıkarma)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* [ ] (Çarpma)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/ [ ] (Bölme)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1 ile 10 arası rastgele sayı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Karşılaştırma: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&gt; [ ] (Büyüktür)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&lt; [ ] (Küçüktür)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= [ ] (Eşittir)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Mantık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ve [ ] (AND)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veya [ ] (OR)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değil (NOT)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Metin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birleştir [ ] ('Merhaba' + 'Dünya')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]'in [ ] harfi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]'in uzunluğu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İki Sayıyı Topla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[Birinci sayıyı sor]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[İkinci sayıyı sor]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[Cevap1 + Cevap2'yi de]</a:t>
            </a:r>
          </a:p>
        </p:txBody>
      </p:sp>
    </p:spTree>
    <p:extLst>
      <p:ext uri="{BB962C8B-B14F-4D97-AF65-F5344CB8AC3E}">
        <p14:creationId xmlns:p14="http://schemas.microsoft.com/office/powerpoint/2010/main" val="361773273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🔍 Algılama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Algılama = Çevreyi algılamak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Algılama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 tuşuna basılı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'Fare tıklandı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Mouse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'Fare x / y konumu':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 koordinatları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]'e değiyor mu?':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Çarpışma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 rengine değiyor mu?':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Renk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]'e olan uzaklık':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Mesafe ölçme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'Sor ve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Kullanıcıdan input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'Cevap':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Kullanıcının cevabı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Çarpışma Kontrolü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[Duvar] sprite'ına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[Oyunu durdur]</a:t>
            </a:r>
          </a:p>
        </p:txBody>
      </p:sp>
    </p:spTree>
    <p:extLst>
      <p:ext uri="{BB962C8B-B14F-4D97-AF65-F5344CB8AC3E}">
        <p14:creationId xmlns:p14="http://schemas.microsoft.com/office/powerpoint/2010/main" val="179602152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🎯 Kendi Bloklarını Oluştur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Fonksiyon = Kendi komutunu yarat!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Neden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tekrarını önler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Düzenli kod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Karmaşık işleri basitleştirir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Nasıl Oluşturulur?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'Kendi Bloklarım' kategorisi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'Blok Oluştur' tıkla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İsim ver (örn: 'kare_ciz')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Bloğunu tanımla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Kare Çizme Fonksiyonu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[tanımla kare_ciz]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[x: 100 y: 0 git]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Parametreli fonksiyonlar da yapabilirsin!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Örnek: kare_ciz(boyut)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⚡ Fonksiyonlar = Profesyonel programlama!</a:t>
            </a:r>
          </a:p>
        </p:txBody>
      </p:sp>
    </p:spTree>
    <p:extLst>
      <p:ext uri="{BB962C8B-B14F-4D97-AF65-F5344CB8AC3E}">
        <p14:creationId xmlns:p14="http://schemas.microsoft.com/office/powerpoint/2010/main" val="275188124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🎮 Proje 1: Labirent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İlk oyununu yap: Labirent!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Ok tuşları ile kontrol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Duvara çarparsa kaybeder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Hedefe ulaşırsa kazanır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Adımlar: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Sahne hazırla: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Labirent arka planı çiz (siyah duvarlar)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Sprite ekle: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Oyuncu karakteri (top, kedi,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Hareket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[Sağ ok'a basılı ise → x'i 5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[Sol ok'a basılı ise → x'i 5 azalt]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[Yukarı ok'a basılı ise → y'i 5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[Aşağı ok'a basılı ise → y'i 5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Çarpışma kontrolü: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siyah renge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[Başlangıç noktasına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5️⃣ Kazanma koşulu: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yeşil renge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[Kazandın! de]</a:t>
            </a:r>
          </a:p>
        </p:txBody>
      </p:sp>
    </p:spTree>
    <p:extLst>
      <p:ext uri="{BB962C8B-B14F-4D97-AF65-F5344CB8AC3E}">
        <p14:creationId xmlns:p14="http://schemas.microsoft.com/office/powerpoint/2010/main" val="145570960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🏀 Proje 2: Top Sektirme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Klasik oyun: Top sektir!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 sürekli hareket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Raket ile sektir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Topu kaçırırsan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Gerekli Sprite'lar: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Top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[90 derece yönel]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kenara değiyor ise, sek]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[Raket]'e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[y yönünde sek]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y &lt; -170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[Kaybettin!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[Tümünü durdur]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Raket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[x konumunu fare x konumu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Geliştirmeler: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Puan sistemi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Hız arttır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Engeller ekle</a:t>
            </a:r>
          </a:p>
        </p:txBody>
      </p:sp>
    </p:spTree>
    <p:extLst>
      <p:ext uri="{BB962C8B-B14F-4D97-AF65-F5344CB8AC3E}">
        <p14:creationId xmlns:p14="http://schemas.microsoft.com/office/powerpoint/2010/main" val="418174503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🍎 Proje 3: Meyve Yakalama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Yukarıdan düşen meyveleri yakala!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Meyveler yukarıdan düşer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Sepet ile yakala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Puan kazan!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🎯 Sprite'lar: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Sepet (oyuncu)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Meyve (elma, muz,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📌 Sepet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[puan değişkeni = 0]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[x = fare x]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📌 Meyve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[Rastgele x konumuna git, y = 180]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[... olana kadar tekrarla: y &lt; -180]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[y'yi 10 azalt]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[Eğer [Sepet]'e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    [puan'ı 1 arttır]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    [Bu betiği durdur]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[Klon oluştur]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💡 Klonlama = Çok meyve oluştur!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⚡ Geliştirme: Bomba ekle, kaçırırsan can kaybedersin</a:t>
            </a:r>
          </a:p>
        </p:txBody>
      </p:sp>
    </p:spTree>
    <p:extLst>
      <p:ext uri="{BB962C8B-B14F-4D97-AF65-F5344CB8AC3E}">
        <p14:creationId xmlns:p14="http://schemas.microsoft.com/office/powerpoint/2010/main" val="98110947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🐍 Proje 4: Yılan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Klasik Snake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Yılan hareket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Yemi ye, büyü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Kendine çarparsa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Bu proje biraz zor! Adım adım: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Baş sprite'ı hareket ettir (ok tuşları)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Her hareket sonrası: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Pozisyonu listeye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Vücut segmentleri: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Klonlar oluştur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Liste'deki pozisyonları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Yem sistemi: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Rastgele yem oluştur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Yenirse puan arttır ve yılan büyüsün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5️⃣ Kaybetme koşulu: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Kendine değerse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Duvara çarparsa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Bu proje ileri seviye!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Liste ve klonlama kullanır.</a:t>
            </a:r>
          </a:p>
        </p:txBody>
      </p:sp>
    </p:spTree>
    <p:extLst>
      <p:ext uri="{BB962C8B-B14F-4D97-AF65-F5344CB8AC3E}">
        <p14:creationId xmlns:p14="http://schemas.microsoft.com/office/powerpoint/2010/main" val="297180882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🎨 Proje 5: Çizim Uygulaması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Paint benzeri çizim uygulaması!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Fare ile çiz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Renk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Kalınlık ayarla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Temizle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Nasıl Yapılır?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Çizim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[Kalemi kaldır]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[Fare x, fare y konumuna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Renk Değiştirme: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[Kırmızı sprite'a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[Kalem rengini kırmızı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Temizleme: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[C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[Hepsini temizle]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Kalem uzantısı kullan!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Ek → Kalem</a:t>
            </a:r>
          </a:p>
        </p:txBody>
      </p:sp>
    </p:spTree>
    <p:extLst>
      <p:ext uri="{BB962C8B-B14F-4D97-AF65-F5344CB8AC3E}">
        <p14:creationId xmlns:p14="http://schemas.microsoft.com/office/powerpoint/2010/main" val="198240847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🎤 Proje 6: Quiz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İnteraktif soru-cevap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 sor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Cevap 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Doğru/Yanlış kontrol 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Basit Quiz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[puan = 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[Türkiye'nin başkenti? sor ve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[Eğer cevap = Ankara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[Yanlış!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[2+2 kaç? sor ve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[Eğer cevap = 4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[Puanın: ... puan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Geliştirme: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Soruları listeye koy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Şıklı sorular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Zamanlayıcı ekle</a:t>
            </a:r>
          </a:p>
        </p:txBody>
      </p:sp>
    </p:spTree>
    <p:extLst>
      <p:ext uri="{BB962C8B-B14F-4D97-AF65-F5344CB8AC3E}">
        <p14:creationId xmlns:p14="http://schemas.microsoft.com/office/powerpoint/2010/main" val="320414442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🎵 Müzik ve Efektler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Oyununu müzik ve ses efektleri ile canlandır!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Müzik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müzik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Loop (döngü)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Arka Plan Müziği: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[... müziğini çal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Efektleri: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Zıplama sesi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Puan kazanma sesi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Kaybetme sesi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[Elma]'ya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[Chomp sesini çal]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Kendi Ses Kaydı: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Mikrofon simgesine tıkla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Oyunda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🎶 Müzik oyunu daha eğlenceli yapar!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Ancak çok fazla ses kullanma, rahatsız edebilir.</a:t>
            </a:r>
          </a:p>
        </p:txBody>
      </p:sp>
    </p:spTree>
    <p:extLst>
      <p:ext uri="{BB962C8B-B14F-4D97-AF65-F5344CB8AC3E}">
        <p14:creationId xmlns:p14="http://schemas.microsoft.com/office/powerpoint/2010/main" val="337281575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📤 Projeyi Paylaşma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Projen hazır! Şimdi paylaşma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Scratch'te Paylaşma: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Hesabına giriş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scratch.mit.edu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Paylaş butonuna tıkla: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Sağ üstteki turuncu buton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Bilgileri doldur: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Proje adı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Açıklama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Nasıl oynanır?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Link'i kopyala: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Arkadaşlarınla paylaş!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 Topluluğu: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Başkalarının projelerini gör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Beğen, yorum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Remix yap (değiştir)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Remix Kültürü: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Scratch'te remix yapmak teşvik edilir!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Başkasının projesini al, geliştir, paylaş.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⚠️ Dikkat: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Kredi ver (kim yaptıysa belirt)</a:t>
            </a:r>
          </a:p>
        </p:txBody>
      </p:sp>
    </p:spTree>
    <p:extLst>
      <p:ext uri="{BB962C8B-B14F-4D97-AF65-F5344CB8AC3E}">
        <p14:creationId xmlns:p14="http://schemas.microsoft.com/office/powerpoint/2010/main" val="68543601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🏆 Final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Şimdi kendi oyununu tasarla!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Proje Gereksinimleri: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Zorunlu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En az 2 sprite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Kullanıcı kontrolü (klavye/fare)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 sistemi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Ses efektleri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Başlangıç ve bitiş ekranı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Kullanılması Gereken Bloklar: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Döngüler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Koşullar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Değişkenler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Olaylar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Proje Fikirleri: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Platform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Yarış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Bulmaca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Simülasyon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Hikaye anlatımı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📅 Süreç: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1️⃣ Fikir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2️⃣ Planlama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3️⃣ Kodlama (1 hafta)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4️⃣ Test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5️⃣ Sunum (1 gün)</a:t>
            </a:r>
          </a:p>
        </p:txBody>
      </p:sp>
    </p:spTree>
    <p:extLst>
      <p:ext uri="{BB962C8B-B14F-4D97-AF65-F5344CB8AC3E}">
        <p14:creationId xmlns:p14="http://schemas.microsoft.com/office/powerpoint/2010/main" val="278637523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Bu ünitede neler öğrendik? (Çok şey!)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 temelleri ve arayüz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Sprite, sahne, koordinat sistemi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Hareket, görünüm, ses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Olaylar ve kullanıcı etkileşimi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Döngüler (tekrar) ve koşullar (if-else)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Değişkenler ve listeler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Operatörler (matematik, mantık)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Algılama (çarpışma, tuş kontrolü)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Kendi bloklarını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6 farklı proje (labirent, top sektirme, meyve yakalama, yılan, çizim, quiz)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Müzik ve ses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Proje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Artık kendi oyunlarını programlayabilirsin!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Hayal gücün sınır!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Sen artık bir Scratch programcısısın!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🎮 Kendi oyununu yap ve dünyaya göster!</a:t>
            </a:r>
          </a:p>
        </p:txBody>
      </p:sp>
    </p:spTree>
    <p:extLst>
      <p:ext uri="{BB962C8B-B14F-4D97-AF65-F5344CB8AC3E}">
        <p14:creationId xmlns:p14="http://schemas.microsoft.com/office/powerpoint/2010/main" val="193785160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t>📚 Kaynaklar ve İleri Öğrenim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'Scratch Tutorials' - YouTube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'Griffpatch' kanalı - İleri seviye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'Scratch Team' resmi kanalı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https://scratch.mit.edu - Ana site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https://scratch.mit.edu/explore - Projeler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https://en.scratch-wiki.info - Detaylı bilgi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📖 Yapılacak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Flappy Bird benzeri oyun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Kendi kahramanınla RPG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Müzik yapma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Matematik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⬆️ İleri Seviye: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Klonlama tekniği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Bulut değişkenleri (çok oyunculu)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Video algılama uzantısı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Scratch'ten sonra: Python, JavaScript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endParaRPr sz="12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💡 Programlamaya devam et!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Her gün biraz kod yaz, her gün gelişirsin!</a:t>
            </a:r>
          </a:p>
        </p:txBody>
      </p:sp>
    </p:spTree>
    <p:extLst>
      <p:ext uri="{BB962C8B-B14F-4D97-AF65-F5344CB8AC3E}">
        <p14:creationId xmlns:p14="http://schemas.microsoft.com/office/powerpoint/2010/main" val="38058815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Ünite 6 ve 5. Sınıf Tamamlandı - Artık Bir Programcısın!</a:t>
            </a:r>
          </a:p>
        </p:txBody>
      </p:sp>
    </p:spTree>
    <p:extLst>
      <p:ext uri="{BB962C8B-B14F-4D97-AF65-F5344CB8AC3E}">
        <p14:creationId xmlns:p14="http://schemas.microsoft.com/office/powerpoint/2010/main" val="3411928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23860</Words>
  <Application>Microsoft Office PowerPoint</Application>
  <PresentationFormat>Ekran Gösterisi (4:3)</PresentationFormat>
  <Paragraphs>4558</Paragraphs>
  <Slides>123</Slides>
  <Notes>123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PowerPoint Sunusu</vt:lpstr>
      <vt:lpstr>📋 Ünite İçeriği</vt:lpstr>
      <vt:lpstr>🌐 Bilişim Teknolojileri Nedir?</vt:lpstr>
      <vt:lpstr>📊 Bilişim Teknolojilerinin Sınıflandırılması</vt:lpstr>
      <vt:lpstr>🌟 Bilişim Teknolojilerinin Hayatımıza Etkileri</vt:lpstr>
      <vt:lpstr>🖥️ Bilgisayar Sistemleri</vt:lpstr>
      <vt:lpstr>🧠 İşlemci - Bilgisayarın Beyni</vt:lpstr>
      <vt:lpstr>🎯 RAM - Geçici Hafıza</vt:lpstr>
      <vt:lpstr>💾 Kalıcı Hafıza - Hard Disk &amp; SSD</vt:lpstr>
      <vt:lpstr>🔌 Anakart - Ana Kart</vt:lpstr>
      <vt:lpstr>⌨️ Giriş ve Çıkış Birimleri</vt:lpstr>
      <vt:lpstr>⚙️ İşletim Sistemi Nedir?</vt:lpstr>
      <vt:lpstr>🪟 Windows İşletim Sistemi</vt:lpstr>
      <vt:lpstr>📁 Dosya ve Klasör Nedir?</vt:lpstr>
      <vt:lpstr>🛠️ Dosya İşlemleri</vt:lpstr>
      <vt:lpstr>💡 İyi Dosya Düzenleme İpuçları</vt:lpstr>
      <vt:lpstr>📝 Ünite Özeti</vt:lpstr>
      <vt:lpstr>🎬 Kaynaklar ve Video Önerileri</vt:lpstr>
      <vt:lpstr>PowerPoint Sunusu</vt:lpstr>
      <vt:lpstr>PowerPoint Sunusu</vt:lpstr>
      <vt:lpstr>📚 Ünitenin Konuları</vt:lpstr>
      <vt:lpstr>📋 Proje Nedir?</vt:lpstr>
      <vt:lpstr>🗂️ Proje Yönetimi Nedir?</vt:lpstr>
      <vt:lpstr>💻 Dijital Ürün Nedir?</vt:lpstr>
      <vt:lpstr>🎨 Dijital Ürün Tasarım Süreci</vt:lpstr>
      <vt:lpstr>🔍 Adım 1: İhtiyaç Analizi</vt:lpstr>
      <vt:lpstr>💡 Adım 2: Çözüm Fikirleri Geliştirme</vt:lpstr>
      <vt:lpstr>🎨 Adım 3: Tasarım ve Kullanıcı Deneyimi</vt:lpstr>
      <vt:lpstr>🛠️ Adım 4: Prototip Oluşturma</vt:lpstr>
      <vt:lpstr>🧪 Adım 5: Test Etme</vt:lpstr>
      <vt:lpstr>🔄 Adım 6: Geri Bildirim ve İyileştirme</vt:lpstr>
      <vt:lpstr>🚀 Adım 7: Yayınlama ve Dağıtım</vt:lpstr>
      <vt:lpstr>🎮 Örnek Proje: Eğlenceli Kelime Oyunu</vt:lpstr>
      <vt:lpstr>🗓️ Proje Planlama Araçları</vt:lpstr>
      <vt:lpstr>👥 Takım Çalışması ve Roller</vt:lpstr>
      <vt:lpstr>🏆 Başarılı Dijital Ürün Örnekleri</vt:lpstr>
      <vt:lpstr>🚀 Kendi Dijital Ürününüzü Tasarlayın!</vt:lpstr>
      <vt:lpstr>📝 Ünite Özeti</vt:lpstr>
      <vt:lpstr>📚 Kaynaklar ve Videolar</vt:lpstr>
      <vt:lpstr>PowerPoint Sunusu</vt:lpstr>
      <vt:lpstr>PowerPoint Sunusu</vt:lpstr>
      <vt:lpstr>📚 Ünitenin Konuları</vt:lpstr>
      <vt:lpstr>🌐 Bilgisayar Ağı Nedir?</vt:lpstr>
      <vt:lpstr>🏠 LAN - Yerel Alan Ağı</vt:lpstr>
      <vt:lpstr>🌍 WAN ve İnternet</vt:lpstr>
      <vt:lpstr>⚙️ İnternet Nasıl Çalışır?</vt:lpstr>
      <vt:lpstr>🔢 IP Adresi Nedir?</vt:lpstr>
      <vt:lpstr>🌐 Domain (Alan Adı) Nedir?</vt:lpstr>
      <vt:lpstr>🌐 İnternet Tarayıcıları</vt:lpstr>
      <vt:lpstr>🔍 Arama Motorları</vt:lpstr>
      <vt:lpstr>✅ Güvenilir Kaynak Nasıl Bulunur?</vt:lpstr>
      <vt:lpstr>📧 E-posta Kullanımı</vt:lpstr>
      <vt:lpstr>💬 Çevrimiçi İletişim Araçları</vt:lpstr>
      <vt:lpstr>🔒 İnternet Güvenliği</vt:lpstr>
      <vt:lpstr>🚫 Siber Zorbalık</vt:lpstr>
      <vt:lpstr>©️ İnternet'te Telif Hakları</vt:lpstr>
      <vt:lpstr>⏰ Dengeli İnternet Kullanımı</vt:lpstr>
      <vt:lpstr>📝 Ünite Özeti</vt:lpstr>
      <vt:lpstr>📚 Kaynaklar ve Videolar</vt:lpstr>
      <vt:lpstr>PowerPoint Sunusu</vt:lpstr>
      <vt:lpstr>PowerPoint Sunusu</vt:lpstr>
      <vt:lpstr>📚 Ünitenin Konuları</vt:lpstr>
      <vt:lpstr>⚖️ Dijital Etik Nedir?</vt:lpstr>
      <vt:lpstr>👣 Dijital Ayak İzi</vt:lpstr>
      <vt:lpstr>🔐 Gizlilik ve Mahremiyet</vt:lpstr>
      <vt:lpstr>🔑 Güçlü Şifre Oluşturma</vt:lpstr>
      <vt:lpstr>🔐 Şifre Güvenliği İpuçları</vt:lpstr>
      <vt:lpstr>🎣 Phishing (Oltalama) Saldırıları</vt:lpstr>
      <vt:lpstr>🦠 Zararlı Yazılımlar</vt:lpstr>
      <vt:lpstr>🛡️ Zararlı Yazılımlardan Korunma</vt:lpstr>
      <vt:lpstr>🎭 Sosyal Mühendislik</vt:lpstr>
      <vt:lpstr>🌟 Güvenli Dijital Vatandaş Ol!</vt:lpstr>
      <vt:lpstr>📱 İki Faktörlü Doğrulama (2FA)</vt:lpstr>
      <vt:lpstr>📝 Ünite Özeti</vt:lpstr>
      <vt:lpstr>📚 Kaynaklar</vt:lpstr>
      <vt:lpstr>PowerPoint Sunusu</vt:lpstr>
      <vt:lpstr>PowerPoint Sunusu</vt:lpstr>
      <vt:lpstr>📚 Ünitenin Konuları</vt:lpstr>
      <vt:lpstr>🤖 Yapay Zeka Nedir?</vt:lpstr>
      <vt:lpstr>📜 Yapay Zekanın Tarihçesi</vt:lpstr>
      <vt:lpstr>📊 Makine Öğrenmesi Nedir?</vt:lpstr>
      <vt:lpstr>🧠 Derin Öğrenme</vt:lpstr>
      <vt:lpstr>🎤 Sesli Asistanlar</vt:lpstr>
      <vt:lpstr>👁️ Görüntü Tanıma</vt:lpstr>
      <vt:lpstr>🎬 Öneri Sistemleri</vt:lpstr>
      <vt:lpstr>🎮 Oyunlarda Yapay Zeka</vt:lpstr>
      <vt:lpstr>🎨 Yaratıcı Yapay Zeka</vt:lpstr>
      <vt:lpstr>⚖️ Yapay Zekanın Etik Sorunları</vt:lpstr>
      <vt:lpstr>👨‍💼 Geleceğin Meslekleri ve AI</vt:lpstr>
      <vt:lpstr>🛠️ AI ile Neler Yapabilirsin?</vt:lpstr>
      <vt:lpstr>🌍 AI'nın Geleceği</vt:lpstr>
      <vt:lpstr>📝 Ünite Özeti</vt:lpstr>
      <vt:lpstr>📚 Kaynaklar</vt:lpstr>
      <vt:lpstr>PowerPoint Sunusu</vt:lpstr>
      <vt:lpstr>PowerPoint Sunusu</vt:lpstr>
      <vt:lpstr>📚 Ünitenin Konuları</vt:lpstr>
      <vt:lpstr>🎨 Scratch Nedir?</vt:lpstr>
      <vt:lpstr>🖥️ Scratch Arayüzü</vt:lpstr>
      <vt:lpstr>🧩 Blok Türleri</vt:lpstr>
      <vt:lpstr>🐱 Sprite ve Sahne</vt:lpstr>
      <vt:lpstr>➡️ Hareket Blokları</vt:lpstr>
      <vt:lpstr>👁️ Görünüm Blokları</vt:lpstr>
      <vt:lpstr>🔊 Ses Blokları</vt:lpstr>
      <vt:lpstr>🎬 Olaylar (Events)</vt:lpstr>
      <vt:lpstr>🔁 Döngüler (Loops)</vt:lpstr>
      <vt:lpstr>❓ Koşullar (If-Else)</vt:lpstr>
      <vt:lpstr>📦 Değişkenler</vt:lpstr>
      <vt:lpstr>📊 Liste Kullanımı</vt:lpstr>
      <vt:lpstr>➕ Operatörler</vt:lpstr>
      <vt:lpstr>🔍 Algılama Blokları</vt:lpstr>
      <vt:lpstr>🎯 Kendi Bloklarını Oluştur</vt:lpstr>
      <vt:lpstr>🎮 Proje 1: Labirent Oyunu</vt:lpstr>
      <vt:lpstr>🏀 Proje 2: Top Sektirme Oyunu</vt:lpstr>
      <vt:lpstr>🍎 Proje 3: Meyve Yakalama Oyunu</vt:lpstr>
      <vt:lpstr>🐍 Proje 4: Yılan Oyunu</vt:lpstr>
      <vt:lpstr>🎨 Proje 5: Çizim Uygulaması</vt:lpstr>
      <vt:lpstr>🎤 Proje 6: Quiz Oyunu</vt:lpstr>
      <vt:lpstr>🎵 Müzik ve Efektler</vt:lpstr>
      <vt:lpstr>📤 Projeyi Paylaşma</vt:lpstr>
      <vt:lpstr>🏆 Final Projesi</vt:lpstr>
      <vt:lpstr>📝 Ünite Özeti</vt:lpstr>
      <vt:lpstr>📚 Kaynaklar ve İleri Öğrenim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emre esen</dc:creator>
  <cp:keywords/>
  <dc:description>generated using python-pptx</dc:description>
  <cp:lastModifiedBy>emre esen</cp:lastModifiedBy>
  <cp:revision>2</cp:revision>
  <dcterms:created xsi:type="dcterms:W3CDTF">2013-01-27T09:14:16Z</dcterms:created>
  <dcterms:modified xsi:type="dcterms:W3CDTF">2025-11-09T12:12:07Z</dcterms:modified>
  <cp:category/>
</cp:coreProperties>
</file>